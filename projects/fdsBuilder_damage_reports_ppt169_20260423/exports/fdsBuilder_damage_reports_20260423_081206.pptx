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各位领导、同事，大家好。今天我们将分享热毁伤代理模型研究报告的核心成果。</a:t>
            </a:r>
          </a:p>
          <a:p>
            <a:endParaRPr lang="zh-CN" dirty="0"/>
          </a:p>
          <a:p>
            <a:r>
              <a:rPr lang="zh-CN" dirty="0"/>
              <a:t>本报告系统覆盖了航空航天、机械加工和冶金三类工业设施的热毁伤评估研究。通过构建融合SVM、随机森林、MLP和CNN1D四种模型的代理模型，我们将传统FDS火灾仿真所需的数小时计算时间压缩至秒级，为应急响应场景下的快速风险评估提供了切实可行的技术手段。</a:t>
            </a:r>
          </a:p>
          <a:p>
            <a:endParaRPr lang="zh-CN" dirty="0"/>
          </a:p>
          <a:p>
            <a:r>
              <a:rPr lang="zh-CN" dirty="0"/>
              <a:t>[停顿] 研究的核心成果：RF模型达到98.1%的准确率，MLP达到96.3%，CNN1D达到94.0%，整体效率提升3至4个数量级。</a:t>
            </a:r>
          </a:p>
          <a:p>
            <a:endParaRPr lang="zh-CN" dirty="0"/>
          </a:p>
          <a:p>
            <a:r>
              <a:rPr lang="zh-CN" dirty="0"/>
              <a:t>要点：①热毁伤代理模型实现秒级预测；②覆盖三类工业设施；③预测准确率RF=98.1%最高</a:t>
            </a:r>
          </a:p>
          <a:p>
            <a:r>
              <a:rPr lang="zh-CN" dirty="0"/>
              <a:t>时长：1-2分钟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首先，我们来看第一部分：航空航天设施与机场机库的热毁伤代理模型。</a:t>
            </a:r>
          </a:p>
          <a:p>
            <a:endParaRPr lang="zh-CN" dirty="0"/>
          </a:p>
          <a:p>
            <a:r>
              <a:rPr lang="zh-CN" dirty="0"/>
              <a:t>航空航天设施承担航天器制造、装配与发射的完整产业链核心功能，机场机库承担飞行器停放、维修与后勤保障任务。这两类设施的共性在于包含大量高价值设备资产——火箭、飞机及其配套系统，一旦发生火灾，损失规模将极为巨大，且可能造成难以挽回的科研进度延误。</a:t>
            </a:r>
          </a:p>
          <a:p>
            <a:endParaRPr lang="zh-CN" dirty="0"/>
          </a:p>
          <a:p>
            <a:r>
              <a:rPr lang="zh-CN" dirty="0"/>
              <a:t>接下来，我们将从数据体系建设、特征工程设计、模型架构与性能三个方面进行详细阐述。</a:t>
            </a:r>
          </a:p>
          <a:p>
            <a:endParaRPr lang="zh-CN" dirty="0"/>
          </a:p>
          <a:p>
            <a:r>
              <a:rPr lang="zh-CN" dirty="0"/>
              <a:t>要点：①航空航天设施高价值资产集中；②机场机库燃油类可燃物风险高；③两类设施构成研究对象</a:t>
            </a:r>
          </a:p>
          <a:p>
            <a:r>
              <a:rPr lang="zh-CN" dirty="0"/>
              <a:t>时长：1分钟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我们首先介绍数据体系建设的基础工作。</a:t>
            </a:r>
          </a:p>
          <a:p>
            <a:endParaRPr lang="zh-CN" dirty="0"/>
          </a:p>
          <a:p>
            <a:r>
              <a:rPr lang="zh-CN" dirty="0"/>
              <a:t>数据来源包括aerospace.json和airport_hangar.json两个配置文件。航空航天设施包含5类子目标建筑：发射控制中心、总装车间、部装车间、加工厂房和发射场。机场机库包含4类子目标：小型固定翼机库、大型旋翼机库、远程巡逻机库和大型无人机机库。</a:t>
            </a:r>
          </a:p>
          <a:p>
            <a:endParaRPr lang="zh-CN" dirty="0"/>
          </a:p>
          <a:p>
            <a:r>
              <a:rPr lang="zh-CN" dirty="0"/>
              <a:t>合成数据集总规模7000条样本，训练/验证/测试比例为5000/1000/1000，三等级均衡分布。</a:t>
            </a:r>
          </a:p>
          <a:p>
            <a:endParaRPr lang="zh-CN" dirty="0"/>
          </a:p>
          <a:p>
            <a:r>
              <a:rPr lang="zh-CN" dirty="0"/>
              <a:t>毁伤阈值设定为：热负荷低于25判定为低毁伤，25至70为中等毁伤，70及以上为高毁伤。阈值经过系统调整，相比初始版本更加符合工程直觉。</a:t>
            </a:r>
          </a:p>
          <a:p>
            <a:endParaRPr lang="zh-CN" dirty="0"/>
          </a:p>
          <a:p>
            <a:r>
              <a:rPr lang="zh-CN" dirty="0"/>
              <a:t>特征向量共23维，包括建筑特征18维、热源特征4维和遮挡特征1维。此外还有8维可燃物向量，涵盖木质纸质、纺织、塑料、燃料油、电子电气、化工、金属和复合材料等八类物料。</a:t>
            </a:r>
          </a:p>
          <a:p>
            <a:endParaRPr lang="zh-CN" dirty="0"/>
          </a:p>
          <a:p>
            <a:r>
              <a:rPr lang="zh-CN" dirty="0"/>
              <a:t>要点：①5+4类子目标建筑；②7000条均衡分布样本；③23维特征向量；④三级毁伤阈值</a:t>
            </a:r>
          </a:p>
          <a:p>
            <a:r>
              <a:rPr lang="zh-CN" dirty="0"/>
              <a:t>时长：2分钟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接下来介绍特征工程的核心设计思路和统一模型架构。</a:t>
            </a:r>
          </a:p>
          <a:p>
            <a:endParaRPr lang="zh-CN" dirty="0"/>
          </a:p>
          <a:p>
            <a:r>
              <a:rPr lang="zh-CN" dirty="0"/>
              <a:t>[停顿] 特征工程的核心是23维输入特征向量。建筑特征18维涵盖几何参数、开口比和楼层信息。8维可燃物向量将木质纸质、纺织、塑料、燃料油、电子电气、化工、金属和复合材料等八类物料量化为归一化数值组合。</a:t>
            </a:r>
          </a:p>
          <a:p>
            <a:endParaRPr lang="zh-CN" dirty="0"/>
          </a:p>
          <a:p>
            <a:r>
              <a:rPr lang="zh-CN" dirty="0"/>
              <a:t>热源特征4维包括俯仰角、方位角、持续时间和热通量。遮挡特征记录建筑间遮挡对热辐射的衰减效应。</a:t>
            </a:r>
          </a:p>
          <a:p>
            <a:endParaRPr lang="zh-CN" dirty="0"/>
          </a:p>
          <a:p>
            <a:r>
              <a:rPr lang="zh-CN" dirty="0"/>
              <a:t>统一模型架构集成了四个异构基础模型。SVM采用RBF核函数，将输入特征映射至高维空间寻找最优分类超平面。随机森林由100棵决策树集成，通过Bootstrap采样和投票机制输出结果。MLP为三层全连接神经网络（128-64-32），采用ReLU激活和Dropout正则化。CNN1D通过两层一维卷积核进行局部特征提取。</a:t>
            </a:r>
          </a:p>
          <a:p>
            <a:endParaRPr lang="zh-CN" dirty="0"/>
          </a:p>
          <a:p>
            <a:r>
              <a:rPr lang="zh-CN" dirty="0"/>
              <a:t>两阶段推理流程：第一阶段对每个单体建筑分别给出毁伤等级、预测概率和不确定度；第二阶段通过汇总算法聚合为设施整体毁伤等级。</a:t>
            </a:r>
          </a:p>
          <a:p>
            <a:endParaRPr lang="zh-CN" dirty="0"/>
          </a:p>
          <a:p>
            <a:r>
              <a:rPr lang="zh-CN" dirty="0"/>
              <a:t>要点：①23维特征向量统一编码；②四模型融合架构；③两阶段推理流程；④融合权重 RF=27% MLP=26.4%</a:t>
            </a:r>
          </a:p>
          <a:p>
            <a:r>
              <a:rPr lang="zh-CN" dirty="0"/>
              <a:t>时长：3分钟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下面我们来看模型的性能对比数据。</a:t>
            </a:r>
          </a:p>
          <a:p>
            <a:endParaRPr lang="zh-CN" dirty="0"/>
          </a:p>
          <a:p>
            <a:r>
              <a:rPr lang="zh-CN" dirty="0"/>
              <a:t>[停顿] 在四类设施混合采样生成的测试集上，SVM准确率76.9%，RF达到98.1%，MLP达到96.3%，CNN1D达到94.0%。RF表现最优，MLP次之，SVM表现最弱。</a:t>
            </a:r>
          </a:p>
          <a:p>
            <a:endParaRPr lang="zh-CN" dirty="0"/>
          </a:p>
          <a:p>
            <a:r>
              <a:rPr lang="zh-CN" dirty="0"/>
              <a:t>按设施类型拆分来看，航空航天设施测试子集上，RF=98.7%、MLP=91.5%、CNN1D=90.6%、SVM=74.4%，集成准确率93.6%。机场机库测试子集上，RF=98.1%、MLP=97.7%、CNN1D=95.8%、SVM=84.2%，集成准确率97.7%。</a:t>
            </a:r>
          </a:p>
          <a:p>
            <a:endParaRPr lang="zh-CN" dirty="0"/>
          </a:p>
          <a:p>
            <a:r>
              <a:rPr lang="zh-CN" dirty="0"/>
              <a:t>融合权重基于验证集准确率分配，RF获得最大权重27.0%，MLP为26.4%，CNN1D为26.1%，SVM为20.6%。推理效率方面，代理模型将传统FDS数小时计算压缩至秒级，提升3至4个数量级。</a:t>
            </a:r>
          </a:p>
          <a:p>
            <a:endParaRPr lang="zh-CN" dirty="0"/>
          </a:p>
          <a:p>
            <a:r>
              <a:rPr lang="zh-CN" dirty="0"/>
              <a:t>要点：①RF=98.1%整体最优；②Airport Hangar集成97.7%；③融合权重向RF/MLP倾斜；④推理效率提升3-4数量级</a:t>
            </a:r>
          </a:p>
          <a:p>
            <a:r>
              <a:rPr lang="zh-CN" dirty="0"/>
              <a:t>时长：2分钟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接下来我们对SVM表现进行深入分析，并介绍融合策略的设计考量。</a:t>
            </a:r>
          </a:p>
          <a:p>
            <a:endParaRPr lang="zh-CN" dirty="0"/>
          </a:p>
          <a:p>
            <a:r>
              <a:rPr lang="zh-CN" dirty="0"/>
              <a:t>SVM采用RBF核函数，但准确率仅76.9%，显著低于其他三个模型。主要原因有三点。</a:t>
            </a:r>
          </a:p>
          <a:p>
            <a:endParaRPr lang="zh-CN" dirty="0"/>
          </a:p>
          <a:p>
            <a:r>
              <a:rPr lang="zh-CN" dirty="0"/>
              <a:t>第一，23维输入特征包含多类连续变量与类别特征混合，RBF核在高维空间中找到的分类超平面难以有效捕捉特征间的非线性交互关系。</a:t>
            </a:r>
          </a:p>
          <a:p>
            <a:endParaRPr lang="zh-CN" dirty="0"/>
          </a:p>
          <a:p>
            <a:r>
              <a:rPr lang="zh-CN" dirty="0"/>
              <a:t>第二，合成数据集中热源参数取值范围跨度大，热通量从50到15000 W/m2，导致同一类别内部的特征方差较大，SVM的间隔最大化目标在此条件下泛化能力受限。</a:t>
            </a:r>
          </a:p>
          <a:p>
            <a:endParaRPr lang="zh-CN" dirty="0"/>
          </a:p>
          <a:p>
            <a:r>
              <a:rPr lang="zh-CN" dirty="0"/>
              <a:t>第三，当前数据集规模每类约1700条，对SVM而言处于中等规模区间，既不足以通过更多支持向量维持高斯核的紧凑性，也未达到深度学习所需的样本量。</a:t>
            </a:r>
          </a:p>
          <a:p>
            <a:endParaRPr lang="zh-CN" dirty="0"/>
          </a:p>
          <a:p>
            <a:r>
              <a:rPr lang="zh-CN" dirty="0"/>
              <a:t>[停顿] 后续计划在FDS真实火灾仿真数据集上验证后，若SVM仍显著落后，将考虑从融合模型中剔除，仅保留RF、MLP和CNN1D进行加权融合。</a:t>
            </a:r>
          </a:p>
          <a:p>
            <a:endParaRPr lang="zh-CN" dirty="0"/>
          </a:p>
          <a:p>
            <a:r>
              <a:rPr lang="zh-CN" dirty="0"/>
              <a:t>要点：①SVM三个主要不足：高维非线性/热源跨度/数据集规模；②融合权重动态调整；③FDS验证后可能剔除SVM</a:t>
            </a:r>
          </a:p>
          <a:p>
            <a:r>
              <a:rPr lang="zh-CN" dirty="0"/>
              <a:t>时长：2-3分钟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接下来进入第二部分：机械加工设施热毁伤代理模型。</a:t>
            </a:r>
          </a:p>
          <a:p>
            <a:endParaRPr lang="zh-CN" dirty="0"/>
          </a:p>
          <a:p>
            <a:r>
              <a:rPr lang="zh-CN" dirty="0"/>
              <a:t>机械加工设施是工业体系中的基础性组成部分，承担各类机械设备的零部件加工、装配和成品制造功能。与航空航天设施以精密电子设备和复合材料为主的可燃物特征不同，机械加工设施的可燃物组成更具工业特征：工业油品、化工溶剂、可燃气体和金属加工残料构成了主要火灾荷载来源。</a:t>
            </a:r>
          </a:p>
          <a:p>
            <a:endParaRPr lang="zh-CN" dirty="0"/>
          </a:p>
          <a:p>
            <a:r>
              <a:rPr lang="zh-CN" dirty="0"/>
              <a:t>本部分将从数据体系建设、可燃物分布特征和模型性能三个方面进行阐述。</a:t>
            </a:r>
          </a:p>
          <a:p>
            <a:endParaRPr lang="zh-CN" dirty="0"/>
          </a:p>
          <a:p>
            <a:r>
              <a:rPr lang="zh-CN" dirty="0"/>
              <a:t>要点：①机械加工设施工业特征明显；②可燃物以油品/溶剂/气体为主；③金属粉尘收集器为特殊风险点</a:t>
            </a:r>
          </a:p>
          <a:p>
            <a:r>
              <a:rPr lang="zh-CN" dirty="0"/>
              <a:t>时长：1分钟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首先介绍机械加工设施的数据体系建设。</a:t>
            </a:r>
          </a:p>
          <a:p>
            <a:endParaRPr lang="zh-CN" dirty="0"/>
          </a:p>
          <a:p>
            <a:r>
              <a:rPr lang="zh-CN" dirty="0"/>
              <a:t>数据来源于machinery_manufacturing.json配置文件，包含三类子目标建筑。总装车间规模最大，长157.5米、宽86米、高8米，门数量5个，典型可燃物包括工业油桶、涂料桶、橡胶零件和油污废料箱。</a:t>
            </a:r>
          </a:p>
          <a:p>
            <a:endParaRPr lang="zh-CN" dirty="0"/>
          </a:p>
          <a:p>
            <a:r>
              <a:rPr lang="zh-CN" dirty="0"/>
              <a:t>部装车间长130米、宽70米、高7米，门数量4个，可燃物以有机溶剂桶和可燃气体钢瓶为特色高风险物料。机械加工车间长135米、宽70米、高7米，门数量5个，可燃物组成最为复杂，同时包含工业油品、有机溶剂和金属粉尘收集设备。</a:t>
            </a:r>
          </a:p>
          <a:p>
            <a:endParaRPr lang="zh-CN" dirty="0"/>
          </a:p>
          <a:p>
            <a:r>
              <a:rPr lang="zh-CN" dirty="0"/>
              <a:t>[停顿] 金属粉尘收集器是一个独特的风险因素——金属粉尘在达到一定浓度后具有爆炸风险。</a:t>
            </a:r>
          </a:p>
          <a:p>
            <a:endParaRPr lang="zh-CN" dirty="0"/>
          </a:p>
          <a:p>
            <a:r>
              <a:rPr lang="zh-CN" dirty="0"/>
              <a:t>机械加工设施测试子集约121条，占测试集12.1%。数据集总规模7000条，三等级均衡分布。</a:t>
            </a:r>
          </a:p>
          <a:p>
            <a:endParaRPr lang="zh-CN" dirty="0"/>
          </a:p>
          <a:p>
            <a:r>
              <a:rPr lang="zh-CN" dirty="0"/>
              <a:t>要点：①三类子目标：总装/部装/机械加工车间；②金属粉尘收集器具爆炸风险；③有机溶剂和可燃气体钢瓶为高危物料</a:t>
            </a:r>
          </a:p>
          <a:p>
            <a:r>
              <a:rPr lang="zh-CN" dirty="0"/>
              <a:t>时长：2分钟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下面来看机械加工设施上的模型性能表现。</a:t>
            </a:r>
          </a:p>
          <a:p>
            <a:endParaRPr lang="zh-CN" dirty="0"/>
          </a:p>
          <a:p>
            <a:r>
              <a:rPr lang="zh-CN" dirty="0"/>
              <a:t>在四类设施混合测试集上，RF=98.1%、MLP=96.3%、CNN1D=94.0%、SVM=76.9%。但在我们重点关注的机械加工设施子数据集上，RF达到接近100%的100.0%，MLP达到99.6%，CNN1D达到98.9%，SVM达到86.6%，集成准确率99.6%。</a:t>
            </a:r>
          </a:p>
          <a:p>
            <a:endParaRPr lang="zh-CN" dirty="0"/>
          </a:p>
          <a:p>
            <a:r>
              <a:rPr lang="zh-CN" dirty="0"/>
              <a:t>[停顿] RF和MLP在机械加工设施上均达到接近100%的表现，这得益于该类设施各子目标之间特征差异相对平滑——几何参数取值范围较为集中，可燃物组成以工业油品类和化工品类为主。</a:t>
            </a:r>
          </a:p>
          <a:p>
            <a:endParaRPr lang="zh-CN" dirty="0"/>
          </a:p>
          <a:p>
            <a:r>
              <a:rPr lang="zh-CN" dirty="0"/>
              <a:t>SVM在机械加工设施上的表现（86.6%）也明显优于其整体表现（76.9%），说明液体燃料类可燃物主导的场景对SVM的挑战相对较小。</a:t>
            </a:r>
          </a:p>
          <a:p>
            <a:endParaRPr lang="zh-CN" dirty="0"/>
          </a:p>
          <a:p>
            <a:r>
              <a:rPr lang="zh-CN" dirty="0"/>
              <a:t>推理效率方面，代理模型同样展现了秒级预测的显著速度优势。</a:t>
            </a:r>
          </a:p>
          <a:p>
            <a:endParaRPr lang="zh-CN" dirty="0"/>
          </a:p>
          <a:p>
            <a:r>
              <a:rPr lang="zh-CN" dirty="0"/>
              <a:t>要点：①RF=100%表现最优；②MLP=99.6%次之；③子目标特征平滑导致性能优异；④SVM在液体燃料场景表现改善</a:t>
            </a:r>
          </a:p>
          <a:p>
            <a:r>
              <a:rPr lang="zh-CN" dirty="0"/>
              <a:t>时长：2分钟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接下来进入第三部分：冶金设施热毁伤代理模型。</a:t>
            </a:r>
          </a:p>
          <a:p>
            <a:endParaRPr lang="zh-CN" dirty="0"/>
          </a:p>
          <a:p>
            <a:r>
              <a:rPr lang="zh-CN" dirty="0"/>
              <a:t>冶金设施是本项目覆盖的范围最广、场景最为复杂的工业设施类型。与航空航天设施和机械加工设施相比，冶金设施涵盖电解工厂、专用电厂、钢铁厂、精炼厂等多种工艺建筑，各子目标在建筑规模、可燃物组成和火灾风险特征上差异显著。</a:t>
            </a:r>
          </a:p>
          <a:p>
            <a:endParaRPr lang="zh-CN" dirty="0"/>
          </a:p>
          <a:p>
            <a:r>
              <a:rPr lang="zh-CN" dirty="0"/>
              <a:t>电解工厂以碳材料和电解槽设备为主，专用电厂以燃煤和燃料油为主要燃料源，钢铁厂涉及高温熔炼作业，精炼厂以有机溶剂和油品储运为核心工艺。</a:t>
            </a:r>
          </a:p>
          <a:p>
            <a:endParaRPr lang="zh-CN" dirty="0"/>
          </a:p>
          <a:p>
            <a:r>
              <a:rPr lang="zh-CN" dirty="0"/>
              <a:t>[停顿] 这一多样性对代理模型的泛化能力提出了更高要求，也使得冶金设施成为验证代理模型技术路线可行性的最佳测试床。</a:t>
            </a:r>
          </a:p>
          <a:p>
            <a:endParaRPr lang="zh-CN" dirty="0"/>
          </a:p>
          <a:p>
            <a:r>
              <a:rPr lang="zh-CN" dirty="0"/>
              <a:t>要点：①覆盖五类子目标：电解工厂/专用电厂/钢铁厂/钽精炼厂/金精炼厂；②场景复杂度最高；③高温作业环境带来特殊风险</a:t>
            </a:r>
          </a:p>
          <a:p>
            <a:r>
              <a:rPr lang="zh-CN" dirty="0"/>
              <a:t>时长：1分钟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首先介绍冶金设施的数据体系建设。</a:t>
            </a:r>
          </a:p>
          <a:p>
            <a:endParaRPr lang="zh-CN" dirty="0"/>
          </a:p>
          <a:p>
            <a:r>
              <a:rPr lang="zh-CN" dirty="0"/>
              <a:t>数据来源于metallurgical_facilities.json，包含五类子目标建筑。电解工厂长度最大，220米x20米的狭长平面布局。专用电厂高度范围8-110m，当前等效模型取中位数25m，后续计划针对大型/中型/小型分别建立差异化模型。钢铁厂长度210米、高13.5米，为典型的大型长型工业厂房。钽精炼厂和金精炼厂尺寸相对紧凑。</a:t>
            </a:r>
          </a:p>
          <a:p>
            <a:endParaRPr lang="zh-CN" dirty="0"/>
          </a:p>
          <a:p>
            <a:r>
              <a:rPr lang="zh-CN" dirty="0"/>
              <a:t>冶金设施的火灾风险具有显著特殊性。首先，普遍存在高温作业环境——钢铁厂的熔炼作业区和电解工厂的电解槽区域长时间处于高温运行状态。其次，多类可燃物共存使得火灾发展具有更大的不确定性：液体燃料的持续燃烧、有机溶剂的快速蒸发、煤粉的爆炸性燃烧和可燃气体的瞬时爆轰构成不同的火灾演化模式。</a:t>
            </a:r>
          </a:p>
          <a:p>
            <a:endParaRPr lang="zh-CN" dirty="0"/>
          </a:p>
          <a:p>
            <a:r>
              <a:rPr lang="zh-CN" dirty="0"/>
              <a:t>专用电厂的可燃物组成最为多样，涵盖固体燃料、液体燃料、气体燃料和高分子材料。</a:t>
            </a:r>
          </a:p>
          <a:p>
            <a:endParaRPr lang="zh-CN" dirty="0"/>
          </a:p>
          <a:p>
            <a:r>
              <a:rPr lang="zh-CN" dirty="0"/>
              <a:t>[停顿] 冶金设施测试子集约502条，占测试集50.2%，是规模最大的设施类型。</a:t>
            </a:r>
          </a:p>
          <a:p>
            <a:endParaRPr lang="zh-CN" dirty="0"/>
          </a:p>
          <a:p>
            <a:r>
              <a:rPr lang="zh-CN" dirty="0"/>
              <a:t>要点：①五类子目标差异悬殊；②专用电厂8-110m高度需差异化建模；③高温环境+多态燃料共存；④测试集占比50.2%</a:t>
            </a:r>
          </a:p>
          <a:p>
            <a:r>
              <a:rPr lang="zh-CN" dirty="0"/>
              <a:t>时长：2-3分钟</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下面来看冶金设施上的模型性能表现，这是最具挑战性的测试场景。</a:t>
            </a:r>
          </a:p>
          <a:p>
            <a:endParaRPr lang="zh-CN" dirty="0"/>
          </a:p>
          <a:p>
            <a:r>
              <a:rPr lang="zh-CN" dirty="0"/>
              <a:t>整体测试集上，RF=98.1%、MLP=96.3%、CNN1D=94.0%、SVM=76.9%。但在冶金设施子数据集上，RF=95.5%、MLP=95.9%、CNN1D=90.2%、SVM=73.1%，集成准确率95.1%。</a:t>
            </a:r>
          </a:p>
          <a:p>
            <a:endParaRPr lang="zh-CN" dirty="0"/>
          </a:p>
          <a:p>
            <a:r>
              <a:rPr lang="zh-CN" dirty="0"/>
              <a:t>[停顿] 关键发现：CNN1D在冶金设施上的表现明显下滑至90.2%。这一下降可能与该设施类型内部的高度多样性有关——五类子目标之间建筑规模、可燃物组成差异悬殊，对1D卷积核的局部特征提取能力提出了更高要求。</a:t>
            </a:r>
          </a:p>
          <a:p>
            <a:endParaRPr lang="zh-CN" dirty="0"/>
          </a:p>
          <a:p>
            <a:r>
              <a:rPr lang="zh-CN" dirty="0"/>
              <a:t>SVM在冶金设施上同样表现最弱，仅73.1%。</a:t>
            </a:r>
          </a:p>
          <a:p>
            <a:endParaRPr lang="zh-CN" dirty="0"/>
          </a:p>
          <a:p>
            <a:r>
              <a:rPr lang="zh-CN" dirty="0"/>
              <a:t>尽管如此，RF和MLP在冶金设施上仍然保持了95%以上的准确率，说明随机森林和多层感知机对高多样性场景具有较强的适应性。融合模型的95.1%集成准确率为工程应用提供了充分的置信度基础。</a:t>
            </a:r>
          </a:p>
          <a:p>
            <a:endParaRPr lang="zh-CN" dirty="0"/>
          </a:p>
          <a:p>
            <a:r>
              <a:rPr lang="zh-CN" dirty="0"/>
              <a:t>要点：①CNN1D下降至90.2%——高多样性场景挑战；②RF/MLP保持95%以上稳定；③集成准确率95.1%满足工程需求</a:t>
            </a:r>
          </a:p>
          <a:p>
            <a:r>
              <a:rPr lang="zh-CN" dirty="0"/>
              <a:t>时长：2-3分钟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下面我们对四类设施上的模型性能进行综合对比分析。</a:t>
            </a:r>
          </a:p>
          <a:p>
            <a:endParaRPr lang="zh-CN" dirty="0"/>
          </a:p>
          <a:p>
            <a:r>
              <a:rPr lang="zh-CN" dirty="0"/>
              <a:t>从热力图可以清晰看到性能分布规律。</a:t>
            </a:r>
          </a:p>
          <a:p>
            <a:endParaRPr lang="zh-CN" dirty="0"/>
          </a:p>
          <a:p>
            <a:r>
              <a:rPr lang="zh-CN" dirty="0"/>
              <a:t>[停顿] 首先，RF在所有设施类型上均表现最优，Airport Hangar 98.1%、Machinery 100.0%、Metallurgical 95.5%。特别是Machinery Manufacturing达到100%，说明随机森林对工业设施场景具有极强的适应性。</a:t>
            </a:r>
          </a:p>
          <a:p>
            <a:endParaRPr lang="zh-CN" dirty="0"/>
          </a:p>
          <a:p>
            <a:r>
              <a:rPr lang="zh-CN" dirty="0"/>
              <a:t>其次，MLP整体表现稳定，各设施类型均在91%-99.6%之间。CNN1D在一般场景表现良好（90.6%-98.9%），但在Metallurgical高多样性场景下降明显（90.2%）。</a:t>
            </a:r>
          </a:p>
          <a:p>
            <a:endParaRPr lang="zh-CN" dirty="0"/>
          </a:p>
          <a:p>
            <a:r>
              <a:rPr lang="zh-CN" dirty="0"/>
              <a:t>第三，SVM是唯一在所有设施类型上表现均低于90%的模型，且在Metallurgical上仅73.1%，是所有组合中的最低值。</a:t>
            </a:r>
          </a:p>
          <a:p>
            <a:endParaRPr lang="zh-CN" dirty="0"/>
          </a:p>
          <a:p>
            <a:r>
              <a:rPr lang="zh-CN" dirty="0"/>
              <a:t>第四，从设施类型角度看，Airport Hangar和Machinery Manufacturing的模型性能整体优于Aerospace和Metallurgical，这可能与后两者设施内部的多样性更高有关。</a:t>
            </a:r>
          </a:p>
          <a:p>
            <a:endParaRPr lang="zh-CN" dirty="0"/>
          </a:p>
          <a:p>
            <a:r>
              <a:rPr lang="zh-CN" dirty="0"/>
              <a:t>融合权重分配基于验证集准确率，RF因验证集准确率最高（98.8%）而获得最大权重（27.0%），但融合策略有效缓解了单模型不足的问题。</a:t>
            </a:r>
          </a:p>
          <a:p>
            <a:endParaRPr lang="zh-CN" dirty="0"/>
          </a:p>
          <a:p>
            <a:r>
              <a:rPr lang="zh-CN" dirty="0"/>
              <a:t>要点：①RF全面最优（最低95.5%，最高100%）；②CNN1D在Metallurgical明显下滑；③SVM表现最弱（73.1%-86.6%）；④融合策略有效</a:t>
            </a:r>
          </a:p>
          <a:p>
            <a:r>
              <a:rPr lang="zh-CN" dirty="0"/>
              <a:t>时长：3分钟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接下来我们客观分析当前研究的局限性，并介绍未来工作计划。</a:t>
            </a:r>
          </a:p>
          <a:p>
            <a:endParaRPr lang="zh-CN" dirty="0"/>
          </a:p>
          <a:p>
            <a:r>
              <a:rPr lang="zh-CN" dirty="0"/>
              <a:t>局限性体现在三个层面。</a:t>
            </a:r>
          </a:p>
          <a:p>
            <a:endParaRPr lang="zh-CN" dirty="0"/>
          </a:p>
          <a:p>
            <a:r>
              <a:rPr lang="zh-CN" dirty="0"/>
              <a:t>数据层面：当前数据集基于简化热负荷模型生成，与真实火灾场景存在差距。简化模型假设热辐射垂直入射、忽略烟气层遮蔽效应、可燃物因子采用固定权重，这些假设在特定场景下可能导致评估偏差。</a:t>
            </a:r>
          </a:p>
          <a:p>
            <a:endParaRPr lang="zh-CN" dirty="0"/>
          </a:p>
          <a:p>
            <a:r>
              <a:rPr lang="zh-CN" dirty="0"/>
              <a:t>模型层面：SVM准确率仅76.9%，在融合模型中引入了较多噪声。CNN1D在高多样性场景（Metallurgical）下降至90.2%。此外，当前仅输出三级离散标签，未来可考虑回归模式输出连续毁伤指数。</a:t>
            </a:r>
          </a:p>
          <a:p>
            <a:endParaRPr lang="zh-CN" dirty="0"/>
          </a:p>
          <a:p>
            <a:r>
              <a:rPr lang="zh-CN" dirty="0"/>
              <a:t>泛化层面：当前覆盖Aerospace、Airport Hangar、Machinery Manufacturing和Metallurgical四类设施，对化工园、港口码头、数据中心等其他设施类型的泛化能力未知。</a:t>
            </a:r>
          </a:p>
          <a:p>
            <a:endParaRPr lang="zh-CN" dirty="0"/>
          </a:p>
          <a:p>
            <a:r>
              <a:rPr lang="zh-CN" dirty="0"/>
              <a:t>[停顿] 未来工作计划包括四个方向。</a:t>
            </a:r>
          </a:p>
          <a:p>
            <a:endParaRPr lang="zh-CN" dirty="0"/>
          </a:p>
          <a:p>
            <a:r>
              <a:rPr lang="zh-CN" dirty="0"/>
              <a:t>第一，当FDS火灾仿真数据积累充分后，以真实仿真结果替换合成数据，并对毁伤阈值和可燃物权重进行物理校准。</a:t>
            </a:r>
          </a:p>
          <a:p>
            <a:endParaRPr lang="zh-CN" dirty="0"/>
          </a:p>
          <a:p>
            <a:r>
              <a:rPr lang="zh-CN" dirty="0"/>
              <a:t>第二，若FDS数据集上SVM仍显著落后，从融合模型中剔除SVM。</a:t>
            </a:r>
          </a:p>
          <a:p>
            <a:endParaRPr lang="zh-CN" dirty="0"/>
          </a:p>
          <a:p>
            <a:r>
              <a:rPr lang="zh-CN" dirty="0"/>
              <a:t>第三，引入更多设施类型并研究跨设施类型的少样本迁移学习方法。</a:t>
            </a:r>
          </a:p>
          <a:p>
            <a:endParaRPr lang="zh-CN" dirty="0"/>
          </a:p>
          <a:p>
            <a:r>
              <a:rPr lang="zh-CN" dirty="0"/>
              <a:t>第四，针对专用电厂大型/中型/小型分别建立差异化模型。</a:t>
            </a:r>
          </a:p>
          <a:p>
            <a:endParaRPr lang="zh-CN" dirty="0"/>
          </a:p>
          <a:p>
            <a:r>
              <a:rPr lang="zh-CN" dirty="0"/>
              <a:t>要点：①合成数据需FDS真实仿真替换；②SVM可能被剔除；③需扩展更多设施类型；④专用电厂需差异化模型</a:t>
            </a:r>
          </a:p>
          <a:p>
            <a:r>
              <a:rPr lang="zh-CN" dirty="0"/>
              <a:t>时长：2-3分钟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最后，我们总结本研究的核心结论和应用价值。</a:t>
            </a:r>
          </a:p>
          <a:p>
            <a:endParaRPr lang="zh-CN" dirty="0"/>
          </a:p>
          <a:p>
            <a:r>
              <a:rPr lang="zh-CN" dirty="0"/>
              <a:t>研究完成了三项核心成果。</a:t>
            </a:r>
          </a:p>
          <a:p>
            <a:endParaRPr lang="zh-CN" dirty="0"/>
          </a:p>
          <a:p>
            <a:r>
              <a:rPr lang="zh-CN" dirty="0"/>
              <a:t>[停顿] 第一，统一模型架构验证成功。RF=98.1%、MLP=96.3%、CNN1D=94.0%，四模型融合架构在Aerospace、Machinery、Metallurgical三类设施上均展现了稳定的预测准确性。</a:t>
            </a:r>
          </a:p>
          <a:p>
            <a:endParaRPr lang="zh-CN" dirty="0"/>
          </a:p>
          <a:p>
            <a:r>
              <a:rPr lang="zh-CN" dirty="0"/>
              <a:t>第二，秒级推理效率突破。代理模型将火灾毁伤评估从FDS小时级精细仿真压缩至秒级计算，实现3至4个数量级的效率提升。</a:t>
            </a:r>
          </a:p>
          <a:p>
            <a:endParaRPr lang="zh-CN" dirty="0"/>
          </a:p>
          <a:p>
            <a:r>
              <a:rPr lang="zh-CN" dirty="0"/>
              <a:t>第三，多场景泛化能力验证。Airport Hangar集成准确率97.7%，Machinery 99.6%，Metallurgical 95.1%，模型在不同工业设施场景上展现了良好的适应性。</a:t>
            </a:r>
          </a:p>
          <a:p>
            <a:endParaRPr lang="zh-CN" dirty="0"/>
          </a:p>
          <a:p>
            <a:r>
              <a:rPr lang="zh-CN" dirty="0"/>
              <a:t>应用价值体现在三个方面。快速火灾风险筛查——数秒内完成多情景批量分析。多情景批量分析——支持不同热辐射情景组合评估。应急预案支撑——识别最危险情景和最脆弱单体建筑。</a:t>
            </a:r>
          </a:p>
          <a:p>
            <a:endParaRPr lang="zh-CN" dirty="0"/>
          </a:p>
          <a:p>
            <a:r>
              <a:rPr lang="zh-CN" dirty="0"/>
              <a:t>[停顿] 两阶段推理流程提供每建筑毁伤等级、预测概率和不确定度，支持最大法、加权法和阈值法三种汇总策略，为决策者提供可解释的量化参考。</a:t>
            </a:r>
          </a:p>
          <a:p>
            <a:endParaRPr lang="zh-CN" dirty="0"/>
          </a:p>
          <a:p>
            <a:r>
              <a:rPr lang="zh-CN" dirty="0"/>
              <a:t>要点：①RF=98.1%最高；②效率提升3-4数量级；③多场景泛化验证；④两阶段推理流程可解释</a:t>
            </a:r>
          </a:p>
          <a:p>
            <a:r>
              <a:rPr lang="zh-CN" dirty="0"/>
              <a:t>时长：2-3分钟</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以上就是热毁伤代理模型研究报告的全部内容。感谢各位领导和同事的聆听。</a:t>
            </a:r>
          </a:p>
          <a:p>
            <a:endParaRPr lang="zh-CN" dirty="0"/>
          </a:p>
          <a:p>
            <a:r>
              <a:rPr lang="zh-CN" dirty="0"/>
              <a:t>我们的研究表明，通过融合RF、MLP、CNN1D和SVM四种模型的代理模型方法，可以实现对航空航天、机械加工和冶金设施的秒级热毁伤评估，预测准确率在95%以上。</a:t>
            </a:r>
          </a:p>
          <a:p>
            <a:endParaRPr lang="zh-CN" dirty="0"/>
          </a:p>
          <a:p>
            <a:r>
              <a:rPr lang="zh-CN" dirty="0"/>
              <a:t>后续我们将进一步引入FDS真实火灾仿真数据扩展模型训练集，研究跨设施类型的少样本迁移学习方法，并针对专用电厂等特殊场景建立差异化模型。</a:t>
            </a:r>
          </a:p>
          <a:p>
            <a:endParaRPr lang="zh-CN" dirty="0"/>
          </a:p>
          <a:p>
            <a:r>
              <a:rPr lang="zh-CN" dirty="0"/>
              <a:t>如有任何问题或建议，欢迎提问和讨论。谢谢！</a:t>
            </a:r>
          </a:p>
          <a:p>
            <a:endParaRPr lang="zh-CN" dirty="0"/>
          </a:p>
          <a:p>
            <a:r>
              <a:rPr lang="zh-CN" dirty="0"/>
              <a:t>要点：①总结核心成果；②预告后续工作方向；③邀请提问讨论</a:t>
            </a:r>
          </a:p>
          <a:p>
            <a:r>
              <a:rPr lang="zh-CN" dirty="0"/>
              <a:t>时长：1分钟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3_img1.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6_img1.png"/>
  <Relationship Id="rId3" Type="http://schemas.openxmlformats.org/officeDocument/2006/relationships/image" Target="../media/s6_img2.png"/>
  <Relationship Id="rId4" Type="http://schemas.openxmlformats.org/officeDocument/2006/relationships/image" Target="../media/s6_img3.png"/>
  <Relationship Id="rId5"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3_img1.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9_img1.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11_img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12_img1.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14_img1.png"/>
  <Relationship Id="rId3" Type="http://schemas.openxmlformats.org/officeDocument/2006/relationships/image" Target="../media/s14_img2.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B3A6B"/>
              </a:gs>
              <a:gs pos="50000">
                <a:srgbClr val="0F2540"/>
              </a:gs>
              <a:gs pos="100000">
                <a:srgbClr val="091A2E"/>
              </a:gs>
            </a:gsLst>
            <a:lin ang="5400000" scaled="1"/>
          </a:gradFill>
          <a:ln>
            <a:noFill/>
          </a:ln>
        </p:spPr>
      </p:sp>
      <p:sp>
        <p:nvSpPr>
          <p:cNvPr id="3" name="Rectangle 3"/>
          <p:cNvSpPr/>
          <p:nvPr/>
        </p:nvSpPr>
        <p:spPr>
          <a:xfrm>
            <a:off x="8572500" y="0"/>
            <a:ext cx="3619500" cy="2667000"/>
          </a:xfrm>
          <a:prstGeom prst="rect">
            <a:avLst/>
          </a:prstGeom>
          <a:solidFill>
            <a:srgbClr val="FFFFFF">
              <a:alpha val="2000"/>
            </a:srgbClr>
          </a:solidFill>
          <a:ln>
            <a:noFill/>
          </a:ln>
        </p:spPr>
      </p:sp>
      <p:sp>
        <p:nvSpPr>
          <p:cNvPr id="4" name="Polygon 4"/>
          <p:cNvSpPr/>
          <p:nvPr/>
        </p:nvSpPr>
        <p:spPr>
          <a:xfrm>
            <a:off x="8572500" y="0"/>
            <a:ext cx="3619500" cy="2667000"/>
          </a:xfrm>
          <a:custGeom>
            <a:avLst/>
            <a:gdLst/>
            <a:ahLst/>
            <a:cxnLst/>
            <a:rect l="l" t="t" r="r" b="b"/>
            <a:pathLst>
              <a:path w="3619500" h="2667000">
                <a:moveTo>
                  <a:pt x="3619500" y="0"/>
                </a:moveTo>
                <a:lnTo>
                  <a:pt x="3619500" y="2667000"/>
                </a:lnTo>
                <a:lnTo>
                  <a:pt x="0" y="2667000"/>
                </a:lnTo>
                <a:close/>
              </a:path>
            </a:pathLst>
          </a:custGeom>
          <a:solidFill>
            <a:srgbClr val="FFFFFF">
              <a:alpha val="3000"/>
            </a:srgbClr>
          </a:solidFill>
          <a:ln>
            <a:noFill/>
          </a:ln>
        </p:spPr>
      </p:sp>
      <p:sp>
        <p:nvSpPr>
          <p:cNvPr id="5" name="Rectangle 5"/>
          <p:cNvSpPr/>
          <p:nvPr/>
        </p:nvSpPr>
        <p:spPr>
          <a:xfrm>
            <a:off x="0" y="6477000"/>
            <a:ext cx="12192000" cy="381000"/>
          </a:xfrm>
          <a:prstGeom prst="rect">
            <a:avLst/>
          </a:prstGeom>
          <a:solidFill>
            <a:srgbClr val="2196F3">
              <a:alpha val="15000"/>
            </a:srgbClr>
          </a:solidFill>
          <a:ln>
            <a:noFill/>
          </a:ln>
        </p:spPr>
      </p:sp>
      <p:sp>
        <p:nvSpPr>
          <p:cNvPr id="6" name="TextBox 6"/>
          <p:cNvSpPr txBox="1"/>
          <p:nvPr/>
        </p:nvSpPr>
        <p:spPr>
          <a:xfrm>
            <a:off x="2243376" y="2181225"/>
            <a:ext cx="7705249" cy="914400"/>
          </a:xfrm>
          <a:prstGeom prst="rect">
            <a:avLst/>
          </a:prstGeom>
          <a:noFill/>
          <a:ln>
            <a:noFill/>
          </a:ln>
        </p:spPr>
        <p:txBody>
          <a:bodyPr wrap="none" lIns="0" tIns="0" rIns="0" bIns="0" anchor="t" anchorCtr="0">
            <a:spAutoFit/>
          </a:bodyPr>
          <a:lstStyle/>
          <a:p>
            <a:pPr algn="ctr"/>
            <a:r>
              <a:rPr lang="zh-CN" sz="4500" b="1" dirty="0">
                <a:solidFill>
                  <a:srgbClr val="FFFFFF"/>
                </a:solidFill>
                <a:latin typeface="Arial"/>
                <a:ea typeface="Microsoft YaHei"/>
                <a:cs typeface="Arial"/>
              </a:rPr>
              <a:t>热毁伤代理模型研究报告</a:t>
            </a:r>
          </a:p>
        </p:txBody>
      </p:sp>
      <p:sp>
        <p:nvSpPr>
          <p:cNvPr id="7" name="Freeform 7"/>
          <p:cNvSpPr/>
          <p:nvPr/>
        </p:nvSpPr>
        <p:spPr>
          <a:xfrm>
            <a:off x="3238500" y="2905125"/>
            <a:ext cx="5715000" cy="28575"/>
          </a:xfrm>
          <a:custGeom>
            <a:avLst/>
            <a:gdLst/>
            <a:ahLst/>
            <a:cxnLst/>
            <a:rect l="l" t="t" r="r" b="b"/>
            <a:pathLst>
              <a:path w="5715000" h="28575">
                <a:moveTo>
                  <a:pt x="14288" y="0"/>
                </a:moveTo>
                <a:lnTo>
                  <a:pt x="5700712" y="0"/>
                </a:lnTo>
                <a:cubicBezTo>
                  <a:pt x="5708603" y="0"/>
                  <a:pt x="5715000" y="6397"/>
                  <a:pt x="5715000" y="14288"/>
                </a:cubicBezTo>
                <a:lnTo>
                  <a:pt x="5715000" y="14288"/>
                </a:lnTo>
                <a:cubicBezTo>
                  <a:pt x="5715000" y="22178"/>
                  <a:pt x="5708603" y="28575"/>
                  <a:pt x="5700712" y="28575"/>
                </a:cubicBezTo>
                <a:lnTo>
                  <a:pt x="14288" y="28575"/>
                </a:lnTo>
                <a:cubicBezTo>
                  <a:pt x="6397" y="28575"/>
                  <a:pt x="0" y="22178"/>
                  <a:pt x="0" y="14288"/>
                </a:cubicBezTo>
                <a:lnTo>
                  <a:pt x="0" y="14288"/>
                </a:lnTo>
                <a:cubicBezTo>
                  <a:pt x="0" y="6397"/>
                  <a:pt x="6397" y="0"/>
                  <a:pt x="14288" y="0"/>
                </a:cubicBezTo>
                <a:close/>
              </a:path>
            </a:pathLst>
          </a:custGeom>
          <a:gradFill>
            <a:gsLst>
              <a:gs pos="0">
                <a:srgbClr val="2196F3"/>
              </a:gs>
              <a:gs pos="100000">
                <a:srgbClr val="4A90D9"/>
              </a:gs>
            </a:gsLst>
            <a:lin ang="0" scaled="1"/>
          </a:gradFill>
          <a:ln>
            <a:noFill/>
          </a:ln>
        </p:spPr>
      </p:sp>
      <p:sp>
        <p:nvSpPr>
          <p:cNvPr id="8" name="TextBox 8"/>
          <p:cNvSpPr txBox="1"/>
          <p:nvPr/>
        </p:nvSpPr>
        <p:spPr>
          <a:xfrm>
            <a:off x="4193477" y="3329940"/>
            <a:ext cx="3805047" cy="365760"/>
          </a:xfrm>
          <a:prstGeom prst="rect">
            <a:avLst/>
          </a:prstGeom>
          <a:noFill/>
          <a:ln>
            <a:noFill/>
          </a:ln>
        </p:spPr>
        <p:txBody>
          <a:bodyPr wrap="none" lIns="0" tIns="0" rIns="0" bIns="0" anchor="t" anchorCtr="0">
            <a:spAutoFit/>
          </a:bodyPr>
          <a:lstStyle/>
          <a:p>
            <a:pPr algn="ctr"/>
            <a:r>
              <a:rPr lang="zh-CN" sz="1800" dirty="0">
                <a:solidFill>
                  <a:srgbClr val="4A90D9"/>
                </a:solidFill>
                <a:latin typeface="Arial"/>
                <a:ea typeface="Microsoft YaHei"/>
                <a:cs typeface="Arial"/>
              </a:rPr>
              <a:t>航空航天 · 机械加工 · 冶金设施</a:t>
            </a:r>
          </a:p>
        </p:txBody>
      </p:sp>
      <p:grpSp>
        <p:nvGrpSpPr>
          <p:cNvPr id="15" name="Group 15"/>
          <p:cNvGrpSpPr/>
          <p:nvPr/>
        </p:nvGrpSpPr>
        <p:grpSpPr>
          <a:xfrm>
            <a:off x="3238500" y="4000500"/>
            <a:ext cx="4381500" cy="342900"/>
            <a:chOff x="3238500" y="4000500"/>
            <a:chExt cx="4381500" cy="342900"/>
          </a:xfrm>
        </p:grpSpPr>
        <p:sp>
          <p:nvSpPr>
            <p:cNvPr id="9" name="Freeform 9"/>
            <p:cNvSpPr/>
            <p:nvPr/>
          </p:nvSpPr>
          <p:spPr>
            <a:xfrm>
              <a:off x="3238500" y="4000500"/>
              <a:ext cx="1333500" cy="342900"/>
            </a:xfrm>
            <a:custGeom>
              <a:avLst/>
              <a:gdLst/>
              <a:ahLst/>
              <a:cxnLst/>
              <a:rect l="l" t="t" r="r" b="b"/>
              <a:pathLst>
                <a:path w="1333500" h="342900">
                  <a:moveTo>
                    <a:pt x="38100" y="0"/>
                  </a:moveTo>
                  <a:lnTo>
                    <a:pt x="1295400" y="0"/>
                  </a:lnTo>
                  <a:cubicBezTo>
                    <a:pt x="1316442" y="0"/>
                    <a:pt x="1333500" y="17058"/>
                    <a:pt x="1333500" y="38100"/>
                  </a:cubicBezTo>
                  <a:lnTo>
                    <a:pt x="1333500" y="304800"/>
                  </a:lnTo>
                  <a:cubicBezTo>
                    <a:pt x="1333500" y="325842"/>
                    <a:pt x="1316442" y="342900"/>
                    <a:pt x="1295400" y="342900"/>
                  </a:cubicBezTo>
                  <a:lnTo>
                    <a:pt x="38100" y="342900"/>
                  </a:lnTo>
                  <a:cubicBezTo>
                    <a:pt x="17058" y="342900"/>
                    <a:pt x="0" y="325842"/>
                    <a:pt x="0" y="304800"/>
                  </a:cubicBezTo>
                  <a:lnTo>
                    <a:pt x="0" y="38100"/>
                  </a:lnTo>
                  <a:cubicBezTo>
                    <a:pt x="0" y="17058"/>
                    <a:pt x="17058" y="0"/>
                    <a:pt x="38100" y="0"/>
                  </a:cubicBezTo>
                  <a:close/>
                </a:path>
              </a:pathLst>
            </a:custGeom>
            <a:solidFill>
              <a:srgbClr val="2196F3">
                <a:alpha val="20000"/>
              </a:srgbClr>
            </a:solidFill>
            <a:ln w="9525">
              <a:solidFill>
                <a:srgbClr val="2196F3">
                  <a:alpha val="40000"/>
                </a:srgbClr>
              </a:solidFill>
            </a:ln>
          </p:spPr>
        </p:sp>
        <p:sp>
          <p:nvSpPr>
            <p:cNvPr id="10" name="TextBox 10"/>
            <p:cNvSpPr txBox="1"/>
            <p:nvPr/>
          </p:nvSpPr>
          <p:spPr>
            <a:xfrm>
              <a:off x="3585210" y="4106228"/>
              <a:ext cx="640080" cy="213360"/>
            </a:xfrm>
            <a:prstGeom prst="rect">
              <a:avLst/>
            </a:prstGeom>
            <a:noFill/>
            <a:ln>
              <a:noFill/>
            </a:ln>
          </p:spPr>
          <p:txBody>
            <a:bodyPr wrap="none" lIns="0" tIns="0" rIns="0" bIns="0" anchor="t" anchorCtr="0">
              <a:spAutoFit/>
            </a:bodyPr>
            <a:lstStyle/>
            <a:p>
              <a:pPr algn="ctr"/>
              <a:r>
                <a:rPr lang="zh-CN" sz="1050" dirty="0">
                  <a:solidFill>
                    <a:srgbClr val="64B5F6"/>
                  </a:solidFill>
                  <a:latin typeface="Arial"/>
                  <a:ea typeface="Microsoft YaHei"/>
                  <a:cs typeface="Arial"/>
                </a:rPr>
                <a:t>航空航天</a:t>
              </a:r>
            </a:p>
          </p:txBody>
        </p:sp>
        <p:sp>
          <p:nvSpPr>
            <p:cNvPr id="11" name="Freeform 11"/>
            <p:cNvSpPr/>
            <p:nvPr/>
          </p:nvSpPr>
          <p:spPr>
            <a:xfrm>
              <a:off x="4762500" y="4000500"/>
              <a:ext cx="1333500" cy="342900"/>
            </a:xfrm>
            <a:custGeom>
              <a:avLst/>
              <a:gdLst/>
              <a:ahLst/>
              <a:cxnLst/>
              <a:rect l="l" t="t" r="r" b="b"/>
              <a:pathLst>
                <a:path w="1333500" h="342900">
                  <a:moveTo>
                    <a:pt x="38100" y="0"/>
                  </a:moveTo>
                  <a:lnTo>
                    <a:pt x="1295400" y="0"/>
                  </a:lnTo>
                  <a:cubicBezTo>
                    <a:pt x="1316442" y="0"/>
                    <a:pt x="1333500" y="17058"/>
                    <a:pt x="1333500" y="38100"/>
                  </a:cubicBezTo>
                  <a:lnTo>
                    <a:pt x="1333500" y="304800"/>
                  </a:lnTo>
                  <a:cubicBezTo>
                    <a:pt x="1333500" y="325842"/>
                    <a:pt x="1316442" y="342900"/>
                    <a:pt x="1295400" y="342900"/>
                  </a:cubicBezTo>
                  <a:lnTo>
                    <a:pt x="38100" y="342900"/>
                  </a:lnTo>
                  <a:cubicBezTo>
                    <a:pt x="17058" y="342900"/>
                    <a:pt x="0" y="325842"/>
                    <a:pt x="0" y="304800"/>
                  </a:cubicBezTo>
                  <a:lnTo>
                    <a:pt x="0" y="38100"/>
                  </a:lnTo>
                  <a:cubicBezTo>
                    <a:pt x="0" y="17058"/>
                    <a:pt x="17058" y="0"/>
                    <a:pt x="38100" y="0"/>
                  </a:cubicBezTo>
                  <a:close/>
                </a:path>
              </a:pathLst>
            </a:custGeom>
            <a:solidFill>
              <a:srgbClr val="16A34A">
                <a:alpha val="20000"/>
              </a:srgbClr>
            </a:solidFill>
            <a:ln w="9525">
              <a:solidFill>
                <a:srgbClr val="16A34A">
                  <a:alpha val="40000"/>
                </a:srgbClr>
              </a:solidFill>
            </a:ln>
          </p:spPr>
        </p:sp>
        <p:sp>
          <p:nvSpPr>
            <p:cNvPr id="12" name="TextBox 12"/>
            <p:cNvSpPr txBox="1"/>
            <p:nvPr/>
          </p:nvSpPr>
          <p:spPr>
            <a:xfrm>
              <a:off x="5109210" y="4106228"/>
              <a:ext cx="640080" cy="213360"/>
            </a:xfrm>
            <a:prstGeom prst="rect">
              <a:avLst/>
            </a:prstGeom>
            <a:noFill/>
            <a:ln>
              <a:noFill/>
            </a:ln>
          </p:spPr>
          <p:txBody>
            <a:bodyPr wrap="none" lIns="0" tIns="0" rIns="0" bIns="0" anchor="t" anchorCtr="0">
              <a:spAutoFit/>
            </a:bodyPr>
            <a:lstStyle/>
            <a:p>
              <a:pPr algn="ctr"/>
              <a:r>
                <a:rPr lang="zh-CN" sz="1050" dirty="0">
                  <a:solidFill>
                    <a:srgbClr val="4ADE80"/>
                  </a:solidFill>
                  <a:latin typeface="Arial"/>
                  <a:ea typeface="Microsoft YaHei"/>
                  <a:cs typeface="Arial"/>
                </a:rPr>
                <a:t>机械加工</a:t>
              </a:r>
            </a:p>
          </p:txBody>
        </p:sp>
        <p:sp>
          <p:nvSpPr>
            <p:cNvPr id="13" name="Freeform 13"/>
            <p:cNvSpPr/>
            <p:nvPr/>
          </p:nvSpPr>
          <p:spPr>
            <a:xfrm>
              <a:off x="6286500" y="4000500"/>
              <a:ext cx="1333500" cy="342900"/>
            </a:xfrm>
            <a:custGeom>
              <a:avLst/>
              <a:gdLst/>
              <a:ahLst/>
              <a:cxnLst/>
              <a:rect l="l" t="t" r="r" b="b"/>
              <a:pathLst>
                <a:path w="1333500" h="342900">
                  <a:moveTo>
                    <a:pt x="38100" y="0"/>
                  </a:moveTo>
                  <a:lnTo>
                    <a:pt x="1295400" y="0"/>
                  </a:lnTo>
                  <a:cubicBezTo>
                    <a:pt x="1316442" y="0"/>
                    <a:pt x="1333500" y="17058"/>
                    <a:pt x="1333500" y="38100"/>
                  </a:cubicBezTo>
                  <a:lnTo>
                    <a:pt x="1333500" y="304800"/>
                  </a:lnTo>
                  <a:cubicBezTo>
                    <a:pt x="1333500" y="325842"/>
                    <a:pt x="1316442" y="342900"/>
                    <a:pt x="1295400" y="342900"/>
                  </a:cubicBezTo>
                  <a:lnTo>
                    <a:pt x="38100" y="342900"/>
                  </a:lnTo>
                  <a:cubicBezTo>
                    <a:pt x="17058" y="342900"/>
                    <a:pt x="0" y="325842"/>
                    <a:pt x="0" y="304800"/>
                  </a:cubicBezTo>
                  <a:lnTo>
                    <a:pt x="0" y="38100"/>
                  </a:lnTo>
                  <a:cubicBezTo>
                    <a:pt x="0" y="17058"/>
                    <a:pt x="17058" y="0"/>
                    <a:pt x="38100" y="0"/>
                  </a:cubicBezTo>
                  <a:close/>
                </a:path>
              </a:pathLst>
            </a:custGeom>
            <a:solidFill>
              <a:srgbClr val="D97706">
                <a:alpha val="20000"/>
              </a:srgbClr>
            </a:solidFill>
            <a:ln w="9525">
              <a:solidFill>
                <a:srgbClr val="D97706">
                  <a:alpha val="40000"/>
                </a:srgbClr>
              </a:solidFill>
            </a:ln>
          </p:spPr>
        </p:sp>
        <p:sp>
          <p:nvSpPr>
            <p:cNvPr id="14" name="TextBox 14"/>
            <p:cNvSpPr txBox="1"/>
            <p:nvPr/>
          </p:nvSpPr>
          <p:spPr>
            <a:xfrm>
              <a:off x="6633210" y="4106228"/>
              <a:ext cx="640080" cy="213360"/>
            </a:xfrm>
            <a:prstGeom prst="rect">
              <a:avLst/>
            </a:prstGeom>
            <a:noFill/>
            <a:ln>
              <a:noFill/>
            </a:ln>
          </p:spPr>
          <p:txBody>
            <a:bodyPr wrap="none" lIns="0" tIns="0" rIns="0" bIns="0" anchor="t" anchorCtr="0">
              <a:spAutoFit/>
            </a:bodyPr>
            <a:lstStyle/>
            <a:p>
              <a:pPr algn="ctr"/>
              <a:r>
                <a:rPr lang="zh-CN" sz="1050" dirty="0">
                  <a:solidFill>
                    <a:srgbClr val="FCD34D"/>
                  </a:solidFill>
                  <a:latin typeface="Arial"/>
                  <a:ea typeface="Microsoft YaHei"/>
                  <a:cs typeface="Arial"/>
                </a:rPr>
                <a:t>冶金设施</a:t>
              </a:r>
            </a:p>
          </p:txBody>
        </p:sp>
      </p:grpSp>
      <p:sp>
        <p:nvSpPr>
          <p:cNvPr id="16" name="Line 16"/>
          <p:cNvSpPr/>
          <p:nvPr/>
        </p:nvSpPr>
        <p:spPr>
          <a:xfrm>
            <a:off x="571500" y="6096000"/>
            <a:ext cx="11049000" cy="9525"/>
          </a:xfrm>
          <a:custGeom>
            <a:avLst/>
            <a:gdLst/>
            <a:ahLst/>
            <a:cxnLst/>
            <a:rect l="l" t="t" r="r" b="b"/>
            <a:pathLst>
              <a:path w="11049000" h="9525">
                <a:moveTo>
                  <a:pt x="0" y="0"/>
                </a:moveTo>
                <a:lnTo>
                  <a:pt x="11049000" y="0"/>
                </a:lnTo>
              </a:path>
            </a:pathLst>
          </a:custGeom>
          <a:noFill/>
          <a:ln w="9525">
            <a:solidFill>
              <a:srgbClr val="4A90D9">
                <a:alpha val="30000"/>
              </a:srgbClr>
            </a:solidFill>
          </a:ln>
        </p:spPr>
      </p:sp>
      <p:sp>
        <p:nvSpPr>
          <p:cNvPr id="17" name="TextBox 17"/>
          <p:cNvSpPr txBox="1"/>
          <p:nvPr/>
        </p:nvSpPr>
        <p:spPr>
          <a:xfrm>
            <a:off x="5327142" y="6252210"/>
            <a:ext cx="1537716" cy="243840"/>
          </a:xfrm>
          <a:prstGeom prst="rect">
            <a:avLst/>
          </a:prstGeom>
          <a:noFill/>
          <a:ln>
            <a:noFill/>
          </a:ln>
        </p:spPr>
        <p:txBody>
          <a:bodyPr wrap="none" lIns="0" tIns="0" rIns="0" bIns="0" anchor="t" anchorCtr="0">
            <a:spAutoFit/>
          </a:bodyPr>
          <a:lstStyle/>
          <a:p>
            <a:pPr algn="ctr"/>
            <a:r>
              <a:rPr lang="zh-CN" sz="1200" dirty="0">
                <a:solidFill>
                  <a:srgbClr val="6B7280"/>
                </a:solidFill>
                <a:latin typeface="Arial"/>
                <a:ea typeface="Microsoft YaHei"/>
                <a:cs typeface="Arial"/>
              </a:rPr>
              <a:t>FDS Builder 项目组</a:t>
            </a:r>
          </a:p>
        </p:txBody>
      </p:sp>
      <p:sp>
        <p:nvSpPr>
          <p:cNvPr id="18" name="TextBox 18"/>
          <p:cNvSpPr txBox="1"/>
          <p:nvPr/>
        </p:nvSpPr>
        <p:spPr>
          <a:xfrm>
            <a:off x="5718453" y="6506528"/>
            <a:ext cx="755094" cy="213360"/>
          </a:xfrm>
          <a:prstGeom prst="rect">
            <a:avLst/>
          </a:prstGeom>
          <a:noFill/>
          <a:ln>
            <a:noFill/>
          </a:ln>
        </p:spPr>
        <p:txBody>
          <a:bodyPr wrap="none" lIns="0" tIns="0" rIns="0" bIns="0" anchor="t" anchorCtr="0">
            <a:spAutoFit/>
          </a:bodyPr>
          <a:lstStyle/>
          <a:p>
            <a:pPr algn="ctr"/>
            <a:r>
              <a:rPr lang="zh-CN" sz="1050" dirty="0">
                <a:solidFill>
                  <a:srgbClr val="9CA3AF"/>
                </a:solidFill>
                <a:latin typeface="Arial"/>
                <a:ea typeface="Microsoft YaHei"/>
                <a:cs typeface="Arial"/>
              </a:rPr>
              <a:t>2026年4月</a:t>
            </a:r>
          </a:p>
        </p:txBody>
      </p:sp>
      <p:sp>
        <p:nvSpPr>
          <p:cNvPr id="19" name="TextBox 19"/>
          <p:cNvSpPr txBox="1"/>
          <p:nvPr/>
        </p:nvSpPr>
        <p:spPr>
          <a:xfrm>
            <a:off x="9779532" y="933450"/>
            <a:ext cx="2919936" cy="1828800"/>
          </a:xfrm>
          <a:prstGeom prst="rect">
            <a:avLst/>
          </a:prstGeom>
          <a:noFill/>
          <a:ln>
            <a:noFill/>
          </a:ln>
        </p:spPr>
        <p:txBody>
          <a:bodyPr wrap="none" lIns="0" tIns="0" rIns="0" bIns="0" anchor="t" anchorCtr="0">
            <a:spAutoFit/>
          </a:bodyPr>
          <a:lstStyle/>
          <a:p>
            <a:pPr algn="ctr"/>
            <a:r>
              <a:rPr lang="zh-CN" sz="9000" b="1" dirty="0">
                <a:solidFill>
                  <a:srgbClr val="FFFFFF">
                    <a:alpha val="3000"/>
                  </a:srgbClr>
                </a:solidFill>
                <a:latin typeface="Arial"/>
                <a:ea typeface="Microsoft YaHei"/>
                <a:cs typeface="Arial"/>
              </a:rPr>
              <a:t>98.1</a:t>
            </a:r>
          </a:p>
        </p:txBody>
      </p:sp>
      <p:sp>
        <p:nvSpPr>
          <p:cNvPr id="20" name="TextBox 20"/>
          <p:cNvSpPr txBox="1"/>
          <p:nvPr/>
        </p:nvSpPr>
        <p:spPr>
          <a:xfrm>
            <a:off x="10911792" y="2172652"/>
            <a:ext cx="655415" cy="213360"/>
          </a:xfrm>
          <a:prstGeom prst="rect">
            <a:avLst/>
          </a:prstGeom>
          <a:noFill/>
          <a:ln>
            <a:noFill/>
          </a:ln>
        </p:spPr>
        <p:txBody>
          <a:bodyPr wrap="none" lIns="0" tIns="0" rIns="0" bIns="0" anchor="t" anchorCtr="0">
            <a:spAutoFit/>
          </a:bodyPr>
          <a:lstStyle/>
          <a:p>
            <a:pPr algn="ctr"/>
            <a:r>
              <a:rPr lang="zh-CN" sz="1050" dirty="0">
                <a:solidFill>
                  <a:srgbClr val="FFFFFF">
                    <a:alpha val="5000"/>
                  </a:srgbClr>
                </a:solidFill>
                <a:latin typeface="Arial"/>
                <a:ea typeface="Microsoft YaHei"/>
                <a:cs typeface="Arial"/>
              </a:rPr>
              <a:t>RF准确率</a:t>
            </a:r>
          </a:p>
        </p:txBody>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B3A6B"/>
              </a:gs>
              <a:gs pos="100000">
                <a:srgbClr val="0F2540"/>
              </a:gs>
            </a:gsLst>
            <a:lin ang="5400000" scaled="1"/>
          </a:gradFill>
          <a:ln>
            <a:noFill/>
          </a:ln>
        </p:spPr>
      </p:sp>
      <p:sp>
        <p:nvSpPr>
          <p:cNvPr id="3" name="TextBox 3"/>
          <p:cNvSpPr txBox="1"/>
          <p:nvPr/>
        </p:nvSpPr>
        <p:spPr>
          <a:xfrm>
            <a:off x="1009650" y="2200275"/>
            <a:ext cx="1635371" cy="2133600"/>
          </a:xfrm>
          <a:prstGeom prst="rect">
            <a:avLst/>
          </a:prstGeom>
          <a:noFill/>
          <a:ln>
            <a:noFill/>
          </a:ln>
        </p:spPr>
        <p:txBody>
          <a:bodyPr wrap="none" lIns="0" tIns="0" rIns="0" bIns="0" anchor="t" anchorCtr="0">
            <a:spAutoFit/>
          </a:bodyPr>
          <a:lstStyle/>
          <a:p>
            <a:pPr algn="l"/>
            <a:r>
              <a:rPr lang="zh-CN" sz="10500" b="1" dirty="0">
                <a:solidFill>
                  <a:srgbClr val="FFFFFF">
                    <a:alpha val="8000"/>
                  </a:srgbClr>
                </a:solidFill>
                <a:latin typeface="Arial"/>
                <a:ea typeface="Microsoft YaHei"/>
                <a:cs typeface="Arial"/>
              </a:rPr>
              <a:t>01</a:t>
            </a:r>
          </a:p>
        </p:txBody>
      </p:sp>
      <p:sp>
        <p:nvSpPr>
          <p:cNvPr id="4" name="Freeform 4"/>
          <p:cNvSpPr/>
          <p:nvPr/>
        </p:nvSpPr>
        <p:spPr>
          <a:xfrm>
            <a:off x="762000" y="2095500"/>
            <a:ext cx="57150" cy="1905000"/>
          </a:xfrm>
          <a:custGeom>
            <a:avLst/>
            <a:gdLst/>
            <a:ahLst/>
            <a:cxnLst/>
            <a:rect l="l" t="t" r="r" b="b"/>
            <a:pathLst>
              <a:path w="57150" h="1905000">
                <a:moveTo>
                  <a:pt x="28575" y="0"/>
                </a:moveTo>
                <a:lnTo>
                  <a:pt x="28575" y="0"/>
                </a:lnTo>
                <a:cubicBezTo>
                  <a:pt x="44357" y="0"/>
                  <a:pt x="57150" y="12793"/>
                  <a:pt x="57150" y="28575"/>
                </a:cubicBezTo>
                <a:lnTo>
                  <a:pt x="57150" y="1876425"/>
                </a:lnTo>
                <a:cubicBezTo>
                  <a:pt x="57150" y="1892207"/>
                  <a:pt x="44357" y="1905000"/>
                  <a:pt x="28575" y="1905000"/>
                </a:cubicBezTo>
                <a:lnTo>
                  <a:pt x="28575" y="1905000"/>
                </a:lnTo>
                <a:cubicBezTo>
                  <a:pt x="12793" y="1905000"/>
                  <a:pt x="0" y="1892207"/>
                  <a:pt x="0" y="1876425"/>
                </a:cubicBezTo>
                <a:lnTo>
                  <a:pt x="0" y="28575"/>
                </a:lnTo>
                <a:cubicBezTo>
                  <a:pt x="0" y="12793"/>
                  <a:pt x="12793" y="0"/>
                  <a:pt x="28575" y="0"/>
                </a:cubicBezTo>
                <a:close/>
              </a:path>
            </a:pathLst>
          </a:custGeom>
          <a:solidFill>
            <a:srgbClr val="2196F3"/>
          </a:solidFill>
          <a:ln>
            <a:noFill/>
          </a:ln>
        </p:spPr>
      </p:sp>
      <p:sp>
        <p:nvSpPr>
          <p:cNvPr id="5" name="TextBox 5"/>
          <p:cNvSpPr txBox="1"/>
          <p:nvPr/>
        </p:nvSpPr>
        <p:spPr>
          <a:xfrm>
            <a:off x="1104900" y="2724150"/>
            <a:ext cx="6056948"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航空航天设施热毁伤代理模型</a:t>
            </a:r>
          </a:p>
        </p:txBody>
      </p:sp>
      <p:sp>
        <p:nvSpPr>
          <p:cNvPr id="6" name="TextBox 6"/>
          <p:cNvSpPr txBox="1"/>
          <p:nvPr/>
        </p:nvSpPr>
        <p:spPr>
          <a:xfrm>
            <a:off x="1123950" y="3362325"/>
            <a:ext cx="4003357" cy="304800"/>
          </a:xfrm>
          <a:prstGeom prst="rect">
            <a:avLst/>
          </a:prstGeom>
          <a:noFill/>
          <a:ln>
            <a:noFill/>
          </a:ln>
        </p:spPr>
        <p:txBody>
          <a:bodyPr wrap="none" lIns="0" tIns="0" rIns="0" bIns="0" anchor="t" anchorCtr="0">
            <a:spAutoFit/>
          </a:bodyPr>
          <a:lstStyle/>
          <a:p>
            <a:pPr algn="l"/>
            <a:r>
              <a:rPr lang="zh-CN" sz="1500" dirty="0">
                <a:solidFill>
                  <a:srgbClr val="4A90D9"/>
                </a:solidFill>
                <a:latin typeface="Arial"/>
                <a:ea typeface="Microsoft YaHei"/>
                <a:cs typeface="Arial"/>
              </a:rPr>
              <a:t>Aerospace &amp; Airport Hangar Facilities</a:t>
            </a:r>
          </a:p>
        </p:txBody>
      </p:sp>
      <p:sp>
        <p:nvSpPr>
          <p:cNvPr id="7" name="Freeform 7"/>
          <p:cNvSpPr/>
          <p:nvPr/>
        </p:nvSpPr>
        <p:spPr>
          <a:xfrm>
            <a:off x="1143000" y="3762375"/>
            <a:ext cx="2857500" cy="19050"/>
          </a:xfrm>
          <a:custGeom>
            <a:avLst/>
            <a:gdLst/>
            <a:ahLst/>
            <a:cxnLst/>
            <a:rect l="l" t="t" r="r" b="b"/>
            <a:pathLst>
              <a:path w="2857500" h="19050">
                <a:moveTo>
                  <a:pt x="9525" y="0"/>
                </a:moveTo>
                <a:lnTo>
                  <a:pt x="2847975" y="0"/>
                </a:lnTo>
                <a:cubicBezTo>
                  <a:pt x="2853236" y="0"/>
                  <a:pt x="2857500" y="4264"/>
                  <a:pt x="2857500" y="9525"/>
                </a:cubicBezTo>
                <a:lnTo>
                  <a:pt x="2857500" y="9525"/>
                </a:lnTo>
                <a:cubicBezTo>
                  <a:pt x="2857500" y="14786"/>
                  <a:pt x="2853236" y="19050"/>
                  <a:pt x="2847975" y="19050"/>
                </a:cubicBezTo>
                <a:lnTo>
                  <a:pt x="9525" y="19050"/>
                </a:lnTo>
                <a:cubicBezTo>
                  <a:pt x="4264" y="19050"/>
                  <a:pt x="0" y="14786"/>
                  <a:pt x="0" y="9525"/>
                </a:cubicBezTo>
                <a:lnTo>
                  <a:pt x="0" y="9525"/>
                </a:lnTo>
                <a:cubicBezTo>
                  <a:pt x="0" y="4264"/>
                  <a:pt x="4264" y="0"/>
                  <a:pt x="9525" y="0"/>
                </a:cubicBezTo>
                <a:close/>
              </a:path>
            </a:pathLst>
          </a:custGeom>
          <a:solidFill>
            <a:srgbClr val="2196F3">
              <a:alpha val="40000"/>
            </a:srgbClr>
          </a:solidFill>
          <a:ln>
            <a:noFill/>
          </a:ln>
        </p:spPr>
      </p:sp>
      <p:sp>
        <p:nvSpPr>
          <p:cNvPr id="8" name="TextBox 8"/>
          <p:cNvSpPr txBox="1"/>
          <p:nvPr/>
        </p:nvSpPr>
        <p:spPr>
          <a:xfrm>
            <a:off x="1127760" y="3966210"/>
            <a:ext cx="2536698" cy="243840"/>
          </a:xfrm>
          <a:prstGeom prst="rect">
            <a:avLst/>
          </a:prstGeom>
          <a:noFill/>
          <a:ln>
            <a:noFill/>
          </a:ln>
        </p:spPr>
        <p:txBody>
          <a:bodyPr wrap="none" lIns="0" tIns="0" rIns="0" bIns="0" anchor="t" anchorCtr="0">
            <a:spAutoFit/>
          </a:bodyPr>
          <a:lstStyle/>
          <a:p>
            <a:pPr algn="l"/>
            <a:r>
              <a:rPr lang="zh-CN" sz="1200" dirty="0">
                <a:solidFill>
                  <a:srgbClr val="6B7280"/>
                </a:solidFill>
                <a:latin typeface="Arial"/>
                <a:ea typeface="Microsoft YaHei"/>
                <a:cs typeface="Arial"/>
              </a:rPr>
              <a:t>数据体系 · 特征工程 · 模型性能</a:t>
            </a:r>
          </a:p>
        </p:txBody>
      </p:sp>
      <p:grpSp>
        <p:nvGrpSpPr>
          <p:cNvPr id="12" name="Group 12"/>
          <p:cNvGrpSpPr/>
          <p:nvPr/>
        </p:nvGrpSpPr>
        <p:grpSpPr>
          <a:xfrm>
            <a:off x="8763000" y="2095500"/>
            <a:ext cx="1524000" cy="1524000"/>
            <a:chOff x="8763000" y="2095500"/>
            <a:chExt cx="1524000" cy="1524000"/>
          </a:xfrm>
        </p:grpSpPr>
        <p:sp>
          <p:nvSpPr>
            <p:cNvPr id="9" name="Ellipse 9"/>
            <p:cNvSpPr/>
            <p:nvPr/>
          </p:nvSpPr>
          <p:spPr>
            <a:xfrm>
              <a:off x="8763000" y="2095500"/>
              <a:ext cx="1524000" cy="1524000"/>
            </a:xfrm>
            <a:prstGeom prst="ellipse">
              <a:avLst/>
            </a:prstGeom>
            <a:solidFill>
              <a:srgbClr val="2196F3">
                <a:alpha val="5000"/>
              </a:srgbClr>
            </a:solidFill>
            <a:ln>
              <a:noFill/>
            </a:ln>
          </p:spPr>
        </p:sp>
        <p:sp>
          <p:nvSpPr>
            <p:cNvPr id="10" name="Ellipse 10"/>
            <p:cNvSpPr/>
            <p:nvPr/>
          </p:nvSpPr>
          <p:spPr>
            <a:xfrm>
              <a:off x="9048750" y="2381250"/>
              <a:ext cx="952500" cy="952500"/>
            </a:xfrm>
            <a:prstGeom prst="ellipse">
              <a:avLst/>
            </a:prstGeom>
            <a:solidFill>
              <a:srgbClr val="2196F3">
                <a:alpha val="8000"/>
              </a:srgbClr>
            </a:solidFill>
            <a:ln>
              <a:noFill/>
            </a:ln>
          </p:spPr>
        </p:sp>
        <p:sp>
          <p:nvSpPr>
            <p:cNvPr id="11" name="Ellipse 11"/>
            <p:cNvSpPr/>
            <p:nvPr/>
          </p:nvSpPr>
          <p:spPr>
            <a:xfrm>
              <a:off x="9286875" y="2619375"/>
              <a:ext cx="476250" cy="476250"/>
            </a:xfrm>
            <a:prstGeom prst="ellipse">
              <a:avLst/>
            </a:prstGeom>
            <a:solidFill>
              <a:srgbClr val="2196F3">
                <a:alpha val="15000"/>
              </a:srgbClr>
            </a:solidFill>
            <a:ln>
              <a:noFill/>
            </a:ln>
          </p:spPr>
        </p:sp>
      </p:grpSp>
      <p:sp>
        <p:nvSpPr>
          <p:cNvPr id="13" name="TextBox 13"/>
          <p:cNvSpPr txBox="1"/>
          <p:nvPr/>
        </p:nvSpPr>
        <p:spPr>
          <a:xfrm>
            <a:off x="11131772" y="6506528"/>
            <a:ext cx="502063" cy="213360"/>
          </a:xfrm>
          <a:prstGeom prst="rect">
            <a:avLst/>
          </a:prstGeom>
          <a:noFill/>
          <a:ln>
            <a:noFill/>
          </a:ln>
        </p:spPr>
        <p:txBody>
          <a:bodyPr wrap="none" lIns="0" tIns="0" rIns="0" bIns="0" anchor="t" anchorCtr="0">
            <a:spAutoFit/>
          </a:bodyPr>
          <a:lstStyle/>
          <a:p>
            <a:pPr algn="r"/>
            <a:r>
              <a:rPr lang="zh-CN" sz="1050" dirty="0">
                <a:solidFill>
                  <a:srgbClr val="4A90D9">
                    <a:alpha val="60000"/>
                  </a:srgbClr>
                </a:solidFill>
                <a:latin typeface="Arial"/>
                <a:ea typeface="Microsoft YaHei"/>
                <a:cs typeface="Arial"/>
              </a:rPr>
              <a:t>02 / 16</a:t>
            </a:r>
          </a:p>
        </p:txBody>
      </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B3A6B"/>
          </a:solidFill>
          <a:ln>
            <a:noFill/>
          </a:ln>
        </p:spPr>
      </p:sp>
      <p:sp>
        <p:nvSpPr>
          <p:cNvPr id="4" name="TextBox 4"/>
          <p:cNvSpPr txBox="1"/>
          <p:nvPr/>
        </p:nvSpPr>
        <p:spPr>
          <a:xfrm>
            <a:off x="550545" y="183832"/>
            <a:ext cx="192699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1.1 数据体系建设</a:t>
            </a:r>
          </a:p>
        </p:txBody>
      </p:sp>
      <p:sp>
        <p:nvSpPr>
          <p:cNvPr id="5" name="TextBox 5"/>
          <p:cNvSpPr txBox="1"/>
          <p:nvPr/>
        </p:nvSpPr>
        <p:spPr>
          <a:xfrm>
            <a:off x="10687050" y="248602"/>
            <a:ext cx="946785" cy="213360"/>
          </a:xfrm>
          <a:prstGeom prst="rect">
            <a:avLst/>
          </a:prstGeom>
          <a:noFill/>
          <a:ln>
            <a:noFill/>
          </a:ln>
        </p:spPr>
        <p:txBody>
          <a:bodyPr wrap="none" lIns="0" tIns="0" rIns="0" bIns="0" anchor="t" anchorCtr="0">
            <a:spAutoFit/>
          </a:bodyPr>
          <a:lstStyle/>
          <a:p>
            <a:pPr algn="r"/>
            <a:r>
              <a:rPr lang="zh-CN" sz="1050" dirty="0">
                <a:solidFill>
                  <a:srgbClr val="4A90D9"/>
                </a:solidFill>
                <a:latin typeface="Arial"/>
                <a:ea typeface="Microsoft YaHei"/>
                <a:cs typeface="Arial"/>
              </a:rPr>
              <a:t>航空航天设施</a:t>
            </a:r>
          </a:p>
        </p:txBody>
      </p:sp>
      <p:grpSp>
        <p:nvGrpSpPr>
          <p:cNvPr id="32" name="Group 32"/>
          <p:cNvGrpSpPr/>
          <p:nvPr/>
        </p:nvGrpSpPr>
        <p:grpSpPr>
          <a:xfrm>
            <a:off x="571500" y="809625"/>
            <a:ext cx="5101400" cy="4333875"/>
            <a:chOff x="571500" y="809625"/>
            <a:chExt cx="5101400" cy="4333875"/>
          </a:xfrm>
        </p:grpSpPr>
        <p:sp>
          <p:nvSpPr>
            <p:cNvPr id="6" name="Freeform 6"/>
            <p:cNvSpPr/>
            <p:nvPr/>
          </p:nvSpPr>
          <p:spPr>
            <a:xfrm>
              <a:off x="571500" y="809625"/>
              <a:ext cx="3429000" cy="1143000"/>
            </a:xfrm>
            <a:custGeom>
              <a:avLst/>
              <a:gdLst/>
              <a:ahLst/>
              <a:cxnLst/>
              <a:rect l="l" t="t" r="r" b="b"/>
              <a:pathLst>
                <a:path w="3429000" h="1143000">
                  <a:moveTo>
                    <a:pt x="76200" y="0"/>
                  </a:moveTo>
                  <a:lnTo>
                    <a:pt x="3352800" y="0"/>
                  </a:lnTo>
                  <a:cubicBezTo>
                    <a:pt x="3394884" y="0"/>
                    <a:pt x="3429000" y="34116"/>
                    <a:pt x="3429000" y="76200"/>
                  </a:cubicBezTo>
                  <a:lnTo>
                    <a:pt x="3429000" y="1066800"/>
                  </a:lnTo>
                  <a:cubicBezTo>
                    <a:pt x="3429000" y="1108884"/>
                    <a:pt x="3394884" y="1143000"/>
                    <a:pt x="3352800" y="1143000"/>
                  </a:cubicBezTo>
                  <a:lnTo>
                    <a:pt x="76200" y="1143000"/>
                  </a:lnTo>
                  <a:cubicBezTo>
                    <a:pt x="34116" y="1143000"/>
                    <a:pt x="0" y="1108884"/>
                    <a:pt x="0" y="1066800"/>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7" name="TextBox 7"/>
            <p:cNvSpPr txBox="1"/>
            <p:nvPr/>
          </p:nvSpPr>
          <p:spPr>
            <a:xfrm>
              <a:off x="748665" y="982028"/>
              <a:ext cx="670750"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设施配置</a:t>
              </a:r>
            </a:p>
          </p:txBody>
        </p:sp>
        <p:sp>
          <p:nvSpPr>
            <p:cNvPr id="8" name="TextBox 8"/>
            <p:cNvSpPr txBox="1"/>
            <p:nvPr/>
          </p:nvSpPr>
          <p:spPr>
            <a:xfrm>
              <a:off x="749618" y="1228249"/>
              <a:ext cx="2053947"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aerospace.json (5类子目标)</a:t>
              </a:r>
            </a:p>
          </p:txBody>
        </p:sp>
        <p:sp>
          <p:nvSpPr>
            <p:cNvPr id="9" name="TextBox 9"/>
            <p:cNvSpPr txBox="1"/>
            <p:nvPr/>
          </p:nvSpPr>
          <p:spPr>
            <a:xfrm>
              <a:off x="749618" y="1418749"/>
              <a:ext cx="240994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airport_hangar.json (4类子目标)</a:t>
              </a:r>
            </a:p>
          </p:txBody>
        </p:sp>
        <p:sp>
          <p:nvSpPr>
            <p:cNvPr id="10" name="TextBox 10"/>
            <p:cNvSpPr txBox="1"/>
            <p:nvPr/>
          </p:nvSpPr>
          <p:spPr>
            <a:xfrm>
              <a:off x="749618" y="1609249"/>
              <a:ext cx="367017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发射控制中心 / 总装车间 / 部装车间 / 加工厂房 / 发射场</a:t>
              </a:r>
            </a:p>
          </p:txBody>
        </p:sp>
        <p:sp>
          <p:nvSpPr>
            <p:cNvPr id="11" name="Freeform 11"/>
            <p:cNvSpPr/>
            <p:nvPr/>
          </p:nvSpPr>
          <p:spPr>
            <a:xfrm>
              <a:off x="571500" y="2095500"/>
              <a:ext cx="3429000" cy="952500"/>
            </a:xfrm>
            <a:custGeom>
              <a:avLst/>
              <a:gdLst/>
              <a:ahLst/>
              <a:cxnLst/>
              <a:rect l="l" t="t" r="r" b="b"/>
              <a:pathLst>
                <a:path w="3429000" h="952500">
                  <a:moveTo>
                    <a:pt x="76200" y="0"/>
                  </a:moveTo>
                  <a:lnTo>
                    <a:pt x="3352800" y="0"/>
                  </a:lnTo>
                  <a:cubicBezTo>
                    <a:pt x="3394884" y="0"/>
                    <a:pt x="3429000" y="34116"/>
                    <a:pt x="3429000" y="76200"/>
                  </a:cubicBezTo>
                  <a:lnTo>
                    <a:pt x="3429000" y="876300"/>
                  </a:lnTo>
                  <a:cubicBezTo>
                    <a:pt x="3429000" y="918384"/>
                    <a:pt x="3394884" y="952500"/>
                    <a:pt x="3352800" y="952500"/>
                  </a:cubicBezTo>
                  <a:lnTo>
                    <a:pt x="76200" y="952500"/>
                  </a:lnTo>
                  <a:cubicBezTo>
                    <a:pt x="34116" y="952500"/>
                    <a:pt x="0" y="918384"/>
                    <a:pt x="0" y="876300"/>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12" name="TextBox 12"/>
            <p:cNvSpPr txBox="1"/>
            <p:nvPr/>
          </p:nvSpPr>
          <p:spPr>
            <a:xfrm>
              <a:off x="748665" y="2267902"/>
              <a:ext cx="670750"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毁伤阈值</a:t>
              </a:r>
            </a:p>
          </p:txBody>
        </p:sp>
        <p:grpSp>
          <p:nvGrpSpPr>
            <p:cNvPr id="22" name="Group 22"/>
            <p:cNvGrpSpPr/>
            <p:nvPr/>
          </p:nvGrpSpPr>
          <p:grpSpPr>
            <a:xfrm>
              <a:off x="762000" y="2524125"/>
              <a:ext cx="3562064" cy="247650"/>
              <a:chOff x="762000" y="2524125"/>
              <a:chExt cx="3562064" cy="247650"/>
            </a:xfrm>
          </p:grpSpPr>
          <p:sp>
            <p:nvSpPr>
              <p:cNvPr id="13" name="Freeform 13"/>
              <p:cNvSpPr/>
              <p:nvPr/>
            </p:nvSpPr>
            <p:spPr>
              <a:xfrm>
                <a:off x="762000" y="2524125"/>
                <a:ext cx="762000" cy="228600"/>
              </a:xfrm>
              <a:custGeom>
                <a:avLst/>
                <a:gdLst/>
                <a:ahLst/>
                <a:cxnLst/>
                <a:rect l="l" t="t" r="r" b="b"/>
                <a:pathLst>
                  <a:path w="762000" h="228600">
                    <a:moveTo>
                      <a:pt x="38100" y="0"/>
                    </a:moveTo>
                    <a:lnTo>
                      <a:pt x="723900" y="0"/>
                    </a:lnTo>
                    <a:cubicBezTo>
                      <a:pt x="744942" y="0"/>
                      <a:pt x="762000" y="17058"/>
                      <a:pt x="762000" y="38100"/>
                    </a:cubicBezTo>
                    <a:lnTo>
                      <a:pt x="762000" y="190500"/>
                    </a:lnTo>
                    <a:cubicBezTo>
                      <a:pt x="762000" y="211542"/>
                      <a:pt x="744942" y="228600"/>
                      <a:pt x="723900" y="228600"/>
                    </a:cubicBezTo>
                    <a:lnTo>
                      <a:pt x="38100" y="228600"/>
                    </a:lnTo>
                    <a:cubicBezTo>
                      <a:pt x="17058" y="228600"/>
                      <a:pt x="0" y="211542"/>
                      <a:pt x="0" y="190500"/>
                    </a:cubicBezTo>
                    <a:lnTo>
                      <a:pt x="0" y="38100"/>
                    </a:lnTo>
                    <a:cubicBezTo>
                      <a:pt x="0" y="17058"/>
                      <a:pt x="17058" y="0"/>
                      <a:pt x="38100" y="0"/>
                    </a:cubicBezTo>
                    <a:close/>
                  </a:path>
                </a:pathLst>
              </a:custGeom>
              <a:solidFill>
                <a:srgbClr val="16A34A">
                  <a:alpha val="15000"/>
                </a:srgbClr>
              </a:solidFill>
              <a:ln>
                <a:noFill/>
              </a:ln>
            </p:spPr>
          </p:sp>
          <p:sp>
            <p:nvSpPr>
              <p:cNvPr id="14" name="TextBox 14"/>
              <p:cNvSpPr txBox="1"/>
              <p:nvPr/>
            </p:nvSpPr>
            <p:spPr>
              <a:xfrm>
                <a:off x="1009983" y="2588895"/>
                <a:ext cx="266033" cy="182880"/>
              </a:xfrm>
              <a:prstGeom prst="rect">
                <a:avLst/>
              </a:prstGeom>
              <a:noFill/>
              <a:ln>
                <a:noFill/>
              </a:ln>
            </p:spPr>
            <p:txBody>
              <a:bodyPr wrap="none" lIns="0" tIns="0" rIns="0" bIns="0" anchor="t" anchorCtr="0">
                <a:spAutoFit/>
              </a:bodyPr>
              <a:lstStyle/>
              <a:p>
                <a:pPr algn="ctr"/>
                <a:r>
                  <a:rPr lang="zh-CN" sz="900" dirty="0">
                    <a:solidFill>
                      <a:srgbClr val="16A34A"/>
                    </a:solidFill>
                    <a:latin typeface="Arial"/>
                    <a:ea typeface="Microsoft YaHei"/>
                    <a:cs typeface="Arial"/>
                  </a:rPr>
                  <a:t>Low</a:t>
                </a:r>
              </a:p>
            </p:txBody>
          </p:sp>
          <p:sp>
            <p:nvSpPr>
              <p:cNvPr id="15" name="TextBox 15"/>
              <p:cNvSpPr txBox="1"/>
              <p:nvPr/>
            </p:nvSpPr>
            <p:spPr>
              <a:xfrm>
                <a:off x="1607820" y="2588895"/>
                <a:ext cx="279178"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&lt; 25</a:t>
                </a:r>
              </a:p>
            </p:txBody>
          </p:sp>
          <p:sp>
            <p:nvSpPr>
              <p:cNvPr id="16" name="Freeform 16"/>
              <p:cNvSpPr/>
              <p:nvPr/>
            </p:nvSpPr>
            <p:spPr>
              <a:xfrm>
                <a:off x="2000250" y="2524125"/>
                <a:ext cx="762000" cy="228600"/>
              </a:xfrm>
              <a:custGeom>
                <a:avLst/>
                <a:gdLst/>
                <a:ahLst/>
                <a:cxnLst/>
                <a:rect l="l" t="t" r="r" b="b"/>
                <a:pathLst>
                  <a:path w="762000" h="228600">
                    <a:moveTo>
                      <a:pt x="38100" y="0"/>
                    </a:moveTo>
                    <a:lnTo>
                      <a:pt x="723900" y="0"/>
                    </a:lnTo>
                    <a:cubicBezTo>
                      <a:pt x="744942" y="0"/>
                      <a:pt x="762000" y="17058"/>
                      <a:pt x="762000" y="38100"/>
                    </a:cubicBezTo>
                    <a:lnTo>
                      <a:pt x="762000" y="190500"/>
                    </a:lnTo>
                    <a:cubicBezTo>
                      <a:pt x="762000" y="211542"/>
                      <a:pt x="744942" y="228600"/>
                      <a:pt x="723900" y="228600"/>
                    </a:cubicBezTo>
                    <a:lnTo>
                      <a:pt x="38100" y="228600"/>
                    </a:lnTo>
                    <a:cubicBezTo>
                      <a:pt x="17058" y="228600"/>
                      <a:pt x="0" y="211542"/>
                      <a:pt x="0" y="190500"/>
                    </a:cubicBezTo>
                    <a:lnTo>
                      <a:pt x="0" y="38100"/>
                    </a:lnTo>
                    <a:cubicBezTo>
                      <a:pt x="0" y="17058"/>
                      <a:pt x="17058" y="0"/>
                      <a:pt x="38100" y="0"/>
                    </a:cubicBezTo>
                    <a:close/>
                  </a:path>
                </a:pathLst>
              </a:custGeom>
              <a:solidFill>
                <a:srgbClr val="D97706">
                  <a:alpha val="15000"/>
                </a:srgbClr>
              </a:solidFill>
              <a:ln>
                <a:noFill/>
              </a:ln>
            </p:spPr>
          </p:sp>
          <p:sp>
            <p:nvSpPr>
              <p:cNvPr id="17" name="TextBox 17"/>
              <p:cNvSpPr txBox="1"/>
              <p:nvPr/>
            </p:nvSpPr>
            <p:spPr>
              <a:xfrm>
                <a:off x="2143077" y="2588895"/>
                <a:ext cx="476345" cy="182880"/>
              </a:xfrm>
              <a:prstGeom prst="rect">
                <a:avLst/>
              </a:prstGeom>
              <a:noFill/>
              <a:ln>
                <a:noFill/>
              </a:ln>
            </p:spPr>
            <p:txBody>
              <a:bodyPr wrap="none" lIns="0" tIns="0" rIns="0" bIns="0" anchor="t" anchorCtr="0">
                <a:spAutoFit/>
              </a:bodyPr>
              <a:lstStyle/>
              <a:p>
                <a:pPr algn="ctr"/>
                <a:r>
                  <a:rPr lang="zh-CN" sz="900" dirty="0">
                    <a:solidFill>
                      <a:srgbClr val="D97706"/>
                    </a:solidFill>
                    <a:latin typeface="Arial"/>
                    <a:ea typeface="Microsoft YaHei"/>
                    <a:cs typeface="Arial"/>
                  </a:rPr>
                  <a:t>Medium</a:t>
                </a:r>
              </a:p>
            </p:txBody>
          </p:sp>
          <p:sp>
            <p:nvSpPr>
              <p:cNvPr id="18" name="TextBox 18"/>
              <p:cNvSpPr txBox="1"/>
              <p:nvPr/>
            </p:nvSpPr>
            <p:spPr>
              <a:xfrm>
                <a:off x="2846070" y="2588895"/>
                <a:ext cx="38433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25-70</a:t>
                </a:r>
              </a:p>
            </p:txBody>
          </p:sp>
          <p:sp>
            <p:nvSpPr>
              <p:cNvPr id="19" name="Freeform 19"/>
              <p:cNvSpPr/>
              <p:nvPr/>
            </p:nvSpPr>
            <p:spPr>
              <a:xfrm>
                <a:off x="3238500" y="2524125"/>
                <a:ext cx="762000" cy="228600"/>
              </a:xfrm>
              <a:custGeom>
                <a:avLst/>
                <a:gdLst/>
                <a:ahLst/>
                <a:cxnLst/>
                <a:rect l="l" t="t" r="r" b="b"/>
                <a:pathLst>
                  <a:path w="762000" h="228600">
                    <a:moveTo>
                      <a:pt x="38100" y="0"/>
                    </a:moveTo>
                    <a:lnTo>
                      <a:pt x="723900" y="0"/>
                    </a:lnTo>
                    <a:cubicBezTo>
                      <a:pt x="744942" y="0"/>
                      <a:pt x="762000" y="17058"/>
                      <a:pt x="762000" y="38100"/>
                    </a:cubicBezTo>
                    <a:lnTo>
                      <a:pt x="762000" y="190500"/>
                    </a:lnTo>
                    <a:cubicBezTo>
                      <a:pt x="762000" y="211542"/>
                      <a:pt x="744942" y="228600"/>
                      <a:pt x="723900" y="228600"/>
                    </a:cubicBezTo>
                    <a:lnTo>
                      <a:pt x="38100" y="228600"/>
                    </a:lnTo>
                    <a:cubicBezTo>
                      <a:pt x="17058" y="228600"/>
                      <a:pt x="0" y="211542"/>
                      <a:pt x="0" y="190500"/>
                    </a:cubicBezTo>
                    <a:lnTo>
                      <a:pt x="0" y="38100"/>
                    </a:lnTo>
                    <a:cubicBezTo>
                      <a:pt x="0" y="17058"/>
                      <a:pt x="17058" y="0"/>
                      <a:pt x="38100" y="0"/>
                    </a:cubicBezTo>
                    <a:close/>
                  </a:path>
                </a:pathLst>
              </a:custGeom>
              <a:solidFill>
                <a:srgbClr val="DC2626">
                  <a:alpha val="15000"/>
                </a:srgbClr>
              </a:solidFill>
              <a:ln>
                <a:noFill/>
              </a:ln>
            </p:spPr>
          </p:sp>
          <p:sp>
            <p:nvSpPr>
              <p:cNvPr id="20" name="TextBox 20"/>
              <p:cNvSpPr txBox="1"/>
              <p:nvPr/>
            </p:nvSpPr>
            <p:spPr>
              <a:xfrm>
                <a:off x="3479911" y="2588895"/>
                <a:ext cx="279178" cy="182880"/>
              </a:xfrm>
              <a:prstGeom prst="rect">
                <a:avLst/>
              </a:prstGeom>
              <a:noFill/>
              <a:ln>
                <a:noFill/>
              </a:ln>
            </p:spPr>
            <p:txBody>
              <a:bodyPr wrap="none" lIns="0" tIns="0" rIns="0" bIns="0" anchor="t" anchorCtr="0">
                <a:spAutoFit/>
              </a:bodyPr>
              <a:lstStyle/>
              <a:p>
                <a:pPr algn="ctr"/>
                <a:r>
                  <a:rPr lang="zh-CN" sz="900" dirty="0">
                    <a:solidFill>
                      <a:srgbClr val="DC2626"/>
                    </a:solidFill>
                    <a:latin typeface="Arial"/>
                    <a:ea typeface="Microsoft YaHei"/>
                    <a:cs typeface="Arial"/>
                  </a:rPr>
                  <a:t>High</a:t>
                </a:r>
              </a:p>
            </p:txBody>
          </p:sp>
          <p:sp>
            <p:nvSpPr>
              <p:cNvPr id="21" name="TextBox 21"/>
              <p:cNvSpPr txBox="1"/>
              <p:nvPr/>
            </p:nvSpPr>
            <p:spPr>
              <a:xfrm>
                <a:off x="4084320" y="2588895"/>
                <a:ext cx="23974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≥70</a:t>
                </a:r>
              </a:p>
            </p:txBody>
          </p:sp>
        </p:grpSp>
        <p:sp>
          <p:nvSpPr>
            <p:cNvPr id="23" name="Freeform 23"/>
            <p:cNvSpPr/>
            <p:nvPr/>
          </p:nvSpPr>
          <p:spPr>
            <a:xfrm>
              <a:off x="571500" y="3190875"/>
              <a:ext cx="3429000" cy="952500"/>
            </a:xfrm>
            <a:custGeom>
              <a:avLst/>
              <a:gdLst/>
              <a:ahLst/>
              <a:cxnLst/>
              <a:rect l="l" t="t" r="r" b="b"/>
              <a:pathLst>
                <a:path w="3429000" h="952500">
                  <a:moveTo>
                    <a:pt x="76200" y="0"/>
                  </a:moveTo>
                  <a:lnTo>
                    <a:pt x="3352800" y="0"/>
                  </a:lnTo>
                  <a:cubicBezTo>
                    <a:pt x="3394884" y="0"/>
                    <a:pt x="3429000" y="34116"/>
                    <a:pt x="3429000" y="76200"/>
                  </a:cubicBezTo>
                  <a:lnTo>
                    <a:pt x="3429000" y="876300"/>
                  </a:lnTo>
                  <a:cubicBezTo>
                    <a:pt x="3429000" y="918384"/>
                    <a:pt x="3394884" y="952500"/>
                    <a:pt x="3352800" y="952500"/>
                  </a:cubicBezTo>
                  <a:lnTo>
                    <a:pt x="76200" y="952500"/>
                  </a:lnTo>
                  <a:cubicBezTo>
                    <a:pt x="34116" y="952500"/>
                    <a:pt x="0" y="918384"/>
                    <a:pt x="0" y="876300"/>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24" name="TextBox 24"/>
            <p:cNvSpPr txBox="1"/>
            <p:nvPr/>
          </p:nvSpPr>
          <p:spPr>
            <a:xfrm>
              <a:off x="748665" y="3363278"/>
              <a:ext cx="831771"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数据集规模</a:t>
              </a:r>
            </a:p>
          </p:txBody>
        </p:sp>
        <p:sp>
          <p:nvSpPr>
            <p:cNvPr id="25" name="TextBox 25"/>
            <p:cNvSpPr txBox="1"/>
            <p:nvPr/>
          </p:nvSpPr>
          <p:spPr>
            <a:xfrm>
              <a:off x="735330" y="3535680"/>
              <a:ext cx="938951" cy="426720"/>
            </a:xfrm>
            <a:prstGeom prst="rect">
              <a:avLst/>
            </a:prstGeom>
            <a:noFill/>
            <a:ln>
              <a:noFill/>
            </a:ln>
          </p:spPr>
          <p:txBody>
            <a:bodyPr wrap="none" lIns="0" tIns="0" rIns="0" bIns="0" anchor="t" anchorCtr="0">
              <a:spAutoFit/>
            </a:bodyPr>
            <a:lstStyle/>
            <a:p>
              <a:pPr algn="l"/>
              <a:r>
                <a:rPr lang="zh-CN" sz="2100" b="1" dirty="0">
                  <a:solidFill>
                    <a:srgbClr val="2196F3"/>
                  </a:solidFill>
                  <a:latin typeface="Arial"/>
                  <a:ea typeface="Microsoft YaHei"/>
                  <a:cs typeface="Arial"/>
                </a:rPr>
                <a:t>7,000</a:t>
              </a:r>
            </a:p>
          </p:txBody>
        </p:sp>
        <p:sp>
          <p:nvSpPr>
            <p:cNvPr id="26" name="TextBox 26"/>
            <p:cNvSpPr txBox="1"/>
            <p:nvPr/>
          </p:nvSpPr>
          <p:spPr>
            <a:xfrm>
              <a:off x="1510665" y="3649028"/>
              <a:ext cx="281768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条样本（训练5000/验证1000/测试1000）</a:t>
              </a:r>
            </a:p>
          </p:txBody>
        </p:sp>
        <p:sp>
          <p:nvSpPr>
            <p:cNvPr id="27" name="TextBox 27"/>
            <p:cNvSpPr txBox="1"/>
            <p:nvPr/>
          </p:nvSpPr>
          <p:spPr>
            <a:xfrm>
              <a:off x="749618" y="3895249"/>
              <a:ext cx="1605391"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低/中/高三等级均衡分布</a:t>
              </a:r>
            </a:p>
          </p:txBody>
        </p:sp>
        <p:sp>
          <p:nvSpPr>
            <p:cNvPr id="28" name="Freeform 28"/>
            <p:cNvSpPr/>
            <p:nvPr/>
          </p:nvSpPr>
          <p:spPr>
            <a:xfrm>
              <a:off x="571500" y="4286250"/>
              <a:ext cx="3429000" cy="857250"/>
            </a:xfrm>
            <a:custGeom>
              <a:avLst/>
              <a:gdLst/>
              <a:ahLst/>
              <a:cxnLst/>
              <a:rect l="l" t="t" r="r" b="b"/>
              <a:pathLst>
                <a:path w="3429000" h="857250">
                  <a:moveTo>
                    <a:pt x="76200" y="0"/>
                  </a:moveTo>
                  <a:lnTo>
                    <a:pt x="3352800" y="0"/>
                  </a:lnTo>
                  <a:cubicBezTo>
                    <a:pt x="3394884" y="0"/>
                    <a:pt x="3429000" y="34116"/>
                    <a:pt x="3429000" y="76200"/>
                  </a:cubicBezTo>
                  <a:lnTo>
                    <a:pt x="3429000" y="781050"/>
                  </a:lnTo>
                  <a:cubicBezTo>
                    <a:pt x="3429000" y="823134"/>
                    <a:pt x="3394884" y="857250"/>
                    <a:pt x="3352800" y="857250"/>
                  </a:cubicBezTo>
                  <a:lnTo>
                    <a:pt x="76200" y="857250"/>
                  </a:lnTo>
                  <a:cubicBezTo>
                    <a:pt x="34116" y="857250"/>
                    <a:pt x="0" y="823134"/>
                    <a:pt x="0" y="781050"/>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29" name="TextBox 29"/>
            <p:cNvSpPr txBox="1"/>
            <p:nvPr/>
          </p:nvSpPr>
          <p:spPr>
            <a:xfrm>
              <a:off x="748665" y="4458652"/>
              <a:ext cx="670750"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特征向量</a:t>
              </a:r>
            </a:p>
          </p:txBody>
        </p:sp>
        <p:sp>
          <p:nvSpPr>
            <p:cNvPr id="30" name="TextBox 30"/>
            <p:cNvSpPr txBox="1"/>
            <p:nvPr/>
          </p:nvSpPr>
          <p:spPr>
            <a:xfrm>
              <a:off x="749618" y="4704874"/>
              <a:ext cx="3193137"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23维输入 = 建筑特征18维 + 热源特征4维 + 遮挡1维</a:t>
              </a:r>
            </a:p>
          </p:txBody>
        </p:sp>
        <p:sp>
          <p:nvSpPr>
            <p:cNvPr id="31" name="TextBox 31"/>
            <p:cNvSpPr txBox="1"/>
            <p:nvPr/>
          </p:nvSpPr>
          <p:spPr>
            <a:xfrm>
              <a:off x="749618" y="4895374"/>
              <a:ext cx="492328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8维可燃物向量：木质纸质/纺织/塑料/燃料油/电子电气/化工/金属/复合材料</a:t>
              </a:r>
            </a:p>
          </p:txBody>
        </p:sp>
      </p:grpSp>
      <p:grpSp>
        <p:nvGrpSpPr>
          <p:cNvPr id="127" name="Group 127"/>
          <p:cNvGrpSpPr/>
          <p:nvPr/>
        </p:nvGrpSpPr>
        <p:grpSpPr>
          <a:xfrm>
            <a:off x="4271010" y="870585"/>
            <a:ext cx="7349490" cy="5939790"/>
            <a:chOff x="4271010" y="870585"/>
            <a:chExt cx="7349490" cy="5939790"/>
          </a:xfrm>
        </p:grpSpPr>
        <p:sp>
          <p:nvSpPr>
            <p:cNvPr id="33" name="TextBox 33"/>
            <p:cNvSpPr txBox="1"/>
            <p:nvPr/>
          </p:nvSpPr>
          <p:spPr>
            <a:xfrm>
              <a:off x="4271010" y="870585"/>
              <a:ext cx="1318641" cy="243840"/>
            </a:xfrm>
            <a:prstGeom prst="rect">
              <a:avLst/>
            </a:prstGeom>
            <a:noFill/>
            <a:ln>
              <a:noFill/>
            </a:ln>
          </p:spPr>
          <p:txBody>
            <a:bodyPr wrap="none" lIns="0" tIns="0" rIns="0" bIns="0" anchor="t" anchorCtr="0">
              <a:spAutoFit/>
            </a:bodyPr>
            <a:lstStyle/>
            <a:p>
              <a:pPr algn="l"/>
              <a:r>
                <a:rPr lang="zh-CN" sz="1200" b="1" dirty="0">
                  <a:solidFill>
                    <a:srgbClr val="1B3A6B"/>
                  </a:solidFill>
                  <a:latin typeface="Arial"/>
                  <a:ea typeface="Microsoft YaHei"/>
                  <a:cs typeface="Arial"/>
                </a:rPr>
                <a:t>子目标建筑参数</a:t>
              </a:r>
            </a:p>
          </p:txBody>
        </p:sp>
        <p:sp>
          <p:nvSpPr>
            <p:cNvPr id="34" name="Freeform 34"/>
            <p:cNvSpPr/>
            <p:nvPr/>
          </p:nvSpPr>
          <p:spPr>
            <a:xfrm>
              <a:off x="4286250" y="1143000"/>
              <a:ext cx="7334250" cy="342900"/>
            </a:xfrm>
            <a:custGeom>
              <a:avLst/>
              <a:gdLst/>
              <a:ahLst/>
              <a:cxnLst/>
              <a:rect l="l" t="t" r="r" b="b"/>
              <a:pathLst>
                <a:path w="7334250" h="342900">
                  <a:moveTo>
                    <a:pt x="38100" y="0"/>
                  </a:moveTo>
                  <a:lnTo>
                    <a:pt x="7296150" y="0"/>
                  </a:lnTo>
                  <a:cubicBezTo>
                    <a:pt x="7317192" y="0"/>
                    <a:pt x="7334250" y="17058"/>
                    <a:pt x="7334250" y="38100"/>
                  </a:cubicBezTo>
                  <a:lnTo>
                    <a:pt x="7334250" y="304800"/>
                  </a:lnTo>
                  <a:cubicBezTo>
                    <a:pt x="7334250" y="325842"/>
                    <a:pt x="7317192" y="342900"/>
                    <a:pt x="7296150" y="342900"/>
                  </a:cubicBezTo>
                  <a:lnTo>
                    <a:pt x="38100" y="342900"/>
                  </a:lnTo>
                  <a:cubicBezTo>
                    <a:pt x="17058" y="342900"/>
                    <a:pt x="0" y="325842"/>
                    <a:pt x="0" y="304800"/>
                  </a:cubicBezTo>
                  <a:lnTo>
                    <a:pt x="0" y="38100"/>
                  </a:lnTo>
                  <a:cubicBezTo>
                    <a:pt x="0" y="17058"/>
                    <a:pt x="17058" y="0"/>
                    <a:pt x="38100" y="0"/>
                  </a:cubicBezTo>
                  <a:close/>
                </a:path>
              </a:pathLst>
            </a:custGeom>
            <a:solidFill>
              <a:srgbClr val="1B3A6B"/>
            </a:solidFill>
            <a:ln>
              <a:noFill/>
            </a:ln>
          </p:spPr>
        </p:sp>
        <p:sp>
          <p:nvSpPr>
            <p:cNvPr id="35" name="TextBox 35"/>
            <p:cNvSpPr txBox="1"/>
            <p:nvPr/>
          </p:nvSpPr>
          <p:spPr>
            <a:xfrm>
              <a:off x="4416742" y="1247299"/>
              <a:ext cx="77235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子目标建筑</a:t>
              </a:r>
            </a:p>
          </p:txBody>
        </p:sp>
        <p:sp>
          <p:nvSpPr>
            <p:cNvPr id="36" name="TextBox 36"/>
            <p:cNvSpPr txBox="1"/>
            <p:nvPr/>
          </p:nvSpPr>
          <p:spPr>
            <a:xfrm>
              <a:off x="6369368" y="1247299"/>
              <a:ext cx="45089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长(m)</a:t>
              </a:r>
            </a:p>
          </p:txBody>
        </p:sp>
        <p:sp>
          <p:nvSpPr>
            <p:cNvPr id="37" name="TextBox 37"/>
            <p:cNvSpPr txBox="1"/>
            <p:nvPr/>
          </p:nvSpPr>
          <p:spPr>
            <a:xfrm>
              <a:off x="7036118" y="1247299"/>
              <a:ext cx="45089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宽(m)</a:t>
              </a:r>
            </a:p>
          </p:txBody>
        </p:sp>
        <p:sp>
          <p:nvSpPr>
            <p:cNvPr id="38" name="TextBox 38"/>
            <p:cNvSpPr txBox="1"/>
            <p:nvPr/>
          </p:nvSpPr>
          <p:spPr>
            <a:xfrm>
              <a:off x="7702868" y="1247299"/>
              <a:ext cx="45089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高(m)</a:t>
              </a:r>
            </a:p>
          </p:txBody>
        </p:sp>
        <p:sp>
          <p:nvSpPr>
            <p:cNvPr id="39" name="TextBox 39"/>
            <p:cNvSpPr txBox="1"/>
            <p:nvPr/>
          </p:nvSpPr>
          <p:spPr>
            <a:xfrm>
              <a:off x="8369618" y="1247299"/>
              <a:ext cx="32380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楼层</a:t>
              </a:r>
            </a:p>
          </p:txBody>
        </p:sp>
        <p:sp>
          <p:nvSpPr>
            <p:cNvPr id="40" name="TextBox 40"/>
            <p:cNvSpPr txBox="1"/>
            <p:nvPr/>
          </p:nvSpPr>
          <p:spPr>
            <a:xfrm>
              <a:off x="9036368" y="1247299"/>
              <a:ext cx="32380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门数</a:t>
              </a:r>
            </a:p>
          </p:txBody>
        </p:sp>
        <p:sp>
          <p:nvSpPr>
            <p:cNvPr id="41" name="TextBox 41"/>
            <p:cNvSpPr txBox="1"/>
            <p:nvPr/>
          </p:nvSpPr>
          <p:spPr>
            <a:xfrm>
              <a:off x="9703118" y="1247299"/>
              <a:ext cx="32380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层数</a:t>
              </a:r>
            </a:p>
          </p:txBody>
        </p:sp>
        <p:sp>
          <p:nvSpPr>
            <p:cNvPr id="42" name="TextBox 42"/>
            <p:cNvSpPr txBox="1"/>
            <p:nvPr/>
          </p:nvSpPr>
          <p:spPr>
            <a:xfrm>
              <a:off x="10465118" y="1247299"/>
              <a:ext cx="921877"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机场机库类型</a:t>
              </a:r>
            </a:p>
          </p:txBody>
        </p:sp>
        <p:sp>
          <p:nvSpPr>
            <p:cNvPr id="43" name="Rectangle 43"/>
            <p:cNvSpPr/>
            <p:nvPr/>
          </p:nvSpPr>
          <p:spPr>
            <a:xfrm>
              <a:off x="4286250" y="1533525"/>
              <a:ext cx="7334250" cy="342900"/>
            </a:xfrm>
            <a:prstGeom prst="rect">
              <a:avLst/>
            </a:prstGeom>
            <a:solidFill>
              <a:srgbClr val="F8FAFC"/>
            </a:solidFill>
            <a:ln>
              <a:noFill/>
            </a:ln>
          </p:spPr>
        </p:sp>
        <p:sp>
          <p:nvSpPr>
            <p:cNvPr id="44" name="TextBox 44"/>
            <p:cNvSpPr txBox="1"/>
            <p:nvPr/>
          </p:nvSpPr>
          <p:spPr>
            <a:xfrm>
              <a:off x="4417695" y="1636395"/>
              <a:ext cx="811530"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发射控制中心</a:t>
              </a:r>
            </a:p>
          </p:txBody>
        </p:sp>
        <p:sp>
          <p:nvSpPr>
            <p:cNvPr id="45" name="TextBox 45"/>
            <p:cNvSpPr txBox="1"/>
            <p:nvPr/>
          </p:nvSpPr>
          <p:spPr>
            <a:xfrm>
              <a:off x="6370320" y="16363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85.0</a:t>
              </a:r>
            </a:p>
          </p:txBody>
        </p:sp>
        <p:sp>
          <p:nvSpPr>
            <p:cNvPr id="46" name="TextBox 46"/>
            <p:cNvSpPr txBox="1"/>
            <p:nvPr/>
          </p:nvSpPr>
          <p:spPr>
            <a:xfrm>
              <a:off x="7037070" y="16363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32.5</a:t>
              </a:r>
            </a:p>
          </p:txBody>
        </p:sp>
        <p:sp>
          <p:nvSpPr>
            <p:cNvPr id="47" name="TextBox 47"/>
            <p:cNvSpPr txBox="1"/>
            <p:nvPr/>
          </p:nvSpPr>
          <p:spPr>
            <a:xfrm>
              <a:off x="7703820" y="1636395"/>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10.0</a:t>
              </a:r>
            </a:p>
          </p:txBody>
        </p:sp>
        <p:sp>
          <p:nvSpPr>
            <p:cNvPr id="48" name="TextBox 48"/>
            <p:cNvSpPr txBox="1"/>
            <p:nvPr/>
          </p:nvSpPr>
          <p:spPr>
            <a:xfrm>
              <a:off x="8370570" y="1636395"/>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49" name="TextBox 49"/>
            <p:cNvSpPr txBox="1"/>
            <p:nvPr/>
          </p:nvSpPr>
          <p:spPr>
            <a:xfrm>
              <a:off x="9037320" y="1636395"/>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a:t>
              </a:r>
            </a:p>
          </p:txBody>
        </p:sp>
        <p:sp>
          <p:nvSpPr>
            <p:cNvPr id="50" name="TextBox 50"/>
            <p:cNvSpPr txBox="1"/>
            <p:nvPr/>
          </p:nvSpPr>
          <p:spPr>
            <a:xfrm>
              <a:off x="9704070" y="1636395"/>
              <a:ext cx="226600"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2层</a:t>
              </a:r>
            </a:p>
          </p:txBody>
        </p:sp>
        <p:sp>
          <p:nvSpPr>
            <p:cNvPr id="51" name="TextBox 51"/>
            <p:cNvSpPr txBox="1"/>
            <p:nvPr/>
          </p:nvSpPr>
          <p:spPr>
            <a:xfrm>
              <a:off x="10466070" y="16363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a:t>
              </a:r>
            </a:p>
          </p:txBody>
        </p:sp>
        <p:sp>
          <p:nvSpPr>
            <p:cNvPr id="52" name="Rectangle 52"/>
            <p:cNvSpPr/>
            <p:nvPr/>
          </p:nvSpPr>
          <p:spPr>
            <a:xfrm>
              <a:off x="4286250" y="1876425"/>
              <a:ext cx="7334250" cy="342900"/>
            </a:xfrm>
            <a:prstGeom prst="rect">
              <a:avLst/>
            </a:prstGeom>
            <a:solidFill>
              <a:srgbClr val="FFFFFF"/>
            </a:solidFill>
            <a:ln>
              <a:noFill/>
            </a:ln>
          </p:spPr>
        </p:sp>
        <p:sp>
          <p:nvSpPr>
            <p:cNvPr id="53" name="TextBox 53"/>
            <p:cNvSpPr txBox="1"/>
            <p:nvPr/>
          </p:nvSpPr>
          <p:spPr>
            <a:xfrm>
              <a:off x="4417695" y="1979295"/>
              <a:ext cx="548640"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总装车间</a:t>
              </a:r>
            </a:p>
          </p:txBody>
        </p:sp>
        <p:sp>
          <p:nvSpPr>
            <p:cNvPr id="54" name="TextBox 54"/>
            <p:cNvSpPr txBox="1"/>
            <p:nvPr/>
          </p:nvSpPr>
          <p:spPr>
            <a:xfrm>
              <a:off x="6370320" y="1979295"/>
              <a:ext cx="351472"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175.0</a:t>
              </a:r>
            </a:p>
          </p:txBody>
        </p:sp>
        <p:sp>
          <p:nvSpPr>
            <p:cNvPr id="55" name="TextBox 55"/>
            <p:cNvSpPr txBox="1"/>
            <p:nvPr/>
          </p:nvSpPr>
          <p:spPr>
            <a:xfrm>
              <a:off x="7037070" y="1979295"/>
              <a:ext cx="351472"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130.0</a:t>
              </a:r>
            </a:p>
          </p:txBody>
        </p:sp>
        <p:sp>
          <p:nvSpPr>
            <p:cNvPr id="56" name="TextBox 56"/>
            <p:cNvSpPr txBox="1"/>
            <p:nvPr/>
          </p:nvSpPr>
          <p:spPr>
            <a:xfrm>
              <a:off x="7703820" y="19792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32.5</a:t>
              </a:r>
            </a:p>
          </p:txBody>
        </p:sp>
        <p:sp>
          <p:nvSpPr>
            <p:cNvPr id="57" name="TextBox 57"/>
            <p:cNvSpPr txBox="1"/>
            <p:nvPr/>
          </p:nvSpPr>
          <p:spPr>
            <a:xfrm>
              <a:off x="8370570" y="1979295"/>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58" name="TextBox 58"/>
            <p:cNvSpPr txBox="1"/>
            <p:nvPr/>
          </p:nvSpPr>
          <p:spPr>
            <a:xfrm>
              <a:off x="9037320" y="1979295"/>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a:t>
              </a:r>
            </a:p>
          </p:txBody>
        </p:sp>
        <p:sp>
          <p:nvSpPr>
            <p:cNvPr id="59" name="TextBox 59"/>
            <p:cNvSpPr txBox="1"/>
            <p:nvPr/>
          </p:nvSpPr>
          <p:spPr>
            <a:xfrm>
              <a:off x="9704070" y="1979295"/>
              <a:ext cx="19373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1层</a:t>
              </a:r>
            </a:p>
          </p:txBody>
        </p:sp>
        <p:sp>
          <p:nvSpPr>
            <p:cNvPr id="60" name="TextBox 60"/>
            <p:cNvSpPr txBox="1"/>
            <p:nvPr/>
          </p:nvSpPr>
          <p:spPr>
            <a:xfrm>
              <a:off x="10466070" y="19792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a:t>
              </a:r>
            </a:p>
          </p:txBody>
        </p:sp>
        <p:sp>
          <p:nvSpPr>
            <p:cNvPr id="61" name="Rectangle 61"/>
            <p:cNvSpPr/>
            <p:nvPr/>
          </p:nvSpPr>
          <p:spPr>
            <a:xfrm>
              <a:off x="4286250" y="2219325"/>
              <a:ext cx="7334250" cy="342900"/>
            </a:xfrm>
            <a:prstGeom prst="rect">
              <a:avLst/>
            </a:prstGeom>
            <a:solidFill>
              <a:srgbClr val="F8FAFC"/>
            </a:solidFill>
            <a:ln>
              <a:noFill/>
            </a:ln>
          </p:spPr>
        </p:sp>
        <p:sp>
          <p:nvSpPr>
            <p:cNvPr id="62" name="TextBox 62"/>
            <p:cNvSpPr txBox="1"/>
            <p:nvPr/>
          </p:nvSpPr>
          <p:spPr>
            <a:xfrm>
              <a:off x="4417695" y="2322195"/>
              <a:ext cx="548640"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部装车间</a:t>
              </a:r>
            </a:p>
          </p:txBody>
        </p:sp>
        <p:sp>
          <p:nvSpPr>
            <p:cNvPr id="63" name="TextBox 63"/>
            <p:cNvSpPr txBox="1"/>
            <p:nvPr/>
          </p:nvSpPr>
          <p:spPr>
            <a:xfrm>
              <a:off x="6370320" y="2322195"/>
              <a:ext cx="351472"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137.5</a:t>
              </a:r>
            </a:p>
          </p:txBody>
        </p:sp>
        <p:sp>
          <p:nvSpPr>
            <p:cNvPr id="64" name="TextBox 64"/>
            <p:cNvSpPr txBox="1"/>
            <p:nvPr/>
          </p:nvSpPr>
          <p:spPr>
            <a:xfrm>
              <a:off x="7037070" y="23221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65.0</a:t>
              </a:r>
            </a:p>
          </p:txBody>
        </p:sp>
        <p:sp>
          <p:nvSpPr>
            <p:cNvPr id="65" name="TextBox 65"/>
            <p:cNvSpPr txBox="1"/>
            <p:nvPr/>
          </p:nvSpPr>
          <p:spPr>
            <a:xfrm>
              <a:off x="7703820" y="2322195"/>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16.5</a:t>
              </a:r>
            </a:p>
          </p:txBody>
        </p:sp>
        <p:sp>
          <p:nvSpPr>
            <p:cNvPr id="66" name="TextBox 66"/>
            <p:cNvSpPr txBox="1"/>
            <p:nvPr/>
          </p:nvSpPr>
          <p:spPr>
            <a:xfrm>
              <a:off x="8370570" y="2322195"/>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67" name="TextBox 67"/>
            <p:cNvSpPr txBox="1"/>
            <p:nvPr/>
          </p:nvSpPr>
          <p:spPr>
            <a:xfrm>
              <a:off x="9037320" y="2322195"/>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a:t>
              </a:r>
            </a:p>
          </p:txBody>
        </p:sp>
        <p:sp>
          <p:nvSpPr>
            <p:cNvPr id="68" name="TextBox 68"/>
            <p:cNvSpPr txBox="1"/>
            <p:nvPr/>
          </p:nvSpPr>
          <p:spPr>
            <a:xfrm>
              <a:off x="9704070" y="2322195"/>
              <a:ext cx="19373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1层</a:t>
              </a:r>
            </a:p>
          </p:txBody>
        </p:sp>
        <p:sp>
          <p:nvSpPr>
            <p:cNvPr id="69" name="TextBox 69"/>
            <p:cNvSpPr txBox="1"/>
            <p:nvPr/>
          </p:nvSpPr>
          <p:spPr>
            <a:xfrm>
              <a:off x="10466070" y="23221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a:t>
              </a:r>
            </a:p>
          </p:txBody>
        </p:sp>
        <p:sp>
          <p:nvSpPr>
            <p:cNvPr id="70" name="Rectangle 70"/>
            <p:cNvSpPr/>
            <p:nvPr/>
          </p:nvSpPr>
          <p:spPr>
            <a:xfrm>
              <a:off x="4286250" y="2562225"/>
              <a:ext cx="7334250" cy="342900"/>
            </a:xfrm>
            <a:prstGeom prst="rect">
              <a:avLst/>
            </a:prstGeom>
            <a:solidFill>
              <a:srgbClr val="FFFFFF"/>
            </a:solidFill>
            <a:ln>
              <a:noFill/>
            </a:ln>
          </p:spPr>
        </p:sp>
        <p:sp>
          <p:nvSpPr>
            <p:cNvPr id="71" name="TextBox 71"/>
            <p:cNvSpPr txBox="1"/>
            <p:nvPr/>
          </p:nvSpPr>
          <p:spPr>
            <a:xfrm>
              <a:off x="4417695" y="2665095"/>
              <a:ext cx="548640"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加工厂房</a:t>
              </a:r>
            </a:p>
          </p:txBody>
        </p:sp>
        <p:sp>
          <p:nvSpPr>
            <p:cNvPr id="72" name="TextBox 72"/>
            <p:cNvSpPr txBox="1"/>
            <p:nvPr/>
          </p:nvSpPr>
          <p:spPr>
            <a:xfrm>
              <a:off x="6370320" y="26650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95.0</a:t>
              </a:r>
            </a:p>
          </p:txBody>
        </p:sp>
        <p:sp>
          <p:nvSpPr>
            <p:cNvPr id="73" name="TextBox 73"/>
            <p:cNvSpPr txBox="1"/>
            <p:nvPr/>
          </p:nvSpPr>
          <p:spPr>
            <a:xfrm>
              <a:off x="7037070" y="26650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55.0</a:t>
              </a:r>
            </a:p>
          </p:txBody>
        </p:sp>
        <p:sp>
          <p:nvSpPr>
            <p:cNvPr id="74" name="TextBox 74"/>
            <p:cNvSpPr txBox="1"/>
            <p:nvPr/>
          </p:nvSpPr>
          <p:spPr>
            <a:xfrm>
              <a:off x="7703820" y="2665095"/>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13.0</a:t>
              </a:r>
            </a:p>
          </p:txBody>
        </p:sp>
        <p:sp>
          <p:nvSpPr>
            <p:cNvPr id="75" name="TextBox 75"/>
            <p:cNvSpPr txBox="1"/>
            <p:nvPr/>
          </p:nvSpPr>
          <p:spPr>
            <a:xfrm>
              <a:off x="8370570" y="2665095"/>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76" name="TextBox 76"/>
            <p:cNvSpPr txBox="1"/>
            <p:nvPr/>
          </p:nvSpPr>
          <p:spPr>
            <a:xfrm>
              <a:off x="9037320" y="2665095"/>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a:t>
              </a:r>
            </a:p>
          </p:txBody>
        </p:sp>
        <p:sp>
          <p:nvSpPr>
            <p:cNvPr id="77" name="TextBox 77"/>
            <p:cNvSpPr txBox="1"/>
            <p:nvPr/>
          </p:nvSpPr>
          <p:spPr>
            <a:xfrm>
              <a:off x="9704070" y="2665095"/>
              <a:ext cx="19373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1层</a:t>
              </a:r>
            </a:p>
          </p:txBody>
        </p:sp>
        <p:sp>
          <p:nvSpPr>
            <p:cNvPr id="78" name="TextBox 78"/>
            <p:cNvSpPr txBox="1"/>
            <p:nvPr/>
          </p:nvSpPr>
          <p:spPr>
            <a:xfrm>
              <a:off x="10466070" y="26650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a:t>
              </a:r>
            </a:p>
          </p:txBody>
        </p:sp>
        <p:sp>
          <p:nvSpPr>
            <p:cNvPr id="79" name="Rectangle 79"/>
            <p:cNvSpPr/>
            <p:nvPr/>
          </p:nvSpPr>
          <p:spPr>
            <a:xfrm>
              <a:off x="4286250" y="2905125"/>
              <a:ext cx="7334250" cy="342900"/>
            </a:xfrm>
            <a:prstGeom prst="rect">
              <a:avLst/>
            </a:prstGeom>
            <a:solidFill>
              <a:srgbClr val="F8FAFC"/>
            </a:solidFill>
            <a:ln>
              <a:noFill/>
            </a:ln>
          </p:spPr>
        </p:sp>
        <p:sp>
          <p:nvSpPr>
            <p:cNvPr id="80" name="TextBox 80"/>
            <p:cNvSpPr txBox="1"/>
            <p:nvPr/>
          </p:nvSpPr>
          <p:spPr>
            <a:xfrm>
              <a:off x="4417695" y="3007995"/>
              <a:ext cx="41719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发射场</a:t>
              </a:r>
            </a:p>
          </p:txBody>
        </p:sp>
        <p:sp>
          <p:nvSpPr>
            <p:cNvPr id="81" name="TextBox 81"/>
            <p:cNvSpPr txBox="1"/>
            <p:nvPr/>
          </p:nvSpPr>
          <p:spPr>
            <a:xfrm>
              <a:off x="6370320" y="30079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94.5</a:t>
              </a:r>
            </a:p>
          </p:txBody>
        </p:sp>
        <p:sp>
          <p:nvSpPr>
            <p:cNvPr id="82" name="TextBox 82"/>
            <p:cNvSpPr txBox="1"/>
            <p:nvPr/>
          </p:nvSpPr>
          <p:spPr>
            <a:xfrm>
              <a:off x="7037070" y="30079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79.5</a:t>
              </a:r>
            </a:p>
          </p:txBody>
        </p:sp>
        <p:sp>
          <p:nvSpPr>
            <p:cNvPr id="83" name="TextBox 83"/>
            <p:cNvSpPr txBox="1"/>
            <p:nvPr/>
          </p:nvSpPr>
          <p:spPr>
            <a:xfrm>
              <a:off x="7703820" y="30079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25.0</a:t>
              </a:r>
            </a:p>
          </p:txBody>
        </p:sp>
        <p:sp>
          <p:nvSpPr>
            <p:cNvPr id="84" name="TextBox 84"/>
            <p:cNvSpPr txBox="1"/>
            <p:nvPr/>
          </p:nvSpPr>
          <p:spPr>
            <a:xfrm>
              <a:off x="8370570" y="3007995"/>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85" name="TextBox 85"/>
            <p:cNvSpPr txBox="1"/>
            <p:nvPr/>
          </p:nvSpPr>
          <p:spPr>
            <a:xfrm>
              <a:off x="9037320" y="3007995"/>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a:t>
              </a:r>
            </a:p>
          </p:txBody>
        </p:sp>
        <p:sp>
          <p:nvSpPr>
            <p:cNvPr id="86" name="TextBox 86"/>
            <p:cNvSpPr txBox="1"/>
            <p:nvPr/>
          </p:nvSpPr>
          <p:spPr>
            <a:xfrm>
              <a:off x="9704070" y="3007995"/>
              <a:ext cx="19373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1层</a:t>
              </a:r>
            </a:p>
          </p:txBody>
        </p:sp>
        <p:sp>
          <p:nvSpPr>
            <p:cNvPr id="87" name="TextBox 87"/>
            <p:cNvSpPr txBox="1"/>
            <p:nvPr/>
          </p:nvSpPr>
          <p:spPr>
            <a:xfrm>
              <a:off x="10466070" y="30079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a:t>
              </a:r>
            </a:p>
          </p:txBody>
        </p:sp>
        <p:sp>
          <p:nvSpPr>
            <p:cNvPr id="88" name="Line 88"/>
            <p:cNvSpPr/>
            <p:nvPr/>
          </p:nvSpPr>
          <p:spPr>
            <a:xfrm>
              <a:off x="4286250" y="3286125"/>
              <a:ext cx="7334250" cy="9525"/>
            </a:xfrm>
            <a:custGeom>
              <a:avLst/>
              <a:gdLst/>
              <a:ahLst/>
              <a:cxnLst/>
              <a:rect l="l" t="t" r="r" b="b"/>
              <a:pathLst>
                <a:path w="7334250" h="9525">
                  <a:moveTo>
                    <a:pt x="0" y="0"/>
                  </a:moveTo>
                  <a:lnTo>
                    <a:pt x="7334250" y="0"/>
                  </a:lnTo>
                </a:path>
              </a:pathLst>
            </a:custGeom>
            <a:noFill/>
            <a:ln w="9525">
              <a:solidFill>
                <a:srgbClr val="E5E7EB"/>
              </a:solidFill>
              <a:custDash>
                <a:ds d="400000" sp="200000"/>
              </a:custDash>
            </a:ln>
          </p:spPr>
        </p:sp>
        <p:sp>
          <p:nvSpPr>
            <p:cNvPr id="89" name="Rectangle 89"/>
            <p:cNvSpPr/>
            <p:nvPr/>
          </p:nvSpPr>
          <p:spPr>
            <a:xfrm>
              <a:off x="4286250" y="3333750"/>
              <a:ext cx="7334250" cy="342900"/>
            </a:xfrm>
            <a:prstGeom prst="rect">
              <a:avLst/>
            </a:prstGeom>
            <a:solidFill>
              <a:srgbClr val="EBF5FF"/>
            </a:solidFill>
            <a:ln>
              <a:noFill/>
            </a:ln>
          </p:spPr>
        </p:sp>
        <p:sp>
          <p:nvSpPr>
            <p:cNvPr id="90" name="TextBox 90"/>
            <p:cNvSpPr txBox="1"/>
            <p:nvPr/>
          </p:nvSpPr>
          <p:spPr>
            <a:xfrm>
              <a:off x="4417695" y="3436620"/>
              <a:ext cx="14687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小型固定翼与舰载机机库</a:t>
              </a:r>
            </a:p>
          </p:txBody>
        </p:sp>
        <p:sp>
          <p:nvSpPr>
            <p:cNvPr id="91" name="TextBox 91"/>
            <p:cNvSpPr txBox="1"/>
            <p:nvPr/>
          </p:nvSpPr>
          <p:spPr>
            <a:xfrm>
              <a:off x="6370320" y="343662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29.0</a:t>
              </a:r>
            </a:p>
          </p:txBody>
        </p:sp>
        <p:sp>
          <p:nvSpPr>
            <p:cNvPr id="92" name="TextBox 92"/>
            <p:cNvSpPr txBox="1"/>
            <p:nvPr/>
          </p:nvSpPr>
          <p:spPr>
            <a:xfrm>
              <a:off x="7037070" y="343662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72.0</a:t>
              </a:r>
            </a:p>
          </p:txBody>
        </p:sp>
        <p:sp>
          <p:nvSpPr>
            <p:cNvPr id="93" name="TextBox 93"/>
            <p:cNvSpPr txBox="1"/>
            <p:nvPr/>
          </p:nvSpPr>
          <p:spPr>
            <a:xfrm>
              <a:off x="7703820" y="3436620"/>
              <a:ext cx="23974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9.9</a:t>
              </a:r>
            </a:p>
          </p:txBody>
        </p:sp>
        <p:sp>
          <p:nvSpPr>
            <p:cNvPr id="94" name="TextBox 94"/>
            <p:cNvSpPr txBox="1"/>
            <p:nvPr/>
          </p:nvSpPr>
          <p:spPr>
            <a:xfrm>
              <a:off x="8370570" y="343662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95" name="TextBox 95"/>
            <p:cNvSpPr txBox="1"/>
            <p:nvPr/>
          </p:nvSpPr>
          <p:spPr>
            <a:xfrm>
              <a:off x="9037320" y="343662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96" name="TextBox 96"/>
            <p:cNvSpPr txBox="1"/>
            <p:nvPr/>
          </p:nvSpPr>
          <p:spPr>
            <a:xfrm>
              <a:off x="9704070" y="3436620"/>
              <a:ext cx="19373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1层</a:t>
              </a:r>
            </a:p>
          </p:txBody>
        </p:sp>
        <p:sp>
          <p:nvSpPr>
            <p:cNvPr id="97" name="TextBox 97"/>
            <p:cNvSpPr txBox="1"/>
            <p:nvPr/>
          </p:nvSpPr>
          <p:spPr>
            <a:xfrm>
              <a:off x="10466070" y="3436620"/>
              <a:ext cx="390906" cy="182880"/>
            </a:xfrm>
            <a:prstGeom prst="rect">
              <a:avLst/>
            </a:prstGeom>
            <a:noFill/>
            <a:ln>
              <a:noFill/>
            </a:ln>
          </p:spPr>
          <p:txBody>
            <a:bodyPr wrap="none" lIns="0" tIns="0" rIns="0" bIns="0" anchor="t" anchorCtr="0">
              <a:spAutoFit/>
            </a:bodyPr>
            <a:lstStyle/>
            <a:p>
              <a:pPr algn="l"/>
              <a:r>
                <a:rPr lang="zh-CN" sz="900" dirty="0">
                  <a:solidFill>
                    <a:srgbClr val="2196F3"/>
                  </a:solidFill>
                  <a:latin typeface="Arial"/>
                  <a:ea typeface="Microsoft YaHei"/>
                  <a:cs typeface="Arial"/>
                </a:rPr>
                <a:t>Type 1</a:t>
              </a:r>
            </a:p>
          </p:txBody>
        </p:sp>
        <p:sp>
          <p:nvSpPr>
            <p:cNvPr id="98" name="Rectangle 98"/>
            <p:cNvSpPr/>
            <p:nvPr/>
          </p:nvSpPr>
          <p:spPr>
            <a:xfrm>
              <a:off x="4286250" y="3676650"/>
              <a:ext cx="7334250" cy="342900"/>
            </a:xfrm>
            <a:prstGeom prst="rect">
              <a:avLst/>
            </a:prstGeom>
            <a:solidFill>
              <a:srgbClr val="FFFFFF"/>
            </a:solidFill>
            <a:ln>
              <a:noFill/>
            </a:ln>
          </p:spPr>
        </p:sp>
        <p:sp>
          <p:nvSpPr>
            <p:cNvPr id="99" name="TextBox 99"/>
            <p:cNvSpPr txBox="1"/>
            <p:nvPr/>
          </p:nvSpPr>
          <p:spPr>
            <a:xfrm>
              <a:off x="4417695" y="3779520"/>
              <a:ext cx="1337310"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大型旋翼与倾转机机库</a:t>
              </a:r>
            </a:p>
          </p:txBody>
        </p:sp>
        <p:sp>
          <p:nvSpPr>
            <p:cNvPr id="100" name="TextBox 100"/>
            <p:cNvSpPr txBox="1"/>
            <p:nvPr/>
          </p:nvSpPr>
          <p:spPr>
            <a:xfrm>
              <a:off x="6370320" y="377952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36.3</a:t>
              </a:r>
            </a:p>
          </p:txBody>
        </p:sp>
        <p:sp>
          <p:nvSpPr>
            <p:cNvPr id="101" name="TextBox 101"/>
            <p:cNvSpPr txBox="1"/>
            <p:nvPr/>
          </p:nvSpPr>
          <p:spPr>
            <a:xfrm>
              <a:off x="7037070" y="377952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99.1</a:t>
              </a:r>
            </a:p>
          </p:txBody>
        </p:sp>
        <p:sp>
          <p:nvSpPr>
            <p:cNvPr id="102" name="TextBox 102"/>
            <p:cNvSpPr txBox="1"/>
            <p:nvPr/>
          </p:nvSpPr>
          <p:spPr>
            <a:xfrm>
              <a:off x="7703820" y="377952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13.4</a:t>
              </a:r>
            </a:p>
          </p:txBody>
        </p:sp>
        <p:sp>
          <p:nvSpPr>
            <p:cNvPr id="103" name="TextBox 103"/>
            <p:cNvSpPr txBox="1"/>
            <p:nvPr/>
          </p:nvSpPr>
          <p:spPr>
            <a:xfrm>
              <a:off x="8370570" y="3779520"/>
              <a:ext cx="206883"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1.5</a:t>
              </a:r>
            </a:p>
          </p:txBody>
        </p:sp>
        <p:sp>
          <p:nvSpPr>
            <p:cNvPr id="104" name="TextBox 104"/>
            <p:cNvSpPr txBox="1"/>
            <p:nvPr/>
          </p:nvSpPr>
          <p:spPr>
            <a:xfrm>
              <a:off x="9037320" y="377952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105" name="TextBox 105"/>
            <p:cNvSpPr txBox="1"/>
            <p:nvPr/>
          </p:nvSpPr>
          <p:spPr>
            <a:xfrm>
              <a:off x="9704070" y="3779520"/>
              <a:ext cx="33832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1.5层</a:t>
              </a:r>
            </a:p>
          </p:txBody>
        </p:sp>
        <p:sp>
          <p:nvSpPr>
            <p:cNvPr id="106" name="TextBox 106"/>
            <p:cNvSpPr txBox="1"/>
            <p:nvPr/>
          </p:nvSpPr>
          <p:spPr>
            <a:xfrm>
              <a:off x="10466070" y="3779520"/>
              <a:ext cx="423767" cy="182880"/>
            </a:xfrm>
            <a:prstGeom prst="rect">
              <a:avLst/>
            </a:prstGeom>
            <a:noFill/>
            <a:ln>
              <a:noFill/>
            </a:ln>
          </p:spPr>
          <p:txBody>
            <a:bodyPr wrap="none" lIns="0" tIns="0" rIns="0" bIns="0" anchor="t" anchorCtr="0">
              <a:spAutoFit/>
            </a:bodyPr>
            <a:lstStyle/>
            <a:p>
              <a:pPr algn="l"/>
              <a:r>
                <a:rPr lang="zh-CN" sz="900" dirty="0">
                  <a:solidFill>
                    <a:srgbClr val="2196F3"/>
                  </a:solidFill>
                  <a:latin typeface="Arial"/>
                  <a:ea typeface="Microsoft YaHei"/>
                  <a:cs typeface="Arial"/>
                </a:rPr>
                <a:t>Type 2</a:t>
              </a:r>
            </a:p>
          </p:txBody>
        </p:sp>
        <p:sp>
          <p:nvSpPr>
            <p:cNvPr id="107" name="Rectangle 107"/>
            <p:cNvSpPr/>
            <p:nvPr/>
          </p:nvSpPr>
          <p:spPr>
            <a:xfrm>
              <a:off x="4286250" y="4019550"/>
              <a:ext cx="7334250" cy="342900"/>
            </a:xfrm>
            <a:prstGeom prst="rect">
              <a:avLst/>
            </a:prstGeom>
            <a:solidFill>
              <a:srgbClr val="F8FAFC"/>
            </a:solidFill>
            <a:ln>
              <a:noFill/>
            </a:ln>
          </p:spPr>
        </p:sp>
        <p:sp>
          <p:nvSpPr>
            <p:cNvPr id="108" name="TextBox 108"/>
            <p:cNvSpPr txBox="1"/>
            <p:nvPr/>
          </p:nvSpPr>
          <p:spPr>
            <a:xfrm>
              <a:off x="4417695" y="4122420"/>
              <a:ext cx="1337310"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远程巡逻与运输机机库</a:t>
              </a:r>
            </a:p>
          </p:txBody>
        </p:sp>
        <p:sp>
          <p:nvSpPr>
            <p:cNvPr id="109" name="TextBox 109"/>
            <p:cNvSpPr txBox="1"/>
            <p:nvPr/>
          </p:nvSpPr>
          <p:spPr>
            <a:xfrm>
              <a:off x="6370320" y="412242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50.3</a:t>
              </a:r>
            </a:p>
          </p:txBody>
        </p:sp>
        <p:sp>
          <p:nvSpPr>
            <p:cNvPr id="110" name="TextBox 110"/>
            <p:cNvSpPr txBox="1"/>
            <p:nvPr/>
          </p:nvSpPr>
          <p:spPr>
            <a:xfrm>
              <a:off x="7037070" y="412242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50.3</a:t>
              </a:r>
            </a:p>
          </p:txBody>
        </p:sp>
        <p:sp>
          <p:nvSpPr>
            <p:cNvPr id="111" name="TextBox 111"/>
            <p:cNvSpPr txBox="1"/>
            <p:nvPr/>
          </p:nvSpPr>
          <p:spPr>
            <a:xfrm>
              <a:off x="7703820" y="412242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15.2</a:t>
              </a:r>
            </a:p>
          </p:txBody>
        </p:sp>
        <p:sp>
          <p:nvSpPr>
            <p:cNvPr id="112" name="TextBox 112"/>
            <p:cNvSpPr txBox="1"/>
            <p:nvPr/>
          </p:nvSpPr>
          <p:spPr>
            <a:xfrm>
              <a:off x="8370570" y="412242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113" name="TextBox 113"/>
            <p:cNvSpPr txBox="1"/>
            <p:nvPr/>
          </p:nvSpPr>
          <p:spPr>
            <a:xfrm>
              <a:off x="9037320" y="4122420"/>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0</a:t>
              </a:r>
            </a:p>
          </p:txBody>
        </p:sp>
        <p:sp>
          <p:nvSpPr>
            <p:cNvPr id="114" name="TextBox 114"/>
            <p:cNvSpPr txBox="1"/>
            <p:nvPr/>
          </p:nvSpPr>
          <p:spPr>
            <a:xfrm>
              <a:off x="9704070" y="4122420"/>
              <a:ext cx="19373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1层</a:t>
              </a:r>
            </a:p>
          </p:txBody>
        </p:sp>
        <p:sp>
          <p:nvSpPr>
            <p:cNvPr id="115" name="TextBox 115"/>
            <p:cNvSpPr txBox="1"/>
            <p:nvPr/>
          </p:nvSpPr>
          <p:spPr>
            <a:xfrm>
              <a:off x="10466070" y="4122420"/>
              <a:ext cx="423767" cy="182880"/>
            </a:xfrm>
            <a:prstGeom prst="rect">
              <a:avLst/>
            </a:prstGeom>
            <a:noFill/>
            <a:ln>
              <a:noFill/>
            </a:ln>
          </p:spPr>
          <p:txBody>
            <a:bodyPr wrap="none" lIns="0" tIns="0" rIns="0" bIns="0" anchor="t" anchorCtr="0">
              <a:spAutoFit/>
            </a:bodyPr>
            <a:lstStyle/>
            <a:p>
              <a:pPr algn="l"/>
              <a:r>
                <a:rPr lang="zh-CN" sz="900" dirty="0">
                  <a:solidFill>
                    <a:srgbClr val="2196F3"/>
                  </a:solidFill>
                  <a:latin typeface="Arial"/>
                  <a:ea typeface="Microsoft YaHei"/>
                  <a:cs typeface="Arial"/>
                </a:rPr>
                <a:t>Type 3</a:t>
              </a:r>
            </a:p>
          </p:txBody>
        </p:sp>
        <p:sp>
          <p:nvSpPr>
            <p:cNvPr id="116" name="Rectangle 116"/>
            <p:cNvSpPr/>
            <p:nvPr/>
          </p:nvSpPr>
          <p:spPr>
            <a:xfrm>
              <a:off x="4286250" y="4362450"/>
              <a:ext cx="7334250" cy="342900"/>
            </a:xfrm>
            <a:prstGeom prst="rect">
              <a:avLst/>
            </a:prstGeom>
            <a:solidFill>
              <a:srgbClr val="FFFFFF"/>
            </a:solidFill>
            <a:ln>
              <a:noFill/>
            </a:ln>
          </p:spPr>
        </p:sp>
        <p:sp>
          <p:nvSpPr>
            <p:cNvPr id="117" name="TextBox 117"/>
            <p:cNvSpPr txBox="1"/>
            <p:nvPr/>
          </p:nvSpPr>
          <p:spPr>
            <a:xfrm>
              <a:off x="4417695" y="4465320"/>
              <a:ext cx="94297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大型无人机机库</a:t>
              </a:r>
            </a:p>
          </p:txBody>
        </p:sp>
        <p:sp>
          <p:nvSpPr>
            <p:cNvPr id="118" name="TextBox 118"/>
            <p:cNvSpPr txBox="1"/>
            <p:nvPr/>
          </p:nvSpPr>
          <p:spPr>
            <a:xfrm>
              <a:off x="6370320" y="446532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43.0</a:t>
              </a:r>
            </a:p>
          </p:txBody>
        </p:sp>
        <p:sp>
          <p:nvSpPr>
            <p:cNvPr id="119" name="TextBox 119"/>
            <p:cNvSpPr txBox="1"/>
            <p:nvPr/>
          </p:nvSpPr>
          <p:spPr>
            <a:xfrm>
              <a:off x="7037070" y="446532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49.1</a:t>
              </a:r>
            </a:p>
          </p:txBody>
        </p:sp>
        <p:sp>
          <p:nvSpPr>
            <p:cNvPr id="120" name="TextBox 120"/>
            <p:cNvSpPr txBox="1"/>
            <p:nvPr/>
          </p:nvSpPr>
          <p:spPr>
            <a:xfrm>
              <a:off x="7703820" y="4465320"/>
              <a:ext cx="23974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9.9</a:t>
              </a:r>
            </a:p>
          </p:txBody>
        </p:sp>
        <p:sp>
          <p:nvSpPr>
            <p:cNvPr id="121" name="TextBox 121"/>
            <p:cNvSpPr txBox="1"/>
            <p:nvPr/>
          </p:nvSpPr>
          <p:spPr>
            <a:xfrm>
              <a:off x="8370570" y="446532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122" name="TextBox 122"/>
            <p:cNvSpPr txBox="1"/>
            <p:nvPr/>
          </p:nvSpPr>
          <p:spPr>
            <a:xfrm>
              <a:off x="9037320" y="4465320"/>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0</a:t>
              </a:r>
            </a:p>
          </p:txBody>
        </p:sp>
        <p:sp>
          <p:nvSpPr>
            <p:cNvPr id="123" name="TextBox 123"/>
            <p:cNvSpPr txBox="1"/>
            <p:nvPr/>
          </p:nvSpPr>
          <p:spPr>
            <a:xfrm>
              <a:off x="9704070" y="4465320"/>
              <a:ext cx="19373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1层</a:t>
              </a:r>
            </a:p>
          </p:txBody>
        </p:sp>
        <p:sp>
          <p:nvSpPr>
            <p:cNvPr id="124" name="TextBox 124"/>
            <p:cNvSpPr txBox="1"/>
            <p:nvPr/>
          </p:nvSpPr>
          <p:spPr>
            <a:xfrm>
              <a:off x="10466070" y="4465320"/>
              <a:ext cx="423767" cy="182880"/>
            </a:xfrm>
            <a:prstGeom prst="rect">
              <a:avLst/>
            </a:prstGeom>
            <a:noFill/>
            <a:ln>
              <a:noFill/>
            </a:ln>
          </p:spPr>
          <p:txBody>
            <a:bodyPr wrap="none" lIns="0" tIns="0" rIns="0" bIns="0" anchor="t" anchorCtr="0">
              <a:spAutoFit/>
            </a:bodyPr>
            <a:lstStyle/>
            <a:p>
              <a:pPr algn="l"/>
              <a:r>
                <a:rPr lang="zh-CN" sz="900" dirty="0">
                  <a:solidFill>
                    <a:srgbClr val="2196F3"/>
                  </a:solidFill>
                  <a:latin typeface="Arial"/>
                  <a:ea typeface="Microsoft YaHei"/>
                  <a:cs typeface="Arial"/>
                </a:rPr>
                <a:t>Type 4</a:t>
              </a:r>
            </a:p>
          </p:txBody>
        </p:sp>
        <p:sp>
          <p:nvSpPr>
            <p:cNvPr id="125" name="TextBox 125"/>
            <p:cNvSpPr txBox="1"/>
            <p:nvPr/>
          </p:nvSpPr>
          <p:spPr>
            <a:xfrm>
              <a:off x="4273868" y="4895374"/>
              <a:ext cx="252386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各建筑尺寸分布（圆圈大小反映高度）:</a:t>
              </a:r>
            </a:p>
          </p:txBody>
        </p:sp>
        <p:pic>
          <p:nvPicPr>
            <p:cNvPr id="126" name="Image 126"/>
            <p:cNvPicPr>
              <a:picLocks noChangeAspect="1"/>
            </p:cNvPicPr>
            <p:nvPr/>
          </p:nvPicPr>
          <p:blipFill>
            <a:blip r:embed="rId2"/>
            <a:stretch>
              <a:fillRect/>
            </a:stretch>
          </p:blipFill>
          <p:spPr>
            <a:xfrm>
              <a:off x="6475095" y="5095875"/>
              <a:ext cx="2956560" cy="1714500"/>
            </a:xfrm>
            <a:prstGeom prst="rect">
              <a:avLst/>
            </a:prstGeom>
          </p:spPr>
        </p:pic>
      </p:grpSp>
      <p:sp>
        <p:nvSpPr>
          <p:cNvPr id="128" name="TextBox 128"/>
          <p:cNvSpPr txBox="1"/>
          <p:nvPr/>
        </p:nvSpPr>
        <p:spPr>
          <a:xfrm>
            <a:off x="560070" y="6570345"/>
            <a:ext cx="43034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03 / 16</a:t>
            </a:r>
          </a:p>
        </p:txBody>
      </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B3A6B"/>
          </a:solidFill>
          <a:ln>
            <a:noFill/>
          </a:ln>
        </p:spPr>
      </p:sp>
      <p:sp>
        <p:nvSpPr>
          <p:cNvPr id="4" name="TextBox 4"/>
          <p:cNvSpPr txBox="1"/>
          <p:nvPr/>
        </p:nvSpPr>
        <p:spPr>
          <a:xfrm>
            <a:off x="550545" y="183832"/>
            <a:ext cx="2749348"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1.2 特征工程与模型架构</a:t>
            </a:r>
          </a:p>
        </p:txBody>
      </p:sp>
      <p:sp>
        <p:nvSpPr>
          <p:cNvPr id="5" name="TextBox 5"/>
          <p:cNvSpPr txBox="1"/>
          <p:nvPr/>
        </p:nvSpPr>
        <p:spPr>
          <a:xfrm>
            <a:off x="10687050" y="248602"/>
            <a:ext cx="946785" cy="213360"/>
          </a:xfrm>
          <a:prstGeom prst="rect">
            <a:avLst/>
          </a:prstGeom>
          <a:noFill/>
          <a:ln>
            <a:noFill/>
          </a:ln>
        </p:spPr>
        <p:txBody>
          <a:bodyPr wrap="none" lIns="0" tIns="0" rIns="0" bIns="0" anchor="t" anchorCtr="0">
            <a:spAutoFit/>
          </a:bodyPr>
          <a:lstStyle/>
          <a:p>
            <a:pPr algn="r"/>
            <a:r>
              <a:rPr lang="zh-CN" sz="1050" dirty="0">
                <a:solidFill>
                  <a:srgbClr val="4A90D9"/>
                </a:solidFill>
                <a:latin typeface="Arial"/>
                <a:ea typeface="Microsoft YaHei"/>
                <a:cs typeface="Arial"/>
              </a:rPr>
              <a:t>航空航天设施</a:t>
            </a:r>
          </a:p>
        </p:txBody>
      </p:sp>
      <p:grpSp>
        <p:nvGrpSpPr>
          <p:cNvPr id="15" name="Group 15"/>
          <p:cNvGrpSpPr/>
          <p:nvPr/>
        </p:nvGrpSpPr>
        <p:grpSpPr>
          <a:xfrm>
            <a:off x="571500" y="762000"/>
            <a:ext cx="3476625" cy="1714500"/>
            <a:chOff x="571500" y="762000"/>
            <a:chExt cx="3476625" cy="1714500"/>
          </a:xfrm>
        </p:grpSpPr>
        <p:sp>
          <p:nvSpPr>
            <p:cNvPr id="6" name="Freeform 6"/>
            <p:cNvSpPr/>
            <p:nvPr/>
          </p:nvSpPr>
          <p:spPr>
            <a:xfrm>
              <a:off x="571500" y="762000"/>
              <a:ext cx="3476625" cy="1714500"/>
            </a:xfrm>
            <a:custGeom>
              <a:avLst/>
              <a:gdLst/>
              <a:ahLst/>
              <a:cxnLst/>
              <a:rect l="l" t="t" r="r" b="b"/>
              <a:pathLst>
                <a:path w="3476625" h="1714500">
                  <a:moveTo>
                    <a:pt x="95250" y="0"/>
                  </a:moveTo>
                  <a:lnTo>
                    <a:pt x="3381375" y="0"/>
                  </a:lnTo>
                  <a:cubicBezTo>
                    <a:pt x="3433980" y="0"/>
                    <a:pt x="3476625" y="42645"/>
                    <a:pt x="3476625" y="95250"/>
                  </a:cubicBezTo>
                  <a:lnTo>
                    <a:pt x="3476625" y="1619250"/>
                  </a:lnTo>
                  <a:cubicBezTo>
                    <a:pt x="3476625" y="1671855"/>
                    <a:pt x="3433980" y="1714500"/>
                    <a:pt x="3381375" y="1714500"/>
                  </a:cubicBezTo>
                  <a:lnTo>
                    <a:pt x="95250" y="1714500"/>
                  </a:lnTo>
                  <a:cubicBezTo>
                    <a:pt x="42645" y="1714500"/>
                    <a:pt x="0" y="1671855"/>
                    <a:pt x="0" y="1619250"/>
                  </a:cubicBezTo>
                  <a:lnTo>
                    <a:pt x="0" y="95250"/>
                  </a:lnTo>
                  <a:cubicBezTo>
                    <a:pt x="0" y="42645"/>
                    <a:pt x="42645" y="0"/>
                    <a:pt x="95250" y="0"/>
                  </a:cubicBezTo>
                  <a:close/>
                </a:path>
              </a:pathLst>
            </a:custGeom>
            <a:gradFill>
              <a:gsLst>
                <a:gs pos="0">
                  <a:srgbClr val="F8FAFC"/>
                </a:gs>
                <a:gs pos="100000">
                  <a:srgbClr val="FFFFFF"/>
                </a:gs>
              </a:gsLst>
              <a:lin ang="5400000" scaled="1"/>
            </a:gradFill>
            <a:ln w="9525">
              <a:solidFill>
                <a:srgbClr val="E5E7EB"/>
              </a:solidFill>
            </a:ln>
            <a:effectLst>
              <a:outerShdw blurRad="57150" dist="19050" dir="5400000" algn="ctr" rotWithShape="0">
                <a:srgbClr val="000000">
                  <a:alpha val="6000"/>
                </a:srgbClr>
              </a:outerShdw>
            </a:effectLst>
          </p:spPr>
        </p:sp>
        <p:sp>
          <p:nvSpPr>
            <p:cNvPr id="7" name="Freeform 7"/>
            <p:cNvSpPr/>
            <p:nvPr/>
          </p:nvSpPr>
          <p:spPr>
            <a:xfrm>
              <a:off x="571500" y="762000"/>
              <a:ext cx="3476625" cy="419100"/>
            </a:xfrm>
            <a:custGeom>
              <a:avLst/>
              <a:gdLst/>
              <a:ahLst/>
              <a:cxnLst/>
              <a:rect l="l" t="t" r="r" b="b"/>
              <a:pathLst>
                <a:path w="3476625" h="419100">
                  <a:moveTo>
                    <a:pt x="95250" y="0"/>
                  </a:moveTo>
                  <a:lnTo>
                    <a:pt x="3381375" y="0"/>
                  </a:lnTo>
                  <a:cubicBezTo>
                    <a:pt x="3433980" y="0"/>
                    <a:pt x="3476625" y="42645"/>
                    <a:pt x="3476625" y="95250"/>
                  </a:cubicBezTo>
                  <a:lnTo>
                    <a:pt x="3476625" y="323850"/>
                  </a:lnTo>
                  <a:cubicBezTo>
                    <a:pt x="3476625" y="376455"/>
                    <a:pt x="3433980" y="419100"/>
                    <a:pt x="3381375" y="419100"/>
                  </a:cubicBezTo>
                  <a:lnTo>
                    <a:pt x="95250" y="419100"/>
                  </a:lnTo>
                  <a:cubicBezTo>
                    <a:pt x="42645" y="419100"/>
                    <a:pt x="0" y="376455"/>
                    <a:pt x="0" y="323850"/>
                  </a:cubicBezTo>
                  <a:lnTo>
                    <a:pt x="0" y="95250"/>
                  </a:lnTo>
                  <a:cubicBezTo>
                    <a:pt x="0" y="42645"/>
                    <a:pt x="42645" y="0"/>
                    <a:pt x="95250" y="0"/>
                  </a:cubicBezTo>
                  <a:close/>
                </a:path>
              </a:pathLst>
            </a:custGeom>
            <a:solidFill>
              <a:srgbClr val="1B3A6B"/>
            </a:solidFill>
            <a:ln>
              <a:noFill/>
            </a:ln>
          </p:spPr>
        </p:sp>
        <p:sp>
          <p:nvSpPr>
            <p:cNvPr id="8" name="Rectangle 8"/>
            <p:cNvSpPr/>
            <p:nvPr/>
          </p:nvSpPr>
          <p:spPr>
            <a:xfrm>
              <a:off x="571500" y="952500"/>
              <a:ext cx="3476625" cy="228600"/>
            </a:xfrm>
            <a:prstGeom prst="rect">
              <a:avLst/>
            </a:prstGeom>
            <a:solidFill>
              <a:srgbClr val="1B3A6B"/>
            </a:solidFill>
            <a:ln>
              <a:noFill/>
            </a:ln>
          </p:spPr>
        </p:sp>
        <p:sp>
          <p:nvSpPr>
            <p:cNvPr id="9" name="TextBox 9"/>
            <p:cNvSpPr txBox="1"/>
            <p:nvPr/>
          </p:nvSpPr>
          <p:spPr>
            <a:xfrm>
              <a:off x="747712" y="907256"/>
              <a:ext cx="1089583"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建筑特征 18维</a:t>
              </a:r>
            </a:p>
          </p:txBody>
        </p:sp>
        <p:sp>
          <p:nvSpPr>
            <p:cNvPr id="10" name="TextBox 10"/>
            <p:cNvSpPr txBox="1"/>
            <p:nvPr/>
          </p:nvSpPr>
          <p:spPr>
            <a:xfrm>
              <a:off x="749618" y="1371124"/>
              <a:ext cx="1996988"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几何参数：长度、宽度、高度</a:t>
              </a:r>
            </a:p>
          </p:txBody>
        </p:sp>
        <p:sp>
          <p:nvSpPr>
            <p:cNvPr id="11" name="TextBox 11"/>
            <p:cNvSpPr txBox="1"/>
            <p:nvPr/>
          </p:nvSpPr>
          <p:spPr>
            <a:xfrm>
              <a:off x="749618" y="1580674"/>
              <a:ext cx="243842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开口比（门面积+窗面积/外墙面积）</a:t>
              </a:r>
            </a:p>
          </p:txBody>
        </p:sp>
        <p:sp>
          <p:nvSpPr>
            <p:cNvPr id="12" name="TextBox 12"/>
            <p:cNvSpPr txBox="1"/>
            <p:nvPr/>
          </p:nvSpPr>
          <p:spPr>
            <a:xfrm>
              <a:off x="749618" y="1790224"/>
              <a:ext cx="1854589"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楼层数（影响火蔓延路径）</a:t>
              </a:r>
            </a:p>
          </p:txBody>
        </p:sp>
        <p:sp>
          <p:nvSpPr>
            <p:cNvPr id="13" name="TextBox 13"/>
            <p:cNvSpPr txBox="1"/>
            <p:nvPr/>
          </p:nvSpPr>
          <p:spPr>
            <a:xfrm>
              <a:off x="749618" y="1999774"/>
              <a:ext cx="1790509"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门数量（通风/火灾条件）</a:t>
              </a:r>
            </a:p>
          </p:txBody>
        </p:sp>
        <p:sp>
          <p:nvSpPr>
            <p:cNvPr id="14" name="TextBox 14"/>
            <p:cNvSpPr txBox="1"/>
            <p:nvPr/>
          </p:nvSpPr>
          <p:spPr>
            <a:xfrm>
              <a:off x="749618" y="2209324"/>
              <a:ext cx="1875949"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捕捉建筑几何与火灾条件差异</a:t>
              </a:r>
            </a:p>
          </p:txBody>
        </p:sp>
      </p:grpSp>
      <p:grpSp>
        <p:nvGrpSpPr>
          <p:cNvPr id="25" name="Group 25"/>
          <p:cNvGrpSpPr/>
          <p:nvPr/>
        </p:nvGrpSpPr>
        <p:grpSpPr>
          <a:xfrm>
            <a:off x="4352925" y="762000"/>
            <a:ext cx="3476625" cy="1714500"/>
            <a:chOff x="4352925" y="762000"/>
            <a:chExt cx="3476625" cy="1714500"/>
          </a:xfrm>
        </p:grpSpPr>
        <p:sp>
          <p:nvSpPr>
            <p:cNvPr id="16" name="Freeform 16"/>
            <p:cNvSpPr/>
            <p:nvPr/>
          </p:nvSpPr>
          <p:spPr>
            <a:xfrm>
              <a:off x="4352925" y="762000"/>
              <a:ext cx="3476625" cy="1714500"/>
            </a:xfrm>
            <a:custGeom>
              <a:avLst/>
              <a:gdLst/>
              <a:ahLst/>
              <a:cxnLst/>
              <a:rect l="l" t="t" r="r" b="b"/>
              <a:pathLst>
                <a:path w="3476625" h="1714500">
                  <a:moveTo>
                    <a:pt x="95250" y="0"/>
                  </a:moveTo>
                  <a:lnTo>
                    <a:pt x="3381375" y="0"/>
                  </a:lnTo>
                  <a:cubicBezTo>
                    <a:pt x="3433980" y="0"/>
                    <a:pt x="3476625" y="42645"/>
                    <a:pt x="3476625" y="95250"/>
                  </a:cubicBezTo>
                  <a:lnTo>
                    <a:pt x="3476625" y="1619250"/>
                  </a:lnTo>
                  <a:cubicBezTo>
                    <a:pt x="3476625" y="1671855"/>
                    <a:pt x="3433980" y="1714500"/>
                    <a:pt x="3381375" y="1714500"/>
                  </a:cubicBezTo>
                  <a:lnTo>
                    <a:pt x="95250" y="1714500"/>
                  </a:lnTo>
                  <a:cubicBezTo>
                    <a:pt x="42645" y="1714500"/>
                    <a:pt x="0" y="1671855"/>
                    <a:pt x="0" y="1619250"/>
                  </a:cubicBezTo>
                  <a:lnTo>
                    <a:pt x="0" y="95250"/>
                  </a:lnTo>
                  <a:cubicBezTo>
                    <a:pt x="0" y="42645"/>
                    <a:pt x="42645" y="0"/>
                    <a:pt x="95250" y="0"/>
                  </a:cubicBezTo>
                  <a:close/>
                </a:path>
              </a:pathLst>
            </a:custGeom>
            <a:gradFill>
              <a:gsLst>
                <a:gs pos="0">
                  <a:srgbClr val="F8FAFC"/>
                </a:gs>
                <a:gs pos="100000">
                  <a:srgbClr val="FFFFFF"/>
                </a:gs>
              </a:gsLst>
              <a:lin ang="5400000" scaled="1"/>
            </a:gradFill>
            <a:ln w="9525">
              <a:solidFill>
                <a:srgbClr val="E5E7EB"/>
              </a:solidFill>
            </a:ln>
            <a:effectLst>
              <a:outerShdw blurRad="57150" dist="19050" dir="5400000" algn="ctr" rotWithShape="0">
                <a:srgbClr val="000000">
                  <a:alpha val="6000"/>
                </a:srgbClr>
              </a:outerShdw>
            </a:effectLst>
          </p:spPr>
        </p:sp>
        <p:sp>
          <p:nvSpPr>
            <p:cNvPr id="17" name="Freeform 17"/>
            <p:cNvSpPr/>
            <p:nvPr/>
          </p:nvSpPr>
          <p:spPr>
            <a:xfrm>
              <a:off x="4352925" y="762000"/>
              <a:ext cx="3476625" cy="419100"/>
            </a:xfrm>
            <a:custGeom>
              <a:avLst/>
              <a:gdLst/>
              <a:ahLst/>
              <a:cxnLst/>
              <a:rect l="l" t="t" r="r" b="b"/>
              <a:pathLst>
                <a:path w="3476625" h="419100">
                  <a:moveTo>
                    <a:pt x="95250" y="0"/>
                  </a:moveTo>
                  <a:lnTo>
                    <a:pt x="3381375" y="0"/>
                  </a:lnTo>
                  <a:cubicBezTo>
                    <a:pt x="3433980" y="0"/>
                    <a:pt x="3476625" y="42645"/>
                    <a:pt x="3476625" y="95250"/>
                  </a:cubicBezTo>
                  <a:lnTo>
                    <a:pt x="3476625" y="323850"/>
                  </a:lnTo>
                  <a:cubicBezTo>
                    <a:pt x="3476625" y="376455"/>
                    <a:pt x="3433980" y="419100"/>
                    <a:pt x="3381375" y="419100"/>
                  </a:cubicBezTo>
                  <a:lnTo>
                    <a:pt x="95250" y="419100"/>
                  </a:lnTo>
                  <a:cubicBezTo>
                    <a:pt x="42645" y="419100"/>
                    <a:pt x="0" y="376455"/>
                    <a:pt x="0" y="323850"/>
                  </a:cubicBezTo>
                  <a:lnTo>
                    <a:pt x="0" y="95250"/>
                  </a:lnTo>
                  <a:cubicBezTo>
                    <a:pt x="0" y="42645"/>
                    <a:pt x="42645" y="0"/>
                    <a:pt x="95250" y="0"/>
                  </a:cubicBezTo>
                  <a:close/>
                </a:path>
              </a:pathLst>
            </a:custGeom>
            <a:solidFill>
              <a:srgbClr val="2196F3"/>
            </a:solidFill>
            <a:ln>
              <a:noFill/>
            </a:ln>
          </p:spPr>
        </p:sp>
        <p:sp>
          <p:nvSpPr>
            <p:cNvPr id="18" name="Rectangle 18"/>
            <p:cNvSpPr/>
            <p:nvPr/>
          </p:nvSpPr>
          <p:spPr>
            <a:xfrm>
              <a:off x="4352925" y="952500"/>
              <a:ext cx="3476625" cy="228600"/>
            </a:xfrm>
            <a:prstGeom prst="rect">
              <a:avLst/>
            </a:prstGeom>
            <a:solidFill>
              <a:srgbClr val="2196F3"/>
            </a:solidFill>
            <a:ln>
              <a:noFill/>
            </a:ln>
          </p:spPr>
        </p:sp>
        <p:sp>
          <p:nvSpPr>
            <p:cNvPr id="19" name="TextBox 19"/>
            <p:cNvSpPr txBox="1"/>
            <p:nvPr/>
          </p:nvSpPr>
          <p:spPr>
            <a:xfrm>
              <a:off x="4529138" y="907256"/>
              <a:ext cx="121034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可燃物特征 8维</a:t>
              </a:r>
            </a:p>
          </p:txBody>
        </p:sp>
        <p:sp>
          <p:nvSpPr>
            <p:cNvPr id="20" name="TextBox 20"/>
            <p:cNvSpPr txBox="1"/>
            <p:nvPr/>
          </p:nvSpPr>
          <p:spPr>
            <a:xfrm>
              <a:off x="4531042" y="1371124"/>
              <a:ext cx="234586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木质纸质 · 纺织品类 · 塑料高分子类</a:t>
              </a:r>
            </a:p>
          </p:txBody>
        </p:sp>
        <p:sp>
          <p:nvSpPr>
            <p:cNvPr id="21" name="TextBox 21"/>
            <p:cNvSpPr txBox="1"/>
            <p:nvPr/>
          </p:nvSpPr>
          <p:spPr>
            <a:xfrm>
              <a:off x="4531042" y="1580674"/>
              <a:ext cx="234586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燃料油品类 · 电子电气类 · 化工品类</a:t>
              </a:r>
            </a:p>
          </p:txBody>
        </p:sp>
        <p:sp>
          <p:nvSpPr>
            <p:cNvPr id="22" name="TextBox 22"/>
            <p:cNvSpPr txBox="1"/>
            <p:nvPr/>
          </p:nvSpPr>
          <p:spPr>
            <a:xfrm>
              <a:off x="4531042" y="1790224"/>
              <a:ext cx="132771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金属类 · 复合材料类</a:t>
              </a:r>
            </a:p>
          </p:txBody>
        </p:sp>
        <p:sp>
          <p:nvSpPr>
            <p:cNvPr id="23" name="TextBox 23"/>
            <p:cNvSpPr txBox="1"/>
            <p:nvPr/>
          </p:nvSpPr>
          <p:spPr>
            <a:xfrm>
              <a:off x="4531042" y="1999774"/>
              <a:ext cx="142739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归一化为加权组合值</a:t>
              </a:r>
            </a:p>
          </p:txBody>
        </p:sp>
        <p:sp>
          <p:nvSpPr>
            <p:cNvPr id="24" name="TextBox 24"/>
            <p:cNvSpPr txBox="1"/>
            <p:nvPr/>
          </p:nvSpPr>
          <p:spPr>
            <a:xfrm>
              <a:off x="4531042" y="2209324"/>
              <a:ext cx="2018347"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反映不同物料对火灾发展的贡献</a:t>
              </a:r>
            </a:p>
          </p:txBody>
        </p:sp>
      </p:grpSp>
      <p:grpSp>
        <p:nvGrpSpPr>
          <p:cNvPr id="34" name="Group 34"/>
          <p:cNvGrpSpPr/>
          <p:nvPr/>
        </p:nvGrpSpPr>
        <p:grpSpPr>
          <a:xfrm>
            <a:off x="8134350" y="762000"/>
            <a:ext cx="3476625" cy="1714500"/>
            <a:chOff x="8134350" y="762000"/>
            <a:chExt cx="3476625" cy="1714500"/>
          </a:xfrm>
        </p:grpSpPr>
        <p:sp>
          <p:nvSpPr>
            <p:cNvPr id="26" name="Freeform 26"/>
            <p:cNvSpPr/>
            <p:nvPr/>
          </p:nvSpPr>
          <p:spPr>
            <a:xfrm>
              <a:off x="8134350" y="762000"/>
              <a:ext cx="3476625" cy="1714500"/>
            </a:xfrm>
            <a:custGeom>
              <a:avLst/>
              <a:gdLst/>
              <a:ahLst/>
              <a:cxnLst/>
              <a:rect l="l" t="t" r="r" b="b"/>
              <a:pathLst>
                <a:path w="3476625" h="1714500">
                  <a:moveTo>
                    <a:pt x="95250" y="0"/>
                  </a:moveTo>
                  <a:lnTo>
                    <a:pt x="3381375" y="0"/>
                  </a:lnTo>
                  <a:cubicBezTo>
                    <a:pt x="3433980" y="0"/>
                    <a:pt x="3476625" y="42645"/>
                    <a:pt x="3476625" y="95250"/>
                  </a:cubicBezTo>
                  <a:lnTo>
                    <a:pt x="3476625" y="1619250"/>
                  </a:lnTo>
                  <a:cubicBezTo>
                    <a:pt x="3476625" y="1671855"/>
                    <a:pt x="3433980" y="1714500"/>
                    <a:pt x="3381375" y="1714500"/>
                  </a:cubicBezTo>
                  <a:lnTo>
                    <a:pt x="95250" y="1714500"/>
                  </a:lnTo>
                  <a:cubicBezTo>
                    <a:pt x="42645" y="1714500"/>
                    <a:pt x="0" y="1671855"/>
                    <a:pt x="0" y="1619250"/>
                  </a:cubicBezTo>
                  <a:lnTo>
                    <a:pt x="0" y="95250"/>
                  </a:lnTo>
                  <a:cubicBezTo>
                    <a:pt x="0" y="42645"/>
                    <a:pt x="42645" y="0"/>
                    <a:pt x="95250" y="0"/>
                  </a:cubicBezTo>
                  <a:close/>
                </a:path>
              </a:pathLst>
            </a:custGeom>
            <a:gradFill>
              <a:gsLst>
                <a:gs pos="0">
                  <a:srgbClr val="F8FAFC"/>
                </a:gs>
                <a:gs pos="100000">
                  <a:srgbClr val="FFFFFF"/>
                </a:gs>
              </a:gsLst>
              <a:lin ang="5400000" scaled="1"/>
            </a:gradFill>
            <a:ln w="9525">
              <a:solidFill>
                <a:srgbClr val="E5E7EB"/>
              </a:solidFill>
            </a:ln>
            <a:effectLst>
              <a:outerShdw blurRad="57150" dist="19050" dir="5400000" algn="ctr" rotWithShape="0">
                <a:srgbClr val="000000">
                  <a:alpha val="6000"/>
                </a:srgbClr>
              </a:outerShdw>
            </a:effectLst>
          </p:spPr>
        </p:sp>
        <p:sp>
          <p:nvSpPr>
            <p:cNvPr id="27" name="Freeform 27"/>
            <p:cNvSpPr/>
            <p:nvPr/>
          </p:nvSpPr>
          <p:spPr>
            <a:xfrm>
              <a:off x="8134350" y="762000"/>
              <a:ext cx="3476625" cy="419100"/>
            </a:xfrm>
            <a:custGeom>
              <a:avLst/>
              <a:gdLst/>
              <a:ahLst/>
              <a:cxnLst/>
              <a:rect l="l" t="t" r="r" b="b"/>
              <a:pathLst>
                <a:path w="3476625" h="419100">
                  <a:moveTo>
                    <a:pt x="95250" y="0"/>
                  </a:moveTo>
                  <a:lnTo>
                    <a:pt x="3381375" y="0"/>
                  </a:lnTo>
                  <a:cubicBezTo>
                    <a:pt x="3433980" y="0"/>
                    <a:pt x="3476625" y="42645"/>
                    <a:pt x="3476625" y="95250"/>
                  </a:cubicBezTo>
                  <a:lnTo>
                    <a:pt x="3476625" y="323850"/>
                  </a:lnTo>
                  <a:cubicBezTo>
                    <a:pt x="3476625" y="376455"/>
                    <a:pt x="3433980" y="419100"/>
                    <a:pt x="3381375" y="419100"/>
                  </a:cubicBezTo>
                  <a:lnTo>
                    <a:pt x="95250" y="419100"/>
                  </a:lnTo>
                  <a:cubicBezTo>
                    <a:pt x="42645" y="419100"/>
                    <a:pt x="0" y="376455"/>
                    <a:pt x="0" y="323850"/>
                  </a:cubicBezTo>
                  <a:lnTo>
                    <a:pt x="0" y="95250"/>
                  </a:lnTo>
                  <a:cubicBezTo>
                    <a:pt x="0" y="42645"/>
                    <a:pt x="42645" y="0"/>
                    <a:pt x="95250" y="0"/>
                  </a:cubicBezTo>
                  <a:close/>
                </a:path>
              </a:pathLst>
            </a:custGeom>
            <a:solidFill>
              <a:srgbClr val="4A90D9"/>
            </a:solidFill>
            <a:ln>
              <a:noFill/>
            </a:ln>
          </p:spPr>
        </p:sp>
        <p:sp>
          <p:nvSpPr>
            <p:cNvPr id="28" name="Rectangle 28"/>
            <p:cNvSpPr/>
            <p:nvPr/>
          </p:nvSpPr>
          <p:spPr>
            <a:xfrm>
              <a:off x="8134350" y="952500"/>
              <a:ext cx="3476625" cy="228600"/>
            </a:xfrm>
            <a:prstGeom prst="rect">
              <a:avLst/>
            </a:prstGeom>
            <a:solidFill>
              <a:srgbClr val="4A90D9"/>
            </a:solidFill>
            <a:ln>
              <a:noFill/>
            </a:ln>
          </p:spPr>
        </p:sp>
        <p:sp>
          <p:nvSpPr>
            <p:cNvPr id="29" name="TextBox 29"/>
            <p:cNvSpPr txBox="1"/>
            <p:nvPr/>
          </p:nvSpPr>
          <p:spPr>
            <a:xfrm>
              <a:off x="8310562" y="907256"/>
              <a:ext cx="185730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热源特征 4维 + 遮挡 1维</a:t>
              </a:r>
            </a:p>
          </p:txBody>
        </p:sp>
        <p:sp>
          <p:nvSpPr>
            <p:cNvPr id="30" name="TextBox 30"/>
            <p:cNvSpPr txBox="1"/>
            <p:nvPr/>
          </p:nvSpPr>
          <p:spPr>
            <a:xfrm>
              <a:off x="8312468" y="1371124"/>
              <a:ext cx="1897309"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俯仰角 / 方位角 / 持续时间</a:t>
              </a:r>
            </a:p>
          </p:txBody>
        </p:sp>
        <p:sp>
          <p:nvSpPr>
            <p:cNvPr id="31" name="TextBox 31"/>
            <p:cNvSpPr txBox="1"/>
            <p:nvPr/>
          </p:nvSpPr>
          <p:spPr>
            <a:xfrm>
              <a:off x="8312468" y="1580674"/>
              <a:ext cx="1861709"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热通量（50-15000 W/m²）</a:t>
              </a:r>
            </a:p>
          </p:txBody>
        </p:sp>
        <p:sp>
          <p:nvSpPr>
            <p:cNvPr id="32" name="TextBox 32"/>
            <p:cNvSpPr txBox="1"/>
            <p:nvPr/>
          </p:nvSpPr>
          <p:spPr>
            <a:xfrm>
              <a:off x="8312468" y="1790224"/>
              <a:ext cx="1804749"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遮挡效应：按0.3幂次衰减</a:t>
              </a:r>
            </a:p>
          </p:txBody>
        </p:sp>
        <p:sp>
          <p:nvSpPr>
            <p:cNvPr id="33" name="TextBox 33"/>
            <p:cNvSpPr txBox="1"/>
            <p:nvPr/>
          </p:nvSpPr>
          <p:spPr>
            <a:xfrm>
              <a:off x="8312468" y="2209324"/>
              <a:ext cx="1448752"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覆盖热辐射全参数空间</a:t>
              </a:r>
            </a:p>
          </p:txBody>
        </p:sp>
      </p:grpSp>
      <p:grpSp>
        <p:nvGrpSpPr>
          <p:cNvPr id="60" name="Group 60"/>
          <p:cNvGrpSpPr/>
          <p:nvPr/>
        </p:nvGrpSpPr>
        <p:grpSpPr>
          <a:xfrm>
            <a:off x="554355" y="2807018"/>
            <a:ext cx="10304145" cy="955357"/>
            <a:chOff x="554355" y="2807018"/>
            <a:chExt cx="10304145" cy="955357"/>
          </a:xfrm>
        </p:grpSpPr>
        <p:sp>
          <p:nvSpPr>
            <p:cNvPr id="35" name="TextBox 35"/>
            <p:cNvSpPr txBox="1"/>
            <p:nvPr/>
          </p:nvSpPr>
          <p:spPr>
            <a:xfrm>
              <a:off x="554355" y="2807018"/>
              <a:ext cx="2518600" cy="274320"/>
            </a:xfrm>
            <a:prstGeom prst="rect">
              <a:avLst/>
            </a:prstGeom>
            <a:noFill/>
            <a:ln>
              <a:noFill/>
            </a:ln>
          </p:spPr>
          <p:txBody>
            <a:bodyPr wrap="none" lIns="0" tIns="0" rIns="0" bIns="0" anchor="t" anchorCtr="0">
              <a:spAutoFit/>
            </a:bodyPr>
            <a:lstStyle/>
            <a:p>
              <a:pPr algn="l"/>
              <a:r>
                <a:rPr lang="zh-CN" sz="1350" b="1" dirty="0">
                  <a:solidFill>
                    <a:srgbClr val="1B3A6B"/>
                  </a:solidFill>
                  <a:latin typeface="Arial"/>
                  <a:ea typeface="Microsoft YaHei"/>
                  <a:cs typeface="Arial"/>
                </a:rPr>
                <a:t>统一模型架构：四模型融合</a:t>
              </a:r>
            </a:p>
          </p:txBody>
        </p:sp>
        <p:sp>
          <p:nvSpPr>
            <p:cNvPr id="36" name="Freeform 36"/>
            <p:cNvSpPr/>
            <p:nvPr/>
          </p:nvSpPr>
          <p:spPr>
            <a:xfrm>
              <a:off x="571500" y="3190875"/>
              <a:ext cx="1524000" cy="571500"/>
            </a:xfrm>
            <a:custGeom>
              <a:avLst/>
              <a:gdLst/>
              <a:ahLst/>
              <a:cxnLst/>
              <a:rect l="l" t="t" r="r" b="b"/>
              <a:pathLst>
                <a:path w="1524000" h="571500">
                  <a:moveTo>
                    <a:pt x="57150" y="0"/>
                  </a:moveTo>
                  <a:lnTo>
                    <a:pt x="1466850" y="0"/>
                  </a:lnTo>
                  <a:cubicBezTo>
                    <a:pt x="1498413" y="0"/>
                    <a:pt x="1524000" y="25587"/>
                    <a:pt x="1524000" y="57150"/>
                  </a:cubicBezTo>
                  <a:lnTo>
                    <a:pt x="1524000" y="514350"/>
                  </a:lnTo>
                  <a:cubicBezTo>
                    <a:pt x="1524000" y="545913"/>
                    <a:pt x="1498413" y="571500"/>
                    <a:pt x="1466850" y="571500"/>
                  </a:cubicBezTo>
                  <a:lnTo>
                    <a:pt x="57150" y="571500"/>
                  </a:lnTo>
                  <a:cubicBezTo>
                    <a:pt x="25587" y="571500"/>
                    <a:pt x="0" y="545913"/>
                    <a:pt x="0" y="514350"/>
                  </a:cubicBezTo>
                  <a:lnTo>
                    <a:pt x="0" y="57150"/>
                  </a:lnTo>
                  <a:cubicBezTo>
                    <a:pt x="0" y="25587"/>
                    <a:pt x="25587" y="0"/>
                    <a:pt x="57150" y="0"/>
                  </a:cubicBezTo>
                  <a:close/>
                </a:path>
              </a:pathLst>
            </a:custGeom>
            <a:solidFill>
              <a:srgbClr val="1B3A6B"/>
            </a:solidFill>
            <a:ln>
              <a:noFill/>
            </a:ln>
          </p:spPr>
        </p:sp>
        <p:sp>
          <p:nvSpPr>
            <p:cNvPr id="37" name="TextBox 37"/>
            <p:cNvSpPr txBox="1"/>
            <p:nvPr/>
          </p:nvSpPr>
          <p:spPr>
            <a:xfrm>
              <a:off x="865086" y="3342799"/>
              <a:ext cx="93682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23维特征向量</a:t>
              </a:r>
            </a:p>
          </p:txBody>
        </p:sp>
        <p:sp>
          <p:nvSpPr>
            <p:cNvPr id="38" name="Freeform 38"/>
            <p:cNvSpPr/>
            <p:nvPr/>
          </p:nvSpPr>
          <p:spPr>
            <a:xfrm>
              <a:off x="2143125" y="3409950"/>
              <a:ext cx="285750" cy="38100"/>
            </a:xfrm>
            <a:custGeom>
              <a:avLst/>
              <a:gdLst/>
              <a:ahLst/>
              <a:cxnLst/>
              <a:rect l="l" t="t" r="r" b="b"/>
              <a:pathLst>
                <a:path w="285750" h="38100">
                  <a:moveTo>
                    <a:pt x="19050" y="0"/>
                  </a:moveTo>
                  <a:lnTo>
                    <a:pt x="266700" y="0"/>
                  </a:lnTo>
                  <a:cubicBezTo>
                    <a:pt x="277221" y="0"/>
                    <a:pt x="285750" y="8529"/>
                    <a:pt x="285750" y="19050"/>
                  </a:cubicBezTo>
                  <a:lnTo>
                    <a:pt x="285750" y="19050"/>
                  </a:lnTo>
                  <a:cubicBezTo>
                    <a:pt x="285750" y="29571"/>
                    <a:pt x="277221" y="38100"/>
                    <a:pt x="266700" y="38100"/>
                  </a:cubicBezTo>
                  <a:lnTo>
                    <a:pt x="19050" y="38100"/>
                  </a:lnTo>
                  <a:cubicBezTo>
                    <a:pt x="8529" y="38100"/>
                    <a:pt x="0" y="29571"/>
                    <a:pt x="0" y="19050"/>
                  </a:cubicBezTo>
                  <a:lnTo>
                    <a:pt x="0" y="19050"/>
                  </a:lnTo>
                  <a:cubicBezTo>
                    <a:pt x="0" y="8529"/>
                    <a:pt x="8529" y="0"/>
                    <a:pt x="19050" y="0"/>
                  </a:cubicBezTo>
                  <a:close/>
                </a:path>
              </a:pathLst>
            </a:custGeom>
            <a:solidFill>
              <a:srgbClr val="2196F3"/>
            </a:solidFill>
            <a:ln>
              <a:noFill/>
            </a:ln>
          </p:spPr>
        </p:sp>
        <p:sp>
          <p:nvSpPr>
            <p:cNvPr id="39" name="Freeform 39"/>
            <p:cNvSpPr/>
            <p:nvPr/>
          </p:nvSpPr>
          <p:spPr>
            <a:xfrm>
              <a:off x="2476500" y="3190875"/>
              <a:ext cx="1143000" cy="571500"/>
            </a:xfrm>
            <a:custGeom>
              <a:avLst/>
              <a:gdLst/>
              <a:ahLst/>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2196F3"/>
            </a:solidFill>
            <a:ln>
              <a:noFill/>
            </a:ln>
          </p:spPr>
        </p:sp>
        <p:sp>
          <p:nvSpPr>
            <p:cNvPr id="40" name="TextBox 40"/>
            <p:cNvSpPr txBox="1"/>
            <p:nvPr/>
          </p:nvSpPr>
          <p:spPr>
            <a:xfrm>
              <a:off x="2897313" y="3342799"/>
              <a:ext cx="30137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SVM</a:t>
              </a:r>
            </a:p>
          </p:txBody>
        </p:sp>
        <p:sp>
          <p:nvSpPr>
            <p:cNvPr id="41" name="TextBox 41"/>
            <p:cNvSpPr txBox="1"/>
            <p:nvPr/>
          </p:nvSpPr>
          <p:spPr>
            <a:xfrm>
              <a:off x="2887861" y="3490912"/>
              <a:ext cx="320278" cy="152400"/>
            </a:xfrm>
            <a:prstGeom prst="rect">
              <a:avLst/>
            </a:prstGeom>
            <a:noFill/>
            <a:ln>
              <a:noFill/>
            </a:ln>
          </p:spPr>
          <p:txBody>
            <a:bodyPr wrap="none" lIns="0" tIns="0" rIns="0" bIns="0" anchor="t" anchorCtr="0">
              <a:spAutoFit/>
            </a:bodyPr>
            <a:lstStyle/>
            <a:p>
              <a:pPr algn="ctr"/>
              <a:r>
                <a:rPr lang="zh-CN" sz="750" dirty="0">
                  <a:solidFill>
                    <a:srgbClr val="BBDEFB"/>
                  </a:solidFill>
                  <a:latin typeface="Arial"/>
                  <a:ea typeface="Microsoft YaHei"/>
                  <a:cs typeface="Arial"/>
                </a:rPr>
                <a:t>76.9%</a:t>
              </a:r>
            </a:p>
          </p:txBody>
        </p:sp>
        <p:sp>
          <p:nvSpPr>
            <p:cNvPr id="42" name="Freeform 42"/>
            <p:cNvSpPr/>
            <p:nvPr/>
          </p:nvSpPr>
          <p:spPr>
            <a:xfrm>
              <a:off x="3810000" y="3190875"/>
              <a:ext cx="1143000" cy="571500"/>
            </a:xfrm>
            <a:custGeom>
              <a:avLst/>
              <a:gdLst/>
              <a:ahLst/>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16A34A"/>
            </a:solidFill>
            <a:ln>
              <a:noFill/>
            </a:ln>
          </p:spPr>
        </p:sp>
        <p:sp>
          <p:nvSpPr>
            <p:cNvPr id="43" name="TextBox 43"/>
            <p:cNvSpPr txBox="1"/>
            <p:nvPr/>
          </p:nvSpPr>
          <p:spPr>
            <a:xfrm>
              <a:off x="4286882" y="3342799"/>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RF</a:t>
              </a:r>
            </a:p>
          </p:txBody>
        </p:sp>
        <p:sp>
          <p:nvSpPr>
            <p:cNvPr id="44" name="TextBox 44"/>
            <p:cNvSpPr txBox="1"/>
            <p:nvPr/>
          </p:nvSpPr>
          <p:spPr>
            <a:xfrm>
              <a:off x="4235053" y="3490912"/>
              <a:ext cx="292894" cy="152400"/>
            </a:xfrm>
            <a:prstGeom prst="rect">
              <a:avLst/>
            </a:prstGeom>
            <a:noFill/>
            <a:ln>
              <a:noFill/>
            </a:ln>
          </p:spPr>
          <p:txBody>
            <a:bodyPr wrap="none" lIns="0" tIns="0" rIns="0" bIns="0" anchor="t" anchorCtr="0">
              <a:spAutoFit/>
            </a:bodyPr>
            <a:lstStyle/>
            <a:p>
              <a:pPr algn="ctr"/>
              <a:r>
                <a:rPr lang="zh-CN" sz="750" dirty="0">
                  <a:solidFill>
                    <a:srgbClr val="BBF1D0"/>
                  </a:solidFill>
                  <a:latin typeface="Arial"/>
                  <a:ea typeface="Microsoft YaHei"/>
                  <a:cs typeface="Arial"/>
                </a:rPr>
                <a:t>98.1%</a:t>
              </a:r>
            </a:p>
          </p:txBody>
        </p:sp>
        <p:sp>
          <p:nvSpPr>
            <p:cNvPr id="45" name="Freeform 45"/>
            <p:cNvSpPr/>
            <p:nvPr/>
          </p:nvSpPr>
          <p:spPr>
            <a:xfrm>
              <a:off x="5143500" y="3190875"/>
              <a:ext cx="1143000" cy="571500"/>
            </a:xfrm>
            <a:custGeom>
              <a:avLst/>
              <a:gdLst/>
              <a:ahLst/>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4A90D9"/>
            </a:solidFill>
            <a:ln>
              <a:noFill/>
            </a:ln>
          </p:spPr>
        </p:sp>
        <p:sp>
          <p:nvSpPr>
            <p:cNvPr id="46" name="TextBox 46"/>
            <p:cNvSpPr txBox="1"/>
            <p:nvPr/>
          </p:nvSpPr>
          <p:spPr>
            <a:xfrm>
              <a:off x="5564313" y="3342799"/>
              <a:ext cx="30137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MLP</a:t>
              </a:r>
            </a:p>
          </p:txBody>
        </p:sp>
        <p:sp>
          <p:nvSpPr>
            <p:cNvPr id="47" name="TextBox 47"/>
            <p:cNvSpPr txBox="1"/>
            <p:nvPr/>
          </p:nvSpPr>
          <p:spPr>
            <a:xfrm>
              <a:off x="5554861" y="3490912"/>
              <a:ext cx="320278" cy="152400"/>
            </a:xfrm>
            <a:prstGeom prst="rect">
              <a:avLst/>
            </a:prstGeom>
            <a:noFill/>
            <a:ln>
              <a:noFill/>
            </a:ln>
          </p:spPr>
          <p:txBody>
            <a:bodyPr wrap="none" lIns="0" tIns="0" rIns="0" bIns="0" anchor="t" anchorCtr="0">
              <a:spAutoFit/>
            </a:bodyPr>
            <a:lstStyle/>
            <a:p>
              <a:pPr algn="ctr"/>
              <a:r>
                <a:rPr lang="zh-CN" sz="750" dirty="0">
                  <a:solidFill>
                    <a:srgbClr val="BBDEFB"/>
                  </a:solidFill>
                  <a:latin typeface="Arial"/>
                  <a:ea typeface="Microsoft YaHei"/>
                  <a:cs typeface="Arial"/>
                </a:rPr>
                <a:t>96.3%</a:t>
              </a:r>
            </a:p>
          </p:txBody>
        </p:sp>
        <p:sp>
          <p:nvSpPr>
            <p:cNvPr id="48" name="Freeform 48"/>
            <p:cNvSpPr/>
            <p:nvPr/>
          </p:nvSpPr>
          <p:spPr>
            <a:xfrm>
              <a:off x="6477000" y="3190875"/>
              <a:ext cx="1143000" cy="571500"/>
            </a:xfrm>
            <a:custGeom>
              <a:avLst/>
              <a:gdLst/>
              <a:ahLst/>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D97706"/>
            </a:solidFill>
            <a:ln>
              <a:noFill/>
            </a:ln>
          </p:spPr>
        </p:sp>
        <p:sp>
          <p:nvSpPr>
            <p:cNvPr id="49" name="TextBox 49"/>
            <p:cNvSpPr txBox="1"/>
            <p:nvPr/>
          </p:nvSpPr>
          <p:spPr>
            <a:xfrm>
              <a:off x="6849219" y="3342799"/>
              <a:ext cx="39856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CNN1D</a:t>
              </a:r>
            </a:p>
          </p:txBody>
        </p:sp>
        <p:sp>
          <p:nvSpPr>
            <p:cNvPr id="50" name="TextBox 50"/>
            <p:cNvSpPr txBox="1"/>
            <p:nvPr/>
          </p:nvSpPr>
          <p:spPr>
            <a:xfrm>
              <a:off x="6888361" y="3490912"/>
              <a:ext cx="320278" cy="152400"/>
            </a:xfrm>
            <a:prstGeom prst="rect">
              <a:avLst/>
            </a:prstGeom>
            <a:noFill/>
            <a:ln>
              <a:noFill/>
            </a:ln>
          </p:spPr>
          <p:txBody>
            <a:bodyPr wrap="none" lIns="0" tIns="0" rIns="0" bIns="0" anchor="t" anchorCtr="0">
              <a:spAutoFit/>
            </a:bodyPr>
            <a:lstStyle/>
            <a:p>
              <a:pPr algn="ctr"/>
              <a:r>
                <a:rPr lang="zh-CN" sz="750" dirty="0">
                  <a:solidFill>
                    <a:srgbClr val="FEF3C7"/>
                  </a:solidFill>
                  <a:latin typeface="Arial"/>
                  <a:ea typeface="Microsoft YaHei"/>
                  <a:cs typeface="Arial"/>
                </a:rPr>
                <a:t>94.0%</a:t>
              </a:r>
            </a:p>
          </p:txBody>
        </p:sp>
        <p:sp>
          <p:nvSpPr>
            <p:cNvPr id="51" name="Freeform 51"/>
            <p:cNvSpPr/>
            <p:nvPr/>
          </p:nvSpPr>
          <p:spPr>
            <a:xfrm>
              <a:off x="7667625" y="3409950"/>
              <a:ext cx="285750" cy="38100"/>
            </a:xfrm>
            <a:custGeom>
              <a:avLst/>
              <a:gdLst/>
              <a:ahLst/>
              <a:cxnLst/>
              <a:rect l="l" t="t" r="r" b="b"/>
              <a:pathLst>
                <a:path w="285750" h="38100">
                  <a:moveTo>
                    <a:pt x="19050" y="0"/>
                  </a:moveTo>
                  <a:lnTo>
                    <a:pt x="266700" y="0"/>
                  </a:lnTo>
                  <a:cubicBezTo>
                    <a:pt x="277221" y="0"/>
                    <a:pt x="285750" y="8529"/>
                    <a:pt x="285750" y="19050"/>
                  </a:cubicBezTo>
                  <a:lnTo>
                    <a:pt x="285750" y="19050"/>
                  </a:lnTo>
                  <a:cubicBezTo>
                    <a:pt x="285750" y="29571"/>
                    <a:pt x="277221" y="38100"/>
                    <a:pt x="266700" y="38100"/>
                  </a:cubicBezTo>
                  <a:lnTo>
                    <a:pt x="19050" y="38100"/>
                  </a:lnTo>
                  <a:cubicBezTo>
                    <a:pt x="8529" y="38100"/>
                    <a:pt x="0" y="29571"/>
                    <a:pt x="0" y="19050"/>
                  </a:cubicBezTo>
                  <a:lnTo>
                    <a:pt x="0" y="19050"/>
                  </a:lnTo>
                  <a:cubicBezTo>
                    <a:pt x="0" y="8529"/>
                    <a:pt x="8529" y="0"/>
                    <a:pt x="19050" y="0"/>
                  </a:cubicBezTo>
                  <a:close/>
                </a:path>
              </a:pathLst>
            </a:custGeom>
            <a:solidFill>
              <a:srgbClr val="2196F3"/>
            </a:solidFill>
            <a:ln>
              <a:noFill/>
            </a:ln>
          </p:spPr>
        </p:sp>
        <p:sp>
          <p:nvSpPr>
            <p:cNvPr id="52" name="Freeform 52"/>
            <p:cNvSpPr/>
            <p:nvPr/>
          </p:nvSpPr>
          <p:spPr>
            <a:xfrm>
              <a:off x="8001000" y="3190875"/>
              <a:ext cx="1143000" cy="571500"/>
            </a:xfrm>
            <a:custGeom>
              <a:avLst/>
              <a:gdLst/>
              <a:ahLst/>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1B3A6B"/>
            </a:solidFill>
            <a:ln w="19050">
              <a:solidFill>
                <a:srgbClr val="2196F3"/>
              </a:solidFill>
            </a:ln>
          </p:spPr>
        </p:sp>
        <p:sp>
          <p:nvSpPr>
            <p:cNvPr id="53" name="TextBox 53"/>
            <p:cNvSpPr txBox="1"/>
            <p:nvPr/>
          </p:nvSpPr>
          <p:spPr>
            <a:xfrm>
              <a:off x="8285035" y="3303270"/>
              <a:ext cx="57492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加权融合</a:t>
              </a:r>
            </a:p>
          </p:txBody>
        </p:sp>
        <p:sp>
          <p:nvSpPr>
            <p:cNvPr id="54" name="TextBox 54"/>
            <p:cNvSpPr txBox="1"/>
            <p:nvPr/>
          </p:nvSpPr>
          <p:spPr>
            <a:xfrm>
              <a:off x="8083748" y="3462338"/>
              <a:ext cx="977503" cy="152400"/>
            </a:xfrm>
            <a:prstGeom prst="rect">
              <a:avLst/>
            </a:prstGeom>
            <a:noFill/>
            <a:ln>
              <a:noFill/>
            </a:ln>
          </p:spPr>
          <p:txBody>
            <a:bodyPr wrap="none" lIns="0" tIns="0" rIns="0" bIns="0" anchor="t" anchorCtr="0">
              <a:spAutoFit/>
            </a:bodyPr>
            <a:lstStyle/>
            <a:p>
              <a:pPr algn="ctr"/>
              <a:r>
                <a:rPr lang="zh-CN" sz="750" dirty="0">
                  <a:solidFill>
                    <a:srgbClr val="9CA3AF"/>
                  </a:solidFill>
                  <a:latin typeface="Arial"/>
                  <a:ea typeface="Microsoft YaHei"/>
                  <a:cs typeface="Arial"/>
                </a:rPr>
                <a:t>RF=27% MLP=26.4%</a:t>
              </a:r>
            </a:p>
          </p:txBody>
        </p:sp>
        <p:sp>
          <p:nvSpPr>
            <p:cNvPr id="55" name="TextBox 55"/>
            <p:cNvSpPr txBox="1"/>
            <p:nvPr/>
          </p:nvSpPr>
          <p:spPr>
            <a:xfrm>
              <a:off x="7960519" y="3576638"/>
              <a:ext cx="1223962" cy="152400"/>
            </a:xfrm>
            <a:prstGeom prst="rect">
              <a:avLst/>
            </a:prstGeom>
            <a:noFill/>
            <a:ln>
              <a:noFill/>
            </a:ln>
          </p:spPr>
          <p:txBody>
            <a:bodyPr wrap="none" lIns="0" tIns="0" rIns="0" bIns="0" anchor="t" anchorCtr="0">
              <a:spAutoFit/>
            </a:bodyPr>
            <a:lstStyle/>
            <a:p>
              <a:pPr algn="ctr"/>
              <a:r>
                <a:rPr lang="zh-CN" sz="750" dirty="0">
                  <a:solidFill>
                    <a:srgbClr val="9CA3AF"/>
                  </a:solidFill>
                  <a:latin typeface="Arial"/>
                  <a:ea typeface="Microsoft YaHei"/>
                  <a:cs typeface="Arial"/>
                </a:rPr>
                <a:t>CNN1D=26.1% SVM=20.6%</a:t>
              </a:r>
            </a:p>
          </p:txBody>
        </p:sp>
        <p:sp>
          <p:nvSpPr>
            <p:cNvPr id="56" name="Freeform 56"/>
            <p:cNvSpPr/>
            <p:nvPr/>
          </p:nvSpPr>
          <p:spPr>
            <a:xfrm>
              <a:off x="9191625" y="3409950"/>
              <a:ext cx="285750" cy="38100"/>
            </a:xfrm>
            <a:custGeom>
              <a:avLst/>
              <a:gdLst/>
              <a:ahLst/>
              <a:cxnLst/>
              <a:rect l="l" t="t" r="r" b="b"/>
              <a:pathLst>
                <a:path w="285750" h="38100">
                  <a:moveTo>
                    <a:pt x="19050" y="0"/>
                  </a:moveTo>
                  <a:lnTo>
                    <a:pt x="266700" y="0"/>
                  </a:lnTo>
                  <a:cubicBezTo>
                    <a:pt x="277221" y="0"/>
                    <a:pt x="285750" y="8529"/>
                    <a:pt x="285750" y="19050"/>
                  </a:cubicBezTo>
                  <a:lnTo>
                    <a:pt x="285750" y="19050"/>
                  </a:lnTo>
                  <a:cubicBezTo>
                    <a:pt x="285750" y="29571"/>
                    <a:pt x="277221" y="38100"/>
                    <a:pt x="266700" y="38100"/>
                  </a:cubicBezTo>
                  <a:lnTo>
                    <a:pt x="19050" y="38100"/>
                  </a:lnTo>
                  <a:cubicBezTo>
                    <a:pt x="8529" y="38100"/>
                    <a:pt x="0" y="29571"/>
                    <a:pt x="0" y="19050"/>
                  </a:cubicBezTo>
                  <a:lnTo>
                    <a:pt x="0" y="19050"/>
                  </a:lnTo>
                  <a:cubicBezTo>
                    <a:pt x="0" y="8529"/>
                    <a:pt x="8529" y="0"/>
                    <a:pt x="19050" y="0"/>
                  </a:cubicBezTo>
                  <a:close/>
                </a:path>
              </a:pathLst>
            </a:custGeom>
            <a:solidFill>
              <a:srgbClr val="2196F3"/>
            </a:solidFill>
            <a:ln>
              <a:noFill/>
            </a:ln>
          </p:spPr>
        </p:sp>
        <p:sp>
          <p:nvSpPr>
            <p:cNvPr id="57" name="Freeform 57"/>
            <p:cNvSpPr/>
            <p:nvPr/>
          </p:nvSpPr>
          <p:spPr>
            <a:xfrm>
              <a:off x="9525000" y="3190875"/>
              <a:ext cx="1333500" cy="571500"/>
            </a:xfrm>
            <a:custGeom>
              <a:avLst/>
              <a:gdLst/>
              <a:ahLst/>
              <a:cxnLst/>
              <a:rect l="l" t="t" r="r" b="b"/>
              <a:pathLst>
                <a:path w="1333500" h="571500">
                  <a:moveTo>
                    <a:pt x="57150" y="0"/>
                  </a:moveTo>
                  <a:lnTo>
                    <a:pt x="1276350" y="0"/>
                  </a:lnTo>
                  <a:cubicBezTo>
                    <a:pt x="1307913" y="0"/>
                    <a:pt x="1333500" y="25587"/>
                    <a:pt x="1333500" y="57150"/>
                  </a:cubicBezTo>
                  <a:lnTo>
                    <a:pt x="1333500" y="514350"/>
                  </a:lnTo>
                  <a:cubicBezTo>
                    <a:pt x="1333500" y="545913"/>
                    <a:pt x="1307913" y="571500"/>
                    <a:pt x="1276350" y="571500"/>
                  </a:cubicBezTo>
                  <a:lnTo>
                    <a:pt x="57150" y="571500"/>
                  </a:lnTo>
                  <a:cubicBezTo>
                    <a:pt x="25587" y="571500"/>
                    <a:pt x="0" y="545913"/>
                    <a:pt x="0" y="514350"/>
                  </a:cubicBezTo>
                  <a:lnTo>
                    <a:pt x="0" y="57150"/>
                  </a:lnTo>
                  <a:cubicBezTo>
                    <a:pt x="0" y="25587"/>
                    <a:pt x="25587" y="0"/>
                    <a:pt x="57150" y="0"/>
                  </a:cubicBezTo>
                  <a:close/>
                </a:path>
              </a:pathLst>
            </a:custGeom>
            <a:solidFill>
              <a:srgbClr val="1B3A6B"/>
            </a:solidFill>
            <a:ln>
              <a:noFill/>
            </a:ln>
          </p:spPr>
        </p:sp>
        <p:sp>
          <p:nvSpPr>
            <p:cNvPr id="58" name="TextBox 58"/>
            <p:cNvSpPr txBox="1"/>
            <p:nvPr/>
          </p:nvSpPr>
          <p:spPr>
            <a:xfrm>
              <a:off x="9880330" y="3323749"/>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毁伤等级</a:t>
              </a:r>
            </a:p>
          </p:txBody>
        </p:sp>
        <p:sp>
          <p:nvSpPr>
            <p:cNvPr id="59" name="TextBox 59"/>
            <p:cNvSpPr txBox="1"/>
            <p:nvPr/>
          </p:nvSpPr>
          <p:spPr>
            <a:xfrm>
              <a:off x="9605927" y="3501866"/>
              <a:ext cx="1171646" cy="167640"/>
            </a:xfrm>
            <a:prstGeom prst="rect">
              <a:avLst/>
            </a:prstGeom>
            <a:noFill/>
            <a:ln>
              <a:noFill/>
            </a:ln>
          </p:spPr>
          <p:txBody>
            <a:bodyPr wrap="none" lIns="0" tIns="0" rIns="0" bIns="0" anchor="t" anchorCtr="0">
              <a:spAutoFit/>
            </a:bodyPr>
            <a:lstStyle/>
            <a:p>
              <a:pPr algn="ctr"/>
              <a:r>
                <a:rPr lang="zh-CN" sz="825" dirty="0">
                  <a:solidFill>
                    <a:srgbClr val="4A90D9"/>
                  </a:solidFill>
                  <a:latin typeface="Arial"/>
                  <a:ea typeface="Microsoft YaHei"/>
                  <a:cs typeface="Arial"/>
                </a:rPr>
                <a:t>Low / Medium / High</a:t>
              </a:r>
            </a:p>
          </p:txBody>
        </p:sp>
      </p:grpSp>
      <p:grpSp>
        <p:nvGrpSpPr>
          <p:cNvPr id="65" name="Group 65"/>
          <p:cNvGrpSpPr/>
          <p:nvPr/>
        </p:nvGrpSpPr>
        <p:grpSpPr>
          <a:xfrm>
            <a:off x="571500" y="4095750"/>
            <a:ext cx="11049000" cy="740569"/>
            <a:chOff x="571500" y="4095750"/>
            <a:chExt cx="11049000" cy="740569"/>
          </a:xfrm>
        </p:grpSpPr>
        <p:sp>
          <p:nvSpPr>
            <p:cNvPr id="61" name="Freeform 61"/>
            <p:cNvSpPr/>
            <p:nvPr/>
          </p:nvSpPr>
          <p:spPr>
            <a:xfrm>
              <a:off x="571500" y="4095750"/>
              <a:ext cx="11049000" cy="666750"/>
            </a:xfrm>
            <a:custGeom>
              <a:avLst/>
              <a:gdLst/>
              <a:ahLst/>
              <a:cxnLst/>
              <a:rect l="l" t="t" r="r" b="b"/>
              <a:pathLst>
                <a:path w="11049000" h="666750">
                  <a:moveTo>
                    <a:pt x="76200" y="0"/>
                  </a:moveTo>
                  <a:lnTo>
                    <a:pt x="10972800" y="0"/>
                  </a:lnTo>
                  <a:cubicBezTo>
                    <a:pt x="11014884" y="0"/>
                    <a:pt x="11049000" y="34116"/>
                    <a:pt x="11049000" y="76200"/>
                  </a:cubicBezTo>
                  <a:lnTo>
                    <a:pt x="11049000" y="590550"/>
                  </a:lnTo>
                  <a:cubicBezTo>
                    <a:pt x="11049000" y="632634"/>
                    <a:pt x="11014884" y="666750"/>
                    <a:pt x="10972800" y="666750"/>
                  </a:cubicBezTo>
                  <a:lnTo>
                    <a:pt x="76200" y="666750"/>
                  </a:lnTo>
                  <a:cubicBezTo>
                    <a:pt x="34116" y="666750"/>
                    <a:pt x="0" y="632634"/>
                    <a:pt x="0" y="590550"/>
                  </a:cubicBezTo>
                  <a:lnTo>
                    <a:pt x="0" y="76200"/>
                  </a:lnTo>
                  <a:cubicBezTo>
                    <a:pt x="0" y="34116"/>
                    <a:pt x="34116" y="0"/>
                    <a:pt x="76200" y="0"/>
                  </a:cubicBezTo>
                  <a:close/>
                </a:path>
              </a:pathLst>
            </a:custGeom>
            <a:solidFill>
              <a:srgbClr val="F8FAFC"/>
            </a:solidFill>
            <a:ln w="9525">
              <a:solidFill>
                <a:srgbClr val="E5E7EB"/>
              </a:solidFill>
            </a:ln>
          </p:spPr>
        </p:sp>
        <p:sp>
          <p:nvSpPr>
            <p:cNvPr id="62" name="TextBox 62"/>
            <p:cNvSpPr txBox="1"/>
            <p:nvPr/>
          </p:nvSpPr>
          <p:spPr>
            <a:xfrm>
              <a:off x="748665" y="4249102"/>
              <a:ext cx="1153811"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两阶段推理流程</a:t>
              </a:r>
            </a:p>
          </p:txBody>
        </p:sp>
        <p:sp>
          <p:nvSpPr>
            <p:cNvPr id="63" name="TextBox 63"/>
            <p:cNvSpPr txBox="1"/>
            <p:nvPr/>
          </p:nvSpPr>
          <p:spPr>
            <a:xfrm>
              <a:off x="749618" y="4485799"/>
              <a:ext cx="497312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阶段1：遍历设施内每个单体建筑 → 获取各建筑毁伤等级 + 预测概率 + 不确定度</a:t>
              </a:r>
            </a:p>
          </p:txBody>
        </p:sp>
        <p:sp>
          <p:nvSpPr>
            <p:cNvPr id="64" name="TextBox 64"/>
            <p:cNvSpPr txBox="1"/>
            <p:nvPr/>
          </p:nvSpPr>
          <p:spPr>
            <a:xfrm>
              <a:off x="749618" y="4638199"/>
              <a:ext cx="479512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阶段2：通过汇总算法（最大法/加权法/阈值法）→ 聚合为设施整体毁伤等级</a:t>
              </a:r>
            </a:p>
          </p:txBody>
        </p:sp>
      </p:grpSp>
      <p:grpSp>
        <p:nvGrpSpPr>
          <p:cNvPr id="91" name="Group 91"/>
          <p:cNvGrpSpPr/>
          <p:nvPr/>
        </p:nvGrpSpPr>
        <p:grpSpPr>
          <a:xfrm>
            <a:off x="558165" y="5030152"/>
            <a:ext cx="11109960" cy="1113473"/>
            <a:chOff x="558165" y="5030152"/>
            <a:chExt cx="11109960" cy="1113473"/>
          </a:xfrm>
        </p:grpSpPr>
        <p:sp>
          <p:nvSpPr>
            <p:cNvPr id="66" name="TextBox 66"/>
            <p:cNvSpPr txBox="1"/>
            <p:nvPr/>
          </p:nvSpPr>
          <p:spPr>
            <a:xfrm>
              <a:off x="558165" y="5030152"/>
              <a:ext cx="670750"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模型细节</a:t>
              </a:r>
            </a:p>
          </p:txBody>
        </p:sp>
        <p:grpSp>
          <p:nvGrpSpPr>
            <p:cNvPr id="72" name="Group 72"/>
            <p:cNvGrpSpPr/>
            <p:nvPr/>
          </p:nvGrpSpPr>
          <p:grpSpPr>
            <a:xfrm>
              <a:off x="571500" y="5286375"/>
              <a:ext cx="2667000" cy="857250"/>
              <a:chOff x="571500" y="5286375"/>
              <a:chExt cx="2667000" cy="857250"/>
            </a:xfrm>
          </p:grpSpPr>
          <p:sp>
            <p:nvSpPr>
              <p:cNvPr id="67" name="Freeform 67"/>
              <p:cNvSpPr/>
              <p:nvPr/>
            </p:nvSpPr>
            <p:spPr>
              <a:xfrm>
                <a:off x="571500" y="5286375"/>
                <a:ext cx="2667000" cy="857250"/>
              </a:xfrm>
              <a:custGeom>
                <a:avLst/>
                <a:gdLst/>
                <a:ahLst/>
                <a:cxnLst/>
                <a:rect l="l" t="t" r="r" b="b"/>
                <a:pathLst>
                  <a:path w="2667000" h="857250">
                    <a:moveTo>
                      <a:pt x="57150" y="0"/>
                    </a:moveTo>
                    <a:lnTo>
                      <a:pt x="2609850" y="0"/>
                    </a:lnTo>
                    <a:cubicBezTo>
                      <a:pt x="2641413" y="0"/>
                      <a:pt x="2667000" y="25587"/>
                      <a:pt x="2667000" y="57150"/>
                    </a:cubicBezTo>
                    <a:lnTo>
                      <a:pt x="2667000" y="800100"/>
                    </a:lnTo>
                    <a:cubicBezTo>
                      <a:pt x="2667000" y="831663"/>
                      <a:pt x="2641413" y="857250"/>
                      <a:pt x="2609850" y="857250"/>
                    </a:cubicBezTo>
                    <a:lnTo>
                      <a:pt x="57150" y="857250"/>
                    </a:lnTo>
                    <a:cubicBezTo>
                      <a:pt x="25587" y="857250"/>
                      <a:pt x="0" y="831663"/>
                      <a:pt x="0" y="800100"/>
                    </a:cubicBezTo>
                    <a:lnTo>
                      <a:pt x="0" y="57150"/>
                    </a:lnTo>
                    <a:cubicBezTo>
                      <a:pt x="0" y="25587"/>
                      <a:pt x="25587" y="0"/>
                      <a:pt x="57150" y="0"/>
                    </a:cubicBezTo>
                    <a:close/>
                  </a:path>
                </a:pathLst>
              </a:custGeom>
              <a:gradFill>
                <a:gsLst>
                  <a:gs pos="0">
                    <a:srgbClr val="F8FAFC"/>
                  </a:gs>
                  <a:gs pos="100000">
                    <a:srgbClr val="FFFFFF"/>
                  </a:gs>
                </a:gsLst>
                <a:lin ang="5400000" scaled="1"/>
              </a:gradFill>
              <a:ln w="9525">
                <a:solidFill>
                  <a:srgbClr val="E5E7EB"/>
                </a:solidFill>
              </a:ln>
            </p:spPr>
          </p:sp>
          <p:sp>
            <p:nvSpPr>
              <p:cNvPr id="68" name="TextBox 68"/>
              <p:cNvSpPr txBox="1"/>
              <p:nvPr/>
            </p:nvSpPr>
            <p:spPr>
              <a:xfrm>
                <a:off x="702945" y="5398770"/>
                <a:ext cx="1244313" cy="182880"/>
              </a:xfrm>
              <a:prstGeom prst="rect">
                <a:avLst/>
              </a:prstGeom>
              <a:noFill/>
              <a:ln>
                <a:noFill/>
              </a:ln>
            </p:spPr>
            <p:txBody>
              <a:bodyPr wrap="none" lIns="0" tIns="0" rIns="0" bIns="0" anchor="t" anchorCtr="0">
                <a:spAutoFit/>
              </a:bodyPr>
              <a:lstStyle/>
              <a:p>
                <a:pPr algn="l"/>
                <a:r>
                  <a:rPr lang="zh-CN" sz="900" b="1" dirty="0">
                    <a:solidFill>
                      <a:srgbClr val="1B3A6B"/>
                    </a:solidFill>
                    <a:latin typeface="Arial"/>
                    <a:ea typeface="Microsoft YaHei"/>
                    <a:cs typeface="Arial"/>
                  </a:rPr>
                  <a:t>SVM（支持向量机）</a:t>
                </a:r>
              </a:p>
            </p:txBody>
          </p:sp>
          <p:sp>
            <p:nvSpPr>
              <p:cNvPr id="69" name="TextBox 69"/>
              <p:cNvSpPr txBox="1"/>
              <p:nvPr/>
            </p:nvSpPr>
            <p:spPr>
              <a:xfrm>
                <a:off x="703898" y="5597366"/>
                <a:ext cx="132226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RBF核 · 适中小规模数据</a:t>
                </a:r>
              </a:p>
            </p:txBody>
          </p:sp>
          <p:sp>
            <p:nvSpPr>
              <p:cNvPr id="70" name="TextBox 70"/>
              <p:cNvSpPr txBox="1"/>
              <p:nvPr/>
            </p:nvSpPr>
            <p:spPr>
              <a:xfrm>
                <a:off x="703898" y="5768816"/>
                <a:ext cx="148492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PyTorch + sklearn · Adam</a:t>
                </a:r>
              </a:p>
            </p:txBody>
          </p:sp>
          <p:sp>
            <p:nvSpPr>
              <p:cNvPr id="71" name="TextBox 71"/>
              <p:cNvSpPr txBox="1"/>
              <p:nvPr/>
            </p:nvSpPr>
            <p:spPr>
              <a:xfrm>
                <a:off x="703898" y="5940266"/>
                <a:ext cx="936688" cy="167640"/>
              </a:xfrm>
              <a:prstGeom prst="rect">
                <a:avLst/>
              </a:prstGeom>
              <a:noFill/>
              <a:ln>
                <a:noFill/>
              </a:ln>
            </p:spPr>
            <p:txBody>
              <a:bodyPr wrap="none" lIns="0" tIns="0" rIns="0" bIns="0" anchor="t" anchorCtr="0">
                <a:spAutoFit/>
              </a:bodyPr>
              <a:lstStyle/>
              <a:p>
                <a:pPr algn="l"/>
                <a:r>
                  <a:rPr lang="zh-CN" sz="825" dirty="0">
                    <a:solidFill>
                      <a:srgbClr val="D97706"/>
                    </a:solidFill>
                    <a:latin typeface="Arial"/>
                    <a:ea typeface="Microsoft YaHei"/>
                    <a:cs typeface="Arial"/>
                  </a:rPr>
                  <a:t>融合权重: 20.6%</a:t>
                </a:r>
              </a:p>
            </p:txBody>
          </p:sp>
        </p:grpSp>
        <p:grpSp>
          <p:nvGrpSpPr>
            <p:cNvPr id="78" name="Group 78"/>
            <p:cNvGrpSpPr/>
            <p:nvPr/>
          </p:nvGrpSpPr>
          <p:grpSpPr>
            <a:xfrm>
              <a:off x="3381375" y="5286375"/>
              <a:ext cx="2667000" cy="857250"/>
              <a:chOff x="3381375" y="5286375"/>
              <a:chExt cx="2667000" cy="857250"/>
            </a:xfrm>
          </p:grpSpPr>
          <p:sp>
            <p:nvSpPr>
              <p:cNvPr id="73" name="Freeform 73"/>
              <p:cNvSpPr/>
              <p:nvPr/>
            </p:nvSpPr>
            <p:spPr>
              <a:xfrm>
                <a:off x="3381375" y="5286375"/>
                <a:ext cx="2667000" cy="857250"/>
              </a:xfrm>
              <a:custGeom>
                <a:avLst/>
                <a:gdLst/>
                <a:ahLst/>
                <a:cxnLst/>
                <a:rect l="l" t="t" r="r" b="b"/>
                <a:pathLst>
                  <a:path w="2667000" h="857250">
                    <a:moveTo>
                      <a:pt x="57150" y="0"/>
                    </a:moveTo>
                    <a:lnTo>
                      <a:pt x="2609850" y="0"/>
                    </a:lnTo>
                    <a:cubicBezTo>
                      <a:pt x="2641413" y="0"/>
                      <a:pt x="2667000" y="25587"/>
                      <a:pt x="2667000" y="57150"/>
                    </a:cubicBezTo>
                    <a:lnTo>
                      <a:pt x="2667000" y="800100"/>
                    </a:lnTo>
                    <a:cubicBezTo>
                      <a:pt x="2667000" y="831663"/>
                      <a:pt x="2641413" y="857250"/>
                      <a:pt x="2609850" y="857250"/>
                    </a:cubicBezTo>
                    <a:lnTo>
                      <a:pt x="57150" y="857250"/>
                    </a:lnTo>
                    <a:cubicBezTo>
                      <a:pt x="25587" y="857250"/>
                      <a:pt x="0" y="831663"/>
                      <a:pt x="0" y="800100"/>
                    </a:cubicBezTo>
                    <a:lnTo>
                      <a:pt x="0" y="57150"/>
                    </a:lnTo>
                    <a:cubicBezTo>
                      <a:pt x="0" y="25587"/>
                      <a:pt x="25587" y="0"/>
                      <a:pt x="57150" y="0"/>
                    </a:cubicBezTo>
                    <a:close/>
                  </a:path>
                </a:pathLst>
              </a:custGeom>
              <a:gradFill>
                <a:gsLst>
                  <a:gs pos="0">
                    <a:srgbClr val="F8FAFC"/>
                  </a:gs>
                  <a:gs pos="100000">
                    <a:srgbClr val="FFFFFF"/>
                  </a:gs>
                </a:gsLst>
                <a:lin ang="5400000" scaled="1"/>
              </a:gradFill>
              <a:ln w="9525">
                <a:solidFill>
                  <a:srgbClr val="E5E7EB"/>
                </a:solidFill>
              </a:ln>
            </p:spPr>
          </p:sp>
          <p:sp>
            <p:nvSpPr>
              <p:cNvPr id="74" name="TextBox 74"/>
              <p:cNvSpPr txBox="1"/>
              <p:nvPr/>
            </p:nvSpPr>
            <p:spPr>
              <a:xfrm>
                <a:off x="3512820" y="5398770"/>
                <a:ext cx="1002782" cy="182880"/>
              </a:xfrm>
              <a:prstGeom prst="rect">
                <a:avLst/>
              </a:prstGeom>
              <a:noFill/>
              <a:ln>
                <a:noFill/>
              </a:ln>
            </p:spPr>
            <p:txBody>
              <a:bodyPr wrap="none" lIns="0" tIns="0" rIns="0" bIns="0" anchor="t" anchorCtr="0">
                <a:spAutoFit/>
              </a:bodyPr>
              <a:lstStyle/>
              <a:p>
                <a:pPr algn="l"/>
                <a:r>
                  <a:rPr lang="zh-CN" sz="900" b="1" dirty="0">
                    <a:solidFill>
                      <a:srgbClr val="1B3A6B"/>
                    </a:solidFill>
                    <a:latin typeface="Arial"/>
                    <a:ea typeface="Microsoft YaHei"/>
                    <a:cs typeface="Arial"/>
                  </a:rPr>
                  <a:t>RF（随机森林）</a:t>
                </a:r>
              </a:p>
            </p:txBody>
          </p:sp>
          <p:sp>
            <p:nvSpPr>
              <p:cNvPr id="75" name="TextBox 75"/>
              <p:cNvSpPr txBox="1"/>
              <p:nvPr/>
            </p:nvSpPr>
            <p:spPr>
              <a:xfrm>
                <a:off x="3513772" y="5597366"/>
                <a:ext cx="1647587"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100棵决策树 · Bootstrap采样</a:t>
                </a:r>
              </a:p>
            </p:txBody>
          </p:sp>
          <p:sp>
            <p:nvSpPr>
              <p:cNvPr id="76" name="TextBox 76"/>
              <p:cNvSpPr txBox="1"/>
              <p:nvPr/>
            </p:nvSpPr>
            <p:spPr>
              <a:xfrm>
                <a:off x="3513772" y="5768816"/>
                <a:ext cx="181627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投票机制输出 · 验证集最高98.8%</a:t>
                </a:r>
              </a:p>
            </p:txBody>
          </p:sp>
          <p:sp>
            <p:nvSpPr>
              <p:cNvPr id="77" name="TextBox 77"/>
              <p:cNvSpPr txBox="1"/>
              <p:nvPr/>
            </p:nvSpPr>
            <p:spPr>
              <a:xfrm>
                <a:off x="3513772" y="5940266"/>
                <a:ext cx="936688" cy="167640"/>
              </a:xfrm>
              <a:prstGeom prst="rect">
                <a:avLst/>
              </a:prstGeom>
              <a:noFill/>
              <a:ln>
                <a:noFill/>
              </a:ln>
            </p:spPr>
            <p:txBody>
              <a:bodyPr wrap="none" lIns="0" tIns="0" rIns="0" bIns="0" anchor="t" anchorCtr="0">
                <a:spAutoFit/>
              </a:bodyPr>
              <a:lstStyle/>
              <a:p>
                <a:pPr algn="l"/>
                <a:r>
                  <a:rPr lang="zh-CN" sz="825" dirty="0">
                    <a:solidFill>
                      <a:srgbClr val="16A34A"/>
                    </a:solidFill>
                    <a:latin typeface="Arial"/>
                    <a:ea typeface="Microsoft YaHei"/>
                    <a:cs typeface="Arial"/>
                  </a:rPr>
                  <a:t>融合权重: 27.0%</a:t>
                </a:r>
              </a:p>
            </p:txBody>
          </p:sp>
        </p:grpSp>
        <p:grpSp>
          <p:nvGrpSpPr>
            <p:cNvPr id="84" name="Group 84"/>
            <p:cNvGrpSpPr/>
            <p:nvPr/>
          </p:nvGrpSpPr>
          <p:grpSpPr>
            <a:xfrm>
              <a:off x="6191250" y="5286375"/>
              <a:ext cx="2667000" cy="857250"/>
              <a:chOff x="6191250" y="5286375"/>
              <a:chExt cx="2667000" cy="857250"/>
            </a:xfrm>
          </p:grpSpPr>
          <p:sp>
            <p:nvSpPr>
              <p:cNvPr id="79" name="Freeform 79"/>
              <p:cNvSpPr/>
              <p:nvPr/>
            </p:nvSpPr>
            <p:spPr>
              <a:xfrm>
                <a:off x="6191250" y="5286375"/>
                <a:ext cx="2667000" cy="857250"/>
              </a:xfrm>
              <a:custGeom>
                <a:avLst/>
                <a:gdLst/>
                <a:ahLst/>
                <a:cxnLst/>
                <a:rect l="l" t="t" r="r" b="b"/>
                <a:pathLst>
                  <a:path w="2667000" h="857250">
                    <a:moveTo>
                      <a:pt x="57150" y="0"/>
                    </a:moveTo>
                    <a:lnTo>
                      <a:pt x="2609850" y="0"/>
                    </a:lnTo>
                    <a:cubicBezTo>
                      <a:pt x="2641413" y="0"/>
                      <a:pt x="2667000" y="25587"/>
                      <a:pt x="2667000" y="57150"/>
                    </a:cubicBezTo>
                    <a:lnTo>
                      <a:pt x="2667000" y="800100"/>
                    </a:lnTo>
                    <a:cubicBezTo>
                      <a:pt x="2667000" y="831663"/>
                      <a:pt x="2641413" y="857250"/>
                      <a:pt x="2609850" y="857250"/>
                    </a:cubicBezTo>
                    <a:lnTo>
                      <a:pt x="57150" y="857250"/>
                    </a:lnTo>
                    <a:cubicBezTo>
                      <a:pt x="25587" y="857250"/>
                      <a:pt x="0" y="831663"/>
                      <a:pt x="0" y="800100"/>
                    </a:cubicBezTo>
                    <a:lnTo>
                      <a:pt x="0" y="57150"/>
                    </a:lnTo>
                    <a:cubicBezTo>
                      <a:pt x="0" y="25587"/>
                      <a:pt x="25587" y="0"/>
                      <a:pt x="57150" y="0"/>
                    </a:cubicBezTo>
                    <a:close/>
                  </a:path>
                </a:pathLst>
              </a:custGeom>
              <a:gradFill>
                <a:gsLst>
                  <a:gs pos="0">
                    <a:srgbClr val="F8FAFC"/>
                  </a:gs>
                  <a:gs pos="100000">
                    <a:srgbClr val="FFFFFF"/>
                  </a:gs>
                </a:gsLst>
                <a:lin ang="5400000" scaled="1"/>
              </a:gradFill>
              <a:ln w="9525">
                <a:solidFill>
                  <a:srgbClr val="E5E7EB"/>
                </a:solidFill>
              </a:ln>
            </p:spPr>
          </p:sp>
          <p:sp>
            <p:nvSpPr>
              <p:cNvPr id="80" name="TextBox 80"/>
              <p:cNvSpPr txBox="1"/>
              <p:nvPr/>
            </p:nvSpPr>
            <p:spPr>
              <a:xfrm>
                <a:off x="6322695" y="5398770"/>
                <a:ext cx="1244313" cy="182880"/>
              </a:xfrm>
              <a:prstGeom prst="rect">
                <a:avLst/>
              </a:prstGeom>
              <a:noFill/>
              <a:ln>
                <a:noFill/>
              </a:ln>
            </p:spPr>
            <p:txBody>
              <a:bodyPr wrap="none" lIns="0" tIns="0" rIns="0" bIns="0" anchor="t" anchorCtr="0">
                <a:spAutoFit/>
              </a:bodyPr>
              <a:lstStyle/>
              <a:p>
                <a:pPr algn="l"/>
                <a:r>
                  <a:rPr lang="zh-CN" sz="900" b="1" dirty="0">
                    <a:solidFill>
                      <a:srgbClr val="1B3A6B"/>
                    </a:solidFill>
                    <a:latin typeface="Arial"/>
                    <a:ea typeface="Microsoft YaHei"/>
                    <a:cs typeface="Arial"/>
                  </a:rPr>
                  <a:t>MLP（多层感知机）</a:t>
                </a:r>
              </a:p>
            </p:txBody>
          </p:sp>
          <p:sp>
            <p:nvSpPr>
              <p:cNvPr id="81" name="TextBox 81"/>
              <p:cNvSpPr txBox="1"/>
              <p:nvPr/>
            </p:nvSpPr>
            <p:spPr>
              <a:xfrm>
                <a:off x="6323648" y="5597366"/>
                <a:ext cx="188254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3层: 128-64-32 · ReLU + Dropout</a:t>
                </a:r>
              </a:p>
            </p:txBody>
          </p:sp>
          <p:sp>
            <p:nvSpPr>
              <p:cNvPr id="82" name="TextBox 82"/>
              <p:cNvSpPr txBox="1"/>
              <p:nvPr/>
            </p:nvSpPr>
            <p:spPr>
              <a:xfrm>
                <a:off x="6323648" y="5768816"/>
                <a:ext cx="211147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PyTorch · Adam (lr=0.001, wd=1e-4)</a:t>
                </a:r>
              </a:p>
            </p:txBody>
          </p:sp>
          <p:sp>
            <p:nvSpPr>
              <p:cNvPr id="83" name="TextBox 83"/>
              <p:cNvSpPr txBox="1"/>
              <p:nvPr/>
            </p:nvSpPr>
            <p:spPr>
              <a:xfrm>
                <a:off x="6323648" y="5940266"/>
                <a:ext cx="936688" cy="167640"/>
              </a:xfrm>
              <a:prstGeom prst="rect">
                <a:avLst/>
              </a:prstGeom>
              <a:noFill/>
              <a:ln>
                <a:noFill/>
              </a:ln>
            </p:spPr>
            <p:txBody>
              <a:bodyPr wrap="none" lIns="0" tIns="0" rIns="0" bIns="0" anchor="t" anchorCtr="0">
                <a:spAutoFit/>
              </a:bodyPr>
              <a:lstStyle/>
              <a:p>
                <a:pPr algn="l"/>
                <a:r>
                  <a:rPr lang="zh-CN" sz="825" dirty="0">
                    <a:solidFill>
                      <a:srgbClr val="4A90D9"/>
                    </a:solidFill>
                    <a:latin typeface="Arial"/>
                    <a:ea typeface="Microsoft YaHei"/>
                    <a:cs typeface="Arial"/>
                  </a:rPr>
                  <a:t>融合权重: 26.4%</a:t>
                </a:r>
              </a:p>
            </p:txBody>
          </p:sp>
        </p:grpSp>
        <p:grpSp>
          <p:nvGrpSpPr>
            <p:cNvPr id="90" name="Group 90"/>
            <p:cNvGrpSpPr/>
            <p:nvPr/>
          </p:nvGrpSpPr>
          <p:grpSpPr>
            <a:xfrm>
              <a:off x="9001125" y="5286375"/>
              <a:ext cx="2667000" cy="857250"/>
              <a:chOff x="9001125" y="5286375"/>
              <a:chExt cx="2667000" cy="857250"/>
            </a:xfrm>
          </p:grpSpPr>
          <p:sp>
            <p:nvSpPr>
              <p:cNvPr id="85" name="Freeform 85"/>
              <p:cNvSpPr/>
              <p:nvPr/>
            </p:nvSpPr>
            <p:spPr>
              <a:xfrm>
                <a:off x="9001125" y="5286375"/>
                <a:ext cx="2667000" cy="857250"/>
              </a:xfrm>
              <a:custGeom>
                <a:avLst/>
                <a:gdLst/>
                <a:ahLst/>
                <a:cxnLst/>
                <a:rect l="l" t="t" r="r" b="b"/>
                <a:pathLst>
                  <a:path w="2667000" h="857250">
                    <a:moveTo>
                      <a:pt x="57150" y="0"/>
                    </a:moveTo>
                    <a:lnTo>
                      <a:pt x="2609850" y="0"/>
                    </a:lnTo>
                    <a:cubicBezTo>
                      <a:pt x="2641413" y="0"/>
                      <a:pt x="2667000" y="25587"/>
                      <a:pt x="2667000" y="57150"/>
                    </a:cubicBezTo>
                    <a:lnTo>
                      <a:pt x="2667000" y="800100"/>
                    </a:lnTo>
                    <a:cubicBezTo>
                      <a:pt x="2667000" y="831663"/>
                      <a:pt x="2641413" y="857250"/>
                      <a:pt x="2609850" y="857250"/>
                    </a:cubicBezTo>
                    <a:lnTo>
                      <a:pt x="57150" y="857250"/>
                    </a:lnTo>
                    <a:cubicBezTo>
                      <a:pt x="25587" y="857250"/>
                      <a:pt x="0" y="831663"/>
                      <a:pt x="0" y="800100"/>
                    </a:cubicBezTo>
                    <a:lnTo>
                      <a:pt x="0" y="57150"/>
                    </a:lnTo>
                    <a:cubicBezTo>
                      <a:pt x="0" y="25587"/>
                      <a:pt x="25587" y="0"/>
                      <a:pt x="57150" y="0"/>
                    </a:cubicBezTo>
                    <a:close/>
                  </a:path>
                </a:pathLst>
              </a:custGeom>
              <a:gradFill>
                <a:gsLst>
                  <a:gs pos="0">
                    <a:srgbClr val="F8FAFC"/>
                  </a:gs>
                  <a:gs pos="100000">
                    <a:srgbClr val="FFFFFF"/>
                  </a:gs>
                </a:gsLst>
                <a:lin ang="5400000" scaled="1"/>
              </a:gradFill>
              <a:ln w="9525">
                <a:solidFill>
                  <a:srgbClr val="E5E7EB"/>
                </a:solidFill>
              </a:ln>
            </p:spPr>
          </p:sp>
          <p:sp>
            <p:nvSpPr>
              <p:cNvPr id="86" name="TextBox 86"/>
              <p:cNvSpPr txBox="1"/>
              <p:nvPr/>
            </p:nvSpPr>
            <p:spPr>
              <a:xfrm>
                <a:off x="9132570" y="5398770"/>
                <a:ext cx="1748076" cy="182880"/>
              </a:xfrm>
              <a:prstGeom prst="rect">
                <a:avLst/>
              </a:prstGeom>
              <a:noFill/>
              <a:ln>
                <a:noFill/>
              </a:ln>
            </p:spPr>
            <p:txBody>
              <a:bodyPr wrap="none" lIns="0" tIns="0" rIns="0" bIns="0" anchor="t" anchorCtr="0">
                <a:spAutoFit/>
              </a:bodyPr>
              <a:lstStyle/>
              <a:p>
                <a:pPr algn="l"/>
                <a:r>
                  <a:rPr lang="zh-CN" sz="900" b="1" dirty="0">
                    <a:solidFill>
                      <a:srgbClr val="1B3A6B"/>
                    </a:solidFill>
                    <a:latin typeface="Arial"/>
                    <a:ea typeface="Microsoft YaHei"/>
                    <a:cs typeface="Arial"/>
                  </a:rPr>
                  <a:t>CNN1D（一维卷积神经网络）</a:t>
                </a:r>
              </a:p>
            </p:txBody>
          </p:sp>
          <p:sp>
            <p:nvSpPr>
              <p:cNvPr id="87" name="TextBox 87"/>
              <p:cNvSpPr txBox="1"/>
              <p:nvPr/>
            </p:nvSpPr>
            <p:spPr>
              <a:xfrm>
                <a:off x="9133522" y="5597366"/>
                <a:ext cx="155119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2层一维卷积 · 局部特征提取</a:t>
                </a:r>
              </a:p>
            </p:txBody>
          </p:sp>
          <p:sp>
            <p:nvSpPr>
              <p:cNvPr id="88" name="TextBox 88"/>
              <p:cNvSpPr txBox="1"/>
              <p:nvPr/>
            </p:nvSpPr>
            <p:spPr>
              <a:xfrm>
                <a:off x="9133522" y="5768816"/>
                <a:ext cx="211147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PyTorch · Adam (lr=0.001, wd=1e-4)</a:t>
                </a:r>
              </a:p>
            </p:txBody>
          </p:sp>
          <p:sp>
            <p:nvSpPr>
              <p:cNvPr id="89" name="TextBox 89"/>
              <p:cNvSpPr txBox="1"/>
              <p:nvPr/>
            </p:nvSpPr>
            <p:spPr>
              <a:xfrm>
                <a:off x="9133522" y="5940266"/>
                <a:ext cx="906566" cy="167640"/>
              </a:xfrm>
              <a:prstGeom prst="rect">
                <a:avLst/>
              </a:prstGeom>
              <a:noFill/>
              <a:ln>
                <a:noFill/>
              </a:ln>
            </p:spPr>
            <p:txBody>
              <a:bodyPr wrap="none" lIns="0" tIns="0" rIns="0" bIns="0" anchor="t" anchorCtr="0">
                <a:spAutoFit/>
              </a:bodyPr>
              <a:lstStyle/>
              <a:p>
                <a:pPr algn="l"/>
                <a:r>
                  <a:rPr lang="zh-CN" sz="825" dirty="0">
                    <a:solidFill>
                      <a:srgbClr val="D97706"/>
                    </a:solidFill>
                    <a:latin typeface="Arial"/>
                    <a:ea typeface="Microsoft YaHei"/>
                    <a:cs typeface="Arial"/>
                  </a:rPr>
                  <a:t>融合权重: 26.1%</a:t>
                </a:r>
              </a:p>
            </p:txBody>
          </p:sp>
        </p:grpSp>
      </p:grpSp>
      <p:sp>
        <p:nvSpPr>
          <p:cNvPr id="92" name="TextBox 92"/>
          <p:cNvSpPr txBox="1"/>
          <p:nvPr/>
        </p:nvSpPr>
        <p:spPr>
          <a:xfrm>
            <a:off x="560070" y="6570345"/>
            <a:ext cx="43034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04 / 16</a:t>
            </a:r>
          </a:p>
        </p:txBody>
      </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B3A6B"/>
          </a:solidFill>
          <a:ln>
            <a:noFill/>
          </a:ln>
        </p:spPr>
      </p:sp>
      <p:sp>
        <p:nvSpPr>
          <p:cNvPr id="4" name="TextBox 4"/>
          <p:cNvSpPr txBox="1"/>
          <p:nvPr/>
        </p:nvSpPr>
        <p:spPr>
          <a:xfrm>
            <a:off x="550545" y="183832"/>
            <a:ext cx="1990254"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1.3 模型性能对比</a:t>
            </a:r>
          </a:p>
        </p:txBody>
      </p:sp>
      <p:sp>
        <p:nvSpPr>
          <p:cNvPr id="5" name="TextBox 5"/>
          <p:cNvSpPr txBox="1"/>
          <p:nvPr/>
        </p:nvSpPr>
        <p:spPr>
          <a:xfrm>
            <a:off x="10687050" y="248602"/>
            <a:ext cx="946785" cy="213360"/>
          </a:xfrm>
          <a:prstGeom prst="rect">
            <a:avLst/>
          </a:prstGeom>
          <a:noFill/>
          <a:ln>
            <a:noFill/>
          </a:ln>
        </p:spPr>
        <p:txBody>
          <a:bodyPr wrap="none" lIns="0" tIns="0" rIns="0" bIns="0" anchor="t" anchorCtr="0">
            <a:spAutoFit/>
          </a:bodyPr>
          <a:lstStyle/>
          <a:p>
            <a:pPr algn="r"/>
            <a:r>
              <a:rPr lang="zh-CN" sz="1050" dirty="0">
                <a:solidFill>
                  <a:srgbClr val="4A90D9"/>
                </a:solidFill>
                <a:latin typeface="Arial"/>
                <a:ea typeface="Microsoft YaHei"/>
                <a:cs typeface="Arial"/>
              </a:rPr>
              <a:t>航空航天设施</a:t>
            </a:r>
          </a:p>
        </p:txBody>
      </p:sp>
      <p:grpSp>
        <p:nvGrpSpPr>
          <p:cNvPr id="56" name="Group 56"/>
          <p:cNvGrpSpPr/>
          <p:nvPr/>
        </p:nvGrpSpPr>
        <p:grpSpPr>
          <a:xfrm>
            <a:off x="558165" y="886778"/>
            <a:ext cx="2610106" cy="5506878"/>
            <a:chOff x="558165" y="886778"/>
            <a:chExt cx="2610106" cy="5506878"/>
          </a:xfrm>
        </p:grpSpPr>
        <p:sp>
          <p:nvSpPr>
            <p:cNvPr id="6" name="TextBox 6"/>
            <p:cNvSpPr txBox="1"/>
            <p:nvPr/>
          </p:nvSpPr>
          <p:spPr>
            <a:xfrm>
              <a:off x="558165" y="886778"/>
              <a:ext cx="1636871"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各模型整体测试集指标</a:t>
              </a:r>
            </a:p>
          </p:txBody>
        </p:sp>
        <p:grpSp>
          <p:nvGrpSpPr>
            <p:cNvPr id="11" name="Group 11"/>
            <p:cNvGrpSpPr/>
            <p:nvPr/>
          </p:nvGrpSpPr>
          <p:grpSpPr>
            <a:xfrm>
              <a:off x="571500" y="1190625"/>
              <a:ext cx="1184433" cy="857250"/>
              <a:chOff x="571500" y="1190625"/>
              <a:chExt cx="1184433" cy="857250"/>
            </a:xfrm>
          </p:grpSpPr>
          <p:sp>
            <p:nvSpPr>
              <p:cNvPr id="7" name="Freeform 7"/>
              <p:cNvSpPr/>
              <p:nvPr/>
            </p:nvSpPr>
            <p:spPr>
              <a:xfrm>
                <a:off x="571500" y="1190625"/>
                <a:ext cx="1143000" cy="857250"/>
              </a:xfrm>
              <a:custGeom>
                <a:avLst/>
                <a:gdLst/>
                <a:ahLst/>
                <a:cxnLst/>
                <a:rect l="l" t="t" r="r" b="b"/>
                <a:pathLst>
                  <a:path w="1143000" h="857250">
                    <a:moveTo>
                      <a:pt x="76200" y="0"/>
                    </a:moveTo>
                    <a:lnTo>
                      <a:pt x="1066800" y="0"/>
                    </a:lnTo>
                    <a:cubicBezTo>
                      <a:pt x="1108884" y="0"/>
                      <a:pt x="1143000" y="34116"/>
                      <a:pt x="1143000" y="76200"/>
                    </a:cubicBezTo>
                    <a:lnTo>
                      <a:pt x="1143000" y="781050"/>
                    </a:lnTo>
                    <a:cubicBezTo>
                      <a:pt x="1143000" y="823134"/>
                      <a:pt x="1108884" y="857250"/>
                      <a:pt x="1066800" y="857250"/>
                    </a:cubicBezTo>
                    <a:lnTo>
                      <a:pt x="76200" y="857250"/>
                    </a:lnTo>
                    <a:cubicBezTo>
                      <a:pt x="34116" y="857250"/>
                      <a:pt x="0" y="823134"/>
                      <a:pt x="0" y="781050"/>
                    </a:cubicBezTo>
                    <a:lnTo>
                      <a:pt x="0" y="76200"/>
                    </a:lnTo>
                    <a:cubicBezTo>
                      <a:pt x="0" y="34116"/>
                      <a:pt x="34116" y="0"/>
                      <a:pt x="76200" y="0"/>
                    </a:cubicBezTo>
                    <a:close/>
                  </a:path>
                </a:pathLst>
              </a:custGeom>
              <a:solidFill>
                <a:srgbClr val="D97706">
                  <a:alpha val="10000"/>
                </a:srgbClr>
              </a:solidFill>
              <a:ln w="14288">
                <a:solidFill>
                  <a:srgbClr val="D97706"/>
                </a:solidFill>
              </a:ln>
            </p:spPr>
          </p:sp>
          <p:sp>
            <p:nvSpPr>
              <p:cNvPr id="8" name="TextBox 8"/>
              <p:cNvSpPr txBox="1"/>
              <p:nvPr/>
            </p:nvSpPr>
            <p:spPr>
              <a:xfrm>
                <a:off x="707669" y="1264920"/>
                <a:ext cx="870661" cy="487680"/>
              </a:xfrm>
              <a:prstGeom prst="rect">
                <a:avLst/>
              </a:prstGeom>
              <a:noFill/>
              <a:ln>
                <a:noFill/>
              </a:ln>
            </p:spPr>
            <p:txBody>
              <a:bodyPr wrap="none" lIns="0" tIns="0" rIns="0" bIns="0" anchor="t" anchorCtr="0">
                <a:spAutoFit/>
              </a:bodyPr>
              <a:lstStyle/>
              <a:p>
                <a:pPr algn="ctr"/>
                <a:r>
                  <a:rPr lang="zh-CN" sz="2400" b="1" dirty="0">
                    <a:solidFill>
                      <a:srgbClr val="D97706"/>
                    </a:solidFill>
                    <a:latin typeface="Arial"/>
                    <a:ea typeface="Microsoft YaHei"/>
                    <a:cs typeface="Arial"/>
                  </a:rPr>
                  <a:t>76.9</a:t>
                </a:r>
              </a:p>
            </p:txBody>
          </p:sp>
          <p:sp>
            <p:nvSpPr>
              <p:cNvPr id="9" name="TextBox 9"/>
              <p:cNvSpPr txBox="1"/>
              <p:nvPr/>
            </p:nvSpPr>
            <p:spPr>
              <a:xfrm>
                <a:off x="998899" y="1637824"/>
                <a:ext cx="288203" cy="198120"/>
              </a:xfrm>
              <a:prstGeom prst="rect">
                <a:avLst/>
              </a:prstGeom>
              <a:noFill/>
              <a:ln>
                <a:noFill/>
              </a:ln>
            </p:spPr>
            <p:txBody>
              <a:bodyPr wrap="none" lIns="0" tIns="0" rIns="0" bIns="0" anchor="t" anchorCtr="0">
                <a:spAutoFit/>
              </a:bodyPr>
              <a:lstStyle/>
              <a:p>
                <a:pPr algn="ctr"/>
                <a:r>
                  <a:rPr lang="zh-CN" sz="975" dirty="0">
                    <a:solidFill>
                      <a:srgbClr val="D97706"/>
                    </a:solidFill>
                    <a:latin typeface="Arial"/>
                    <a:ea typeface="Microsoft YaHei"/>
                    <a:cs typeface="Arial"/>
                  </a:rPr>
                  <a:t>SVM</a:t>
                </a:r>
              </a:p>
            </p:txBody>
          </p:sp>
          <p:sp>
            <p:nvSpPr>
              <p:cNvPr id="10" name="TextBox 10"/>
              <p:cNvSpPr txBox="1"/>
              <p:nvPr/>
            </p:nvSpPr>
            <p:spPr>
              <a:xfrm>
                <a:off x="1132522" y="1825466"/>
                <a:ext cx="623411" cy="167640"/>
              </a:xfrm>
              <a:prstGeom prst="rect">
                <a:avLst/>
              </a:prstGeom>
              <a:noFill/>
              <a:ln>
                <a:noFill/>
              </a:ln>
            </p:spPr>
            <p:txBody>
              <a:bodyPr wrap="none" lIns="0" tIns="0" rIns="0" bIns="0" anchor="t" anchorCtr="0">
                <a:spAutoFit/>
              </a:bodyPr>
              <a:lstStyle/>
              <a:p>
                <a:pPr algn="l"/>
                <a:r>
                  <a:rPr lang="zh-CN" sz="825" dirty="0">
                    <a:solidFill>
                      <a:srgbClr val="92400E"/>
                    </a:solidFill>
                    <a:latin typeface="Arial"/>
                    <a:ea typeface="Microsoft YaHei"/>
                    <a:cs typeface="Arial"/>
                  </a:rPr>
                  <a:t>支持向量机</a:t>
                </a:r>
              </a:p>
            </p:txBody>
          </p:sp>
        </p:grpSp>
        <p:grpSp>
          <p:nvGrpSpPr>
            <p:cNvPr id="16" name="Group 16"/>
            <p:cNvGrpSpPr/>
            <p:nvPr/>
          </p:nvGrpSpPr>
          <p:grpSpPr>
            <a:xfrm>
              <a:off x="1857375" y="1190625"/>
              <a:ext cx="1143000" cy="857250"/>
              <a:chOff x="1857375" y="1190625"/>
              <a:chExt cx="1143000" cy="857250"/>
            </a:xfrm>
          </p:grpSpPr>
          <p:sp>
            <p:nvSpPr>
              <p:cNvPr id="12" name="Freeform 12"/>
              <p:cNvSpPr/>
              <p:nvPr/>
            </p:nvSpPr>
            <p:spPr>
              <a:xfrm>
                <a:off x="1857375" y="1190625"/>
                <a:ext cx="1143000" cy="857250"/>
              </a:xfrm>
              <a:custGeom>
                <a:avLst/>
                <a:gdLst/>
                <a:ahLst/>
                <a:cxnLst/>
                <a:rect l="l" t="t" r="r" b="b"/>
                <a:pathLst>
                  <a:path w="1143000" h="857250">
                    <a:moveTo>
                      <a:pt x="76200" y="0"/>
                    </a:moveTo>
                    <a:lnTo>
                      <a:pt x="1066800" y="0"/>
                    </a:lnTo>
                    <a:cubicBezTo>
                      <a:pt x="1108884" y="0"/>
                      <a:pt x="1143000" y="34116"/>
                      <a:pt x="1143000" y="76200"/>
                    </a:cubicBezTo>
                    <a:lnTo>
                      <a:pt x="1143000" y="781050"/>
                    </a:lnTo>
                    <a:cubicBezTo>
                      <a:pt x="1143000" y="823134"/>
                      <a:pt x="1108884" y="857250"/>
                      <a:pt x="1066800" y="857250"/>
                    </a:cubicBezTo>
                    <a:lnTo>
                      <a:pt x="76200" y="857250"/>
                    </a:lnTo>
                    <a:cubicBezTo>
                      <a:pt x="34116" y="857250"/>
                      <a:pt x="0" y="823134"/>
                      <a:pt x="0" y="781050"/>
                    </a:cubicBezTo>
                    <a:lnTo>
                      <a:pt x="0" y="76200"/>
                    </a:lnTo>
                    <a:cubicBezTo>
                      <a:pt x="0" y="34116"/>
                      <a:pt x="34116" y="0"/>
                      <a:pt x="76200" y="0"/>
                    </a:cubicBezTo>
                    <a:close/>
                  </a:path>
                </a:pathLst>
              </a:custGeom>
              <a:solidFill>
                <a:srgbClr val="16A34A">
                  <a:alpha val="10000"/>
                </a:srgbClr>
              </a:solidFill>
              <a:ln w="14288">
                <a:solidFill>
                  <a:srgbClr val="16A34A"/>
                </a:solidFill>
              </a:ln>
            </p:spPr>
          </p:sp>
          <p:sp>
            <p:nvSpPr>
              <p:cNvPr id="13" name="TextBox 13"/>
              <p:cNvSpPr txBox="1"/>
              <p:nvPr/>
            </p:nvSpPr>
            <p:spPr>
              <a:xfrm>
                <a:off x="2039550" y="1264920"/>
                <a:ext cx="778650" cy="487680"/>
              </a:xfrm>
              <a:prstGeom prst="rect">
                <a:avLst/>
              </a:prstGeom>
              <a:noFill/>
              <a:ln>
                <a:noFill/>
              </a:ln>
            </p:spPr>
            <p:txBody>
              <a:bodyPr wrap="none" lIns="0" tIns="0" rIns="0" bIns="0" anchor="t" anchorCtr="0">
                <a:spAutoFit/>
              </a:bodyPr>
              <a:lstStyle/>
              <a:p>
                <a:pPr algn="ctr"/>
                <a:r>
                  <a:rPr lang="zh-CN" sz="2400" b="1" dirty="0">
                    <a:solidFill>
                      <a:srgbClr val="16A34A"/>
                    </a:solidFill>
                    <a:latin typeface="Arial"/>
                    <a:ea typeface="Microsoft YaHei"/>
                    <a:cs typeface="Arial"/>
                  </a:rPr>
                  <a:t>98.1</a:t>
                </a:r>
              </a:p>
            </p:txBody>
          </p:sp>
          <p:sp>
            <p:nvSpPr>
              <p:cNvPr id="14" name="TextBox 14"/>
              <p:cNvSpPr txBox="1"/>
              <p:nvPr/>
            </p:nvSpPr>
            <p:spPr>
              <a:xfrm>
                <a:off x="2338173" y="1637824"/>
                <a:ext cx="181404" cy="198120"/>
              </a:xfrm>
              <a:prstGeom prst="rect">
                <a:avLst/>
              </a:prstGeom>
              <a:noFill/>
              <a:ln>
                <a:noFill/>
              </a:ln>
            </p:spPr>
            <p:txBody>
              <a:bodyPr wrap="none" lIns="0" tIns="0" rIns="0" bIns="0" anchor="t" anchorCtr="0">
                <a:spAutoFit/>
              </a:bodyPr>
              <a:lstStyle/>
              <a:p>
                <a:pPr algn="ctr"/>
                <a:r>
                  <a:rPr lang="zh-CN" sz="975" dirty="0">
                    <a:solidFill>
                      <a:srgbClr val="16A34A"/>
                    </a:solidFill>
                    <a:latin typeface="Arial"/>
                    <a:ea typeface="Microsoft YaHei"/>
                    <a:cs typeface="Arial"/>
                  </a:rPr>
                  <a:t>RF</a:t>
                </a:r>
              </a:p>
            </p:txBody>
          </p:sp>
          <p:sp>
            <p:nvSpPr>
              <p:cNvPr id="15" name="TextBox 15"/>
              <p:cNvSpPr txBox="1"/>
              <p:nvPr/>
            </p:nvSpPr>
            <p:spPr>
              <a:xfrm>
                <a:off x="2418398" y="1825466"/>
                <a:ext cx="502920" cy="167640"/>
              </a:xfrm>
              <a:prstGeom prst="rect">
                <a:avLst/>
              </a:prstGeom>
              <a:noFill/>
              <a:ln>
                <a:noFill/>
              </a:ln>
            </p:spPr>
            <p:txBody>
              <a:bodyPr wrap="none" lIns="0" tIns="0" rIns="0" bIns="0" anchor="t" anchorCtr="0">
                <a:spAutoFit/>
              </a:bodyPr>
              <a:lstStyle/>
              <a:p>
                <a:pPr algn="l"/>
                <a:r>
                  <a:rPr lang="zh-CN" sz="825" dirty="0">
                    <a:solidFill>
                      <a:srgbClr val="166534"/>
                    </a:solidFill>
                    <a:latin typeface="Arial"/>
                    <a:ea typeface="Microsoft YaHei"/>
                    <a:cs typeface="Arial"/>
                  </a:rPr>
                  <a:t>随机森林</a:t>
                </a:r>
              </a:p>
            </p:txBody>
          </p:sp>
        </p:grpSp>
        <p:grpSp>
          <p:nvGrpSpPr>
            <p:cNvPr id="21" name="Group 21"/>
            <p:cNvGrpSpPr/>
            <p:nvPr/>
          </p:nvGrpSpPr>
          <p:grpSpPr>
            <a:xfrm>
              <a:off x="571500" y="2190750"/>
              <a:ext cx="1184433" cy="857250"/>
              <a:chOff x="571500" y="2190750"/>
              <a:chExt cx="1184433" cy="857250"/>
            </a:xfrm>
          </p:grpSpPr>
          <p:sp>
            <p:nvSpPr>
              <p:cNvPr id="17" name="Freeform 17"/>
              <p:cNvSpPr/>
              <p:nvPr/>
            </p:nvSpPr>
            <p:spPr>
              <a:xfrm>
                <a:off x="571500" y="2190750"/>
                <a:ext cx="1143000" cy="857250"/>
              </a:xfrm>
              <a:custGeom>
                <a:avLst/>
                <a:gdLst/>
                <a:ahLst/>
                <a:cxnLst/>
                <a:rect l="l" t="t" r="r" b="b"/>
                <a:pathLst>
                  <a:path w="1143000" h="857250">
                    <a:moveTo>
                      <a:pt x="76200" y="0"/>
                    </a:moveTo>
                    <a:lnTo>
                      <a:pt x="1066800" y="0"/>
                    </a:lnTo>
                    <a:cubicBezTo>
                      <a:pt x="1108884" y="0"/>
                      <a:pt x="1143000" y="34116"/>
                      <a:pt x="1143000" y="76200"/>
                    </a:cubicBezTo>
                    <a:lnTo>
                      <a:pt x="1143000" y="781050"/>
                    </a:lnTo>
                    <a:cubicBezTo>
                      <a:pt x="1143000" y="823134"/>
                      <a:pt x="1108884" y="857250"/>
                      <a:pt x="1066800" y="857250"/>
                    </a:cubicBezTo>
                    <a:lnTo>
                      <a:pt x="76200" y="857250"/>
                    </a:lnTo>
                    <a:cubicBezTo>
                      <a:pt x="34116" y="857250"/>
                      <a:pt x="0" y="823134"/>
                      <a:pt x="0" y="781050"/>
                    </a:cubicBezTo>
                    <a:lnTo>
                      <a:pt x="0" y="76200"/>
                    </a:lnTo>
                    <a:cubicBezTo>
                      <a:pt x="0" y="34116"/>
                      <a:pt x="34116" y="0"/>
                      <a:pt x="76200" y="0"/>
                    </a:cubicBezTo>
                    <a:close/>
                  </a:path>
                </a:pathLst>
              </a:custGeom>
              <a:solidFill>
                <a:srgbClr val="2196F3">
                  <a:alpha val="10000"/>
                </a:srgbClr>
              </a:solidFill>
              <a:ln w="14288">
                <a:solidFill>
                  <a:srgbClr val="2196F3"/>
                </a:solidFill>
              </a:ln>
            </p:spPr>
          </p:sp>
          <p:sp>
            <p:nvSpPr>
              <p:cNvPr id="18" name="TextBox 18"/>
              <p:cNvSpPr txBox="1"/>
              <p:nvPr/>
            </p:nvSpPr>
            <p:spPr>
              <a:xfrm>
                <a:off x="707669" y="2265045"/>
                <a:ext cx="870661" cy="487680"/>
              </a:xfrm>
              <a:prstGeom prst="rect">
                <a:avLst/>
              </a:prstGeom>
              <a:noFill/>
              <a:ln>
                <a:noFill/>
              </a:ln>
            </p:spPr>
            <p:txBody>
              <a:bodyPr wrap="none" lIns="0" tIns="0" rIns="0" bIns="0" anchor="t" anchorCtr="0">
                <a:spAutoFit/>
              </a:bodyPr>
              <a:lstStyle/>
              <a:p>
                <a:pPr algn="ctr"/>
                <a:r>
                  <a:rPr lang="zh-CN" sz="2400" b="1" dirty="0">
                    <a:solidFill>
                      <a:srgbClr val="2196F3"/>
                    </a:solidFill>
                    <a:latin typeface="Arial"/>
                    <a:ea typeface="Microsoft YaHei"/>
                    <a:cs typeface="Arial"/>
                  </a:rPr>
                  <a:t>96.3</a:t>
                </a:r>
              </a:p>
            </p:txBody>
          </p:sp>
          <p:sp>
            <p:nvSpPr>
              <p:cNvPr id="19" name="TextBox 19"/>
              <p:cNvSpPr txBox="1"/>
              <p:nvPr/>
            </p:nvSpPr>
            <p:spPr>
              <a:xfrm>
                <a:off x="998899" y="2637949"/>
                <a:ext cx="288203" cy="198120"/>
              </a:xfrm>
              <a:prstGeom prst="rect">
                <a:avLst/>
              </a:prstGeom>
              <a:noFill/>
              <a:ln>
                <a:noFill/>
              </a:ln>
            </p:spPr>
            <p:txBody>
              <a:bodyPr wrap="none" lIns="0" tIns="0" rIns="0" bIns="0" anchor="t" anchorCtr="0">
                <a:spAutoFit/>
              </a:bodyPr>
              <a:lstStyle/>
              <a:p>
                <a:pPr algn="ctr"/>
                <a:r>
                  <a:rPr lang="zh-CN" sz="975" dirty="0">
                    <a:solidFill>
                      <a:srgbClr val="2196F3"/>
                    </a:solidFill>
                    <a:latin typeface="Arial"/>
                    <a:ea typeface="Microsoft YaHei"/>
                    <a:cs typeface="Arial"/>
                  </a:rPr>
                  <a:t>MLP</a:t>
                </a:r>
              </a:p>
            </p:txBody>
          </p:sp>
          <p:sp>
            <p:nvSpPr>
              <p:cNvPr id="20" name="TextBox 20"/>
              <p:cNvSpPr txBox="1"/>
              <p:nvPr/>
            </p:nvSpPr>
            <p:spPr>
              <a:xfrm>
                <a:off x="1132522" y="2825591"/>
                <a:ext cx="623411" cy="167640"/>
              </a:xfrm>
              <a:prstGeom prst="rect">
                <a:avLst/>
              </a:prstGeom>
              <a:noFill/>
              <a:ln>
                <a:noFill/>
              </a:ln>
            </p:spPr>
            <p:txBody>
              <a:bodyPr wrap="none" lIns="0" tIns="0" rIns="0" bIns="0" anchor="t" anchorCtr="0">
                <a:spAutoFit/>
              </a:bodyPr>
              <a:lstStyle/>
              <a:p>
                <a:pPr algn="l"/>
                <a:r>
                  <a:rPr lang="zh-CN" sz="825" dirty="0">
                    <a:solidFill>
                      <a:srgbClr val="1E40AF"/>
                    </a:solidFill>
                    <a:latin typeface="Arial"/>
                    <a:ea typeface="Microsoft YaHei"/>
                    <a:cs typeface="Arial"/>
                  </a:rPr>
                  <a:t>多层感知机</a:t>
                </a:r>
              </a:p>
            </p:txBody>
          </p:sp>
        </p:grpSp>
        <p:grpSp>
          <p:nvGrpSpPr>
            <p:cNvPr id="26" name="Group 26"/>
            <p:cNvGrpSpPr/>
            <p:nvPr/>
          </p:nvGrpSpPr>
          <p:grpSpPr>
            <a:xfrm>
              <a:off x="1857375" y="2190750"/>
              <a:ext cx="1304925" cy="857250"/>
              <a:chOff x="1857375" y="2190750"/>
              <a:chExt cx="1304925" cy="857250"/>
            </a:xfrm>
          </p:grpSpPr>
          <p:sp>
            <p:nvSpPr>
              <p:cNvPr id="22" name="Freeform 22"/>
              <p:cNvSpPr/>
              <p:nvPr/>
            </p:nvSpPr>
            <p:spPr>
              <a:xfrm>
                <a:off x="1857375" y="2190750"/>
                <a:ext cx="1143000" cy="857250"/>
              </a:xfrm>
              <a:custGeom>
                <a:avLst/>
                <a:gdLst/>
                <a:ahLst/>
                <a:cxnLst/>
                <a:rect l="l" t="t" r="r" b="b"/>
                <a:pathLst>
                  <a:path w="1143000" h="857250">
                    <a:moveTo>
                      <a:pt x="76200" y="0"/>
                    </a:moveTo>
                    <a:lnTo>
                      <a:pt x="1066800" y="0"/>
                    </a:lnTo>
                    <a:cubicBezTo>
                      <a:pt x="1108884" y="0"/>
                      <a:pt x="1143000" y="34116"/>
                      <a:pt x="1143000" y="76200"/>
                    </a:cubicBezTo>
                    <a:lnTo>
                      <a:pt x="1143000" y="781050"/>
                    </a:lnTo>
                    <a:cubicBezTo>
                      <a:pt x="1143000" y="823134"/>
                      <a:pt x="1108884" y="857250"/>
                      <a:pt x="1066800" y="857250"/>
                    </a:cubicBezTo>
                    <a:lnTo>
                      <a:pt x="76200" y="857250"/>
                    </a:lnTo>
                    <a:cubicBezTo>
                      <a:pt x="34116" y="857250"/>
                      <a:pt x="0" y="823134"/>
                      <a:pt x="0" y="781050"/>
                    </a:cubicBezTo>
                    <a:lnTo>
                      <a:pt x="0" y="76200"/>
                    </a:lnTo>
                    <a:cubicBezTo>
                      <a:pt x="0" y="34116"/>
                      <a:pt x="34116" y="0"/>
                      <a:pt x="76200" y="0"/>
                    </a:cubicBezTo>
                    <a:close/>
                  </a:path>
                </a:pathLst>
              </a:custGeom>
              <a:solidFill>
                <a:srgbClr val="4A90D9">
                  <a:alpha val="10000"/>
                </a:srgbClr>
              </a:solidFill>
              <a:ln w="14288">
                <a:solidFill>
                  <a:srgbClr val="4A90D9"/>
                </a:solidFill>
              </a:ln>
            </p:spPr>
          </p:sp>
          <p:sp>
            <p:nvSpPr>
              <p:cNvPr id="23" name="TextBox 23"/>
              <p:cNvSpPr txBox="1"/>
              <p:nvPr/>
            </p:nvSpPr>
            <p:spPr>
              <a:xfrm>
                <a:off x="1993544" y="2265045"/>
                <a:ext cx="870661" cy="487680"/>
              </a:xfrm>
              <a:prstGeom prst="rect">
                <a:avLst/>
              </a:prstGeom>
              <a:noFill/>
              <a:ln>
                <a:noFill/>
              </a:ln>
            </p:spPr>
            <p:txBody>
              <a:bodyPr wrap="none" lIns="0" tIns="0" rIns="0" bIns="0" anchor="t" anchorCtr="0">
                <a:spAutoFit/>
              </a:bodyPr>
              <a:lstStyle/>
              <a:p>
                <a:pPr algn="ctr"/>
                <a:r>
                  <a:rPr lang="zh-CN" sz="2400" b="1" dirty="0">
                    <a:solidFill>
                      <a:srgbClr val="4A90D9"/>
                    </a:solidFill>
                    <a:latin typeface="Arial"/>
                    <a:ea typeface="Microsoft YaHei"/>
                    <a:cs typeface="Arial"/>
                  </a:rPr>
                  <a:t>94.0</a:t>
                </a:r>
              </a:p>
            </p:txBody>
          </p:sp>
          <p:sp>
            <p:nvSpPr>
              <p:cNvPr id="24" name="TextBox 24"/>
              <p:cNvSpPr txBox="1"/>
              <p:nvPr/>
            </p:nvSpPr>
            <p:spPr>
              <a:xfrm>
                <a:off x="2238494" y="2637949"/>
                <a:ext cx="380762" cy="198120"/>
              </a:xfrm>
              <a:prstGeom prst="rect">
                <a:avLst/>
              </a:prstGeom>
              <a:noFill/>
              <a:ln>
                <a:noFill/>
              </a:ln>
            </p:spPr>
            <p:txBody>
              <a:bodyPr wrap="none" lIns="0" tIns="0" rIns="0" bIns="0" anchor="t" anchorCtr="0">
                <a:spAutoFit/>
              </a:bodyPr>
              <a:lstStyle/>
              <a:p>
                <a:pPr algn="ctr"/>
                <a:r>
                  <a:rPr lang="zh-CN" sz="975" dirty="0">
                    <a:solidFill>
                      <a:srgbClr val="4A90D9"/>
                    </a:solidFill>
                    <a:latin typeface="Arial"/>
                    <a:ea typeface="Microsoft YaHei"/>
                    <a:cs typeface="Arial"/>
                  </a:rPr>
                  <a:t>CNN1D</a:t>
                </a:r>
              </a:p>
            </p:txBody>
          </p:sp>
          <p:sp>
            <p:nvSpPr>
              <p:cNvPr id="25" name="TextBox 25"/>
              <p:cNvSpPr txBox="1"/>
              <p:nvPr/>
            </p:nvSpPr>
            <p:spPr>
              <a:xfrm>
                <a:off x="2418398" y="2825591"/>
                <a:ext cx="743902" cy="167640"/>
              </a:xfrm>
              <a:prstGeom prst="rect">
                <a:avLst/>
              </a:prstGeom>
              <a:noFill/>
              <a:ln>
                <a:noFill/>
              </a:ln>
            </p:spPr>
            <p:txBody>
              <a:bodyPr wrap="none" lIns="0" tIns="0" rIns="0" bIns="0" anchor="t" anchorCtr="0">
                <a:spAutoFit/>
              </a:bodyPr>
              <a:lstStyle/>
              <a:p>
                <a:pPr algn="l"/>
                <a:r>
                  <a:rPr lang="zh-CN" sz="825" dirty="0">
                    <a:solidFill>
                      <a:srgbClr val="1E3A8A"/>
                    </a:solidFill>
                    <a:latin typeface="Arial"/>
                    <a:ea typeface="Microsoft YaHei"/>
                    <a:cs typeface="Arial"/>
                  </a:rPr>
                  <a:t>一维卷积网络</a:t>
                </a:r>
              </a:p>
            </p:txBody>
          </p:sp>
        </p:grpSp>
        <p:sp>
          <p:nvSpPr>
            <p:cNvPr id="27" name="TextBox 27"/>
            <p:cNvSpPr txBox="1"/>
            <p:nvPr/>
          </p:nvSpPr>
          <p:spPr>
            <a:xfrm>
              <a:off x="559118" y="3371374"/>
              <a:ext cx="2073171" cy="198120"/>
            </a:xfrm>
            <a:prstGeom prst="rect">
              <a:avLst/>
            </a:prstGeom>
            <a:noFill/>
            <a:ln>
              <a:noFill/>
            </a:ln>
          </p:spPr>
          <p:txBody>
            <a:bodyPr wrap="none" lIns="0" tIns="0" rIns="0" bIns="0" anchor="t" anchorCtr="0">
              <a:spAutoFit/>
            </a:bodyPr>
            <a:lstStyle/>
            <a:p>
              <a:pPr algn="l"/>
              <a:r>
                <a:rPr lang="zh-CN" sz="975" b="1" dirty="0">
                  <a:solidFill>
                    <a:srgbClr val="1B3A6B"/>
                  </a:solidFill>
                  <a:latin typeface="Arial"/>
                  <a:ea typeface="Microsoft YaHei"/>
                  <a:cs typeface="Arial"/>
                </a:rPr>
                <a:t>航空航天 &amp; 机场机库子数据集:</a:t>
              </a:r>
            </a:p>
          </p:txBody>
        </p:sp>
        <p:sp>
          <p:nvSpPr>
            <p:cNvPr id="28" name="Freeform 28"/>
            <p:cNvSpPr/>
            <p:nvPr/>
          </p:nvSpPr>
          <p:spPr>
            <a:xfrm>
              <a:off x="571500" y="3571875"/>
              <a:ext cx="2428875" cy="304800"/>
            </a:xfrm>
            <a:custGeom>
              <a:avLst/>
              <a:gdLst/>
              <a:ahLst/>
              <a:cxnLst/>
              <a:rect l="l" t="t" r="r" b="b"/>
              <a:pathLst>
                <a:path w="2428875" h="304800">
                  <a:moveTo>
                    <a:pt x="38100" y="0"/>
                  </a:moveTo>
                  <a:lnTo>
                    <a:pt x="2390775" y="0"/>
                  </a:lnTo>
                  <a:cubicBezTo>
                    <a:pt x="2411817" y="0"/>
                    <a:pt x="2428875" y="17058"/>
                    <a:pt x="2428875" y="38100"/>
                  </a:cubicBezTo>
                  <a:lnTo>
                    <a:pt x="2428875" y="266700"/>
                  </a:lnTo>
                  <a:cubicBezTo>
                    <a:pt x="2428875" y="287742"/>
                    <a:pt x="2411817" y="304800"/>
                    <a:pt x="2390775" y="304800"/>
                  </a:cubicBezTo>
                  <a:lnTo>
                    <a:pt x="38100" y="304800"/>
                  </a:lnTo>
                  <a:cubicBezTo>
                    <a:pt x="17058" y="304800"/>
                    <a:pt x="0" y="287742"/>
                    <a:pt x="0" y="266700"/>
                  </a:cubicBezTo>
                  <a:lnTo>
                    <a:pt x="0" y="38100"/>
                  </a:lnTo>
                  <a:cubicBezTo>
                    <a:pt x="0" y="17058"/>
                    <a:pt x="17058" y="0"/>
                    <a:pt x="38100" y="0"/>
                  </a:cubicBezTo>
                  <a:close/>
                </a:path>
              </a:pathLst>
            </a:custGeom>
            <a:solidFill>
              <a:srgbClr val="1B3A6B"/>
            </a:solidFill>
            <a:ln>
              <a:noFill/>
            </a:ln>
          </p:spPr>
        </p:sp>
        <p:sp>
          <p:nvSpPr>
            <p:cNvPr id="29" name="TextBox 29"/>
            <p:cNvSpPr txBox="1"/>
            <p:nvPr/>
          </p:nvSpPr>
          <p:spPr>
            <a:xfrm>
              <a:off x="656272" y="3673316"/>
              <a:ext cx="261937"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设施</a:t>
              </a:r>
            </a:p>
          </p:txBody>
        </p:sp>
        <p:sp>
          <p:nvSpPr>
            <p:cNvPr id="30" name="TextBox 30"/>
            <p:cNvSpPr txBox="1"/>
            <p:nvPr/>
          </p:nvSpPr>
          <p:spPr>
            <a:xfrm>
              <a:off x="1418272" y="3673316"/>
              <a:ext cx="2438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SVM</a:t>
              </a:r>
            </a:p>
          </p:txBody>
        </p:sp>
        <p:sp>
          <p:nvSpPr>
            <p:cNvPr id="31" name="TextBox 31"/>
            <p:cNvSpPr txBox="1"/>
            <p:nvPr/>
          </p:nvSpPr>
          <p:spPr>
            <a:xfrm>
              <a:off x="1942148" y="3673316"/>
              <a:ext cx="153495"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RF</a:t>
              </a:r>
            </a:p>
          </p:txBody>
        </p:sp>
        <p:sp>
          <p:nvSpPr>
            <p:cNvPr id="32" name="TextBox 32"/>
            <p:cNvSpPr txBox="1"/>
            <p:nvPr/>
          </p:nvSpPr>
          <p:spPr>
            <a:xfrm>
              <a:off x="2418398" y="3673316"/>
              <a:ext cx="2438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MLP</a:t>
              </a:r>
            </a:p>
          </p:txBody>
        </p:sp>
        <p:sp>
          <p:nvSpPr>
            <p:cNvPr id="33" name="TextBox 33"/>
            <p:cNvSpPr txBox="1"/>
            <p:nvPr/>
          </p:nvSpPr>
          <p:spPr>
            <a:xfrm>
              <a:off x="2799398" y="3673316"/>
              <a:ext cx="261937"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集成</a:t>
              </a:r>
            </a:p>
          </p:txBody>
        </p:sp>
        <p:sp>
          <p:nvSpPr>
            <p:cNvPr id="34" name="Rectangle 34"/>
            <p:cNvSpPr/>
            <p:nvPr/>
          </p:nvSpPr>
          <p:spPr>
            <a:xfrm>
              <a:off x="571500" y="3876675"/>
              <a:ext cx="2428875" cy="266700"/>
            </a:xfrm>
            <a:prstGeom prst="rect">
              <a:avLst/>
            </a:prstGeom>
            <a:solidFill>
              <a:srgbClr val="F8FAFC"/>
            </a:solidFill>
            <a:ln>
              <a:noFill/>
            </a:ln>
          </p:spPr>
        </p:sp>
        <p:sp>
          <p:nvSpPr>
            <p:cNvPr id="35" name="TextBox 35"/>
            <p:cNvSpPr txBox="1"/>
            <p:nvPr/>
          </p:nvSpPr>
          <p:spPr>
            <a:xfrm>
              <a:off x="656272" y="3959066"/>
              <a:ext cx="617387"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Aerospace</a:t>
              </a:r>
            </a:p>
          </p:txBody>
        </p:sp>
        <p:sp>
          <p:nvSpPr>
            <p:cNvPr id="36" name="TextBox 36"/>
            <p:cNvSpPr txBox="1"/>
            <p:nvPr/>
          </p:nvSpPr>
          <p:spPr>
            <a:xfrm>
              <a:off x="1418272" y="3959066"/>
              <a:ext cx="352306" cy="167640"/>
            </a:xfrm>
            <a:prstGeom prst="rect">
              <a:avLst/>
            </a:prstGeom>
            <a:noFill/>
            <a:ln>
              <a:noFill/>
            </a:ln>
          </p:spPr>
          <p:txBody>
            <a:bodyPr wrap="none" lIns="0" tIns="0" rIns="0" bIns="0" anchor="t" anchorCtr="0">
              <a:spAutoFit/>
            </a:bodyPr>
            <a:lstStyle/>
            <a:p>
              <a:pPr algn="l"/>
              <a:r>
                <a:rPr lang="zh-CN" sz="825" dirty="0">
                  <a:solidFill>
                    <a:srgbClr val="D97706"/>
                  </a:solidFill>
                  <a:latin typeface="Arial"/>
                  <a:ea typeface="Microsoft YaHei"/>
                  <a:cs typeface="Arial"/>
                </a:rPr>
                <a:t>74.4%</a:t>
              </a:r>
            </a:p>
          </p:txBody>
        </p:sp>
        <p:sp>
          <p:nvSpPr>
            <p:cNvPr id="37" name="TextBox 37"/>
            <p:cNvSpPr txBox="1"/>
            <p:nvPr/>
          </p:nvSpPr>
          <p:spPr>
            <a:xfrm>
              <a:off x="1942148" y="3959066"/>
              <a:ext cx="352306" cy="167640"/>
            </a:xfrm>
            <a:prstGeom prst="rect">
              <a:avLst/>
            </a:prstGeom>
            <a:noFill/>
            <a:ln>
              <a:noFill/>
            </a:ln>
          </p:spPr>
          <p:txBody>
            <a:bodyPr wrap="none" lIns="0" tIns="0" rIns="0" bIns="0" anchor="t" anchorCtr="0">
              <a:spAutoFit/>
            </a:bodyPr>
            <a:lstStyle/>
            <a:p>
              <a:pPr algn="l"/>
              <a:r>
                <a:rPr lang="zh-CN" sz="825" dirty="0">
                  <a:solidFill>
                    <a:srgbClr val="16A34A"/>
                  </a:solidFill>
                  <a:latin typeface="Arial"/>
                  <a:ea typeface="Microsoft YaHei"/>
                  <a:cs typeface="Arial"/>
                </a:rPr>
                <a:t>98.7%</a:t>
              </a:r>
            </a:p>
          </p:txBody>
        </p:sp>
        <p:sp>
          <p:nvSpPr>
            <p:cNvPr id="38" name="TextBox 38"/>
            <p:cNvSpPr txBox="1"/>
            <p:nvPr/>
          </p:nvSpPr>
          <p:spPr>
            <a:xfrm>
              <a:off x="2418398" y="3959066"/>
              <a:ext cx="322183" cy="167640"/>
            </a:xfrm>
            <a:prstGeom prst="rect">
              <a:avLst/>
            </a:prstGeom>
            <a:noFill/>
            <a:ln>
              <a:noFill/>
            </a:ln>
          </p:spPr>
          <p:txBody>
            <a:bodyPr wrap="none" lIns="0" tIns="0" rIns="0" bIns="0" anchor="t" anchorCtr="0">
              <a:spAutoFit/>
            </a:bodyPr>
            <a:lstStyle/>
            <a:p>
              <a:pPr algn="l"/>
              <a:r>
                <a:rPr lang="zh-CN" sz="825" dirty="0">
                  <a:solidFill>
                    <a:srgbClr val="2196F3"/>
                  </a:solidFill>
                  <a:latin typeface="Arial"/>
                  <a:ea typeface="Microsoft YaHei"/>
                  <a:cs typeface="Arial"/>
                </a:rPr>
                <a:t>91.5%</a:t>
              </a:r>
            </a:p>
          </p:txBody>
        </p:sp>
        <p:sp>
          <p:nvSpPr>
            <p:cNvPr id="39" name="TextBox 39"/>
            <p:cNvSpPr txBox="1"/>
            <p:nvPr/>
          </p:nvSpPr>
          <p:spPr>
            <a:xfrm>
              <a:off x="2799398" y="3959066"/>
              <a:ext cx="368873" cy="167640"/>
            </a:xfrm>
            <a:prstGeom prst="rect">
              <a:avLst/>
            </a:prstGeom>
            <a:noFill/>
            <a:ln>
              <a:noFill/>
            </a:ln>
          </p:spPr>
          <p:txBody>
            <a:bodyPr wrap="none" lIns="0" tIns="0" rIns="0" bIns="0" anchor="t" anchorCtr="0">
              <a:spAutoFit/>
            </a:bodyPr>
            <a:lstStyle/>
            <a:p>
              <a:pPr algn="l"/>
              <a:r>
                <a:rPr lang="zh-CN" sz="825" b="1" dirty="0">
                  <a:solidFill>
                    <a:srgbClr val="1B3A6B"/>
                  </a:solidFill>
                  <a:latin typeface="Arial"/>
                  <a:ea typeface="Microsoft YaHei"/>
                  <a:cs typeface="Arial"/>
                </a:rPr>
                <a:t>93.6%</a:t>
              </a:r>
            </a:p>
          </p:txBody>
        </p:sp>
        <p:sp>
          <p:nvSpPr>
            <p:cNvPr id="40" name="Rectangle 40"/>
            <p:cNvSpPr/>
            <p:nvPr/>
          </p:nvSpPr>
          <p:spPr>
            <a:xfrm>
              <a:off x="571500" y="4143375"/>
              <a:ext cx="2428875" cy="266700"/>
            </a:xfrm>
            <a:prstGeom prst="rect">
              <a:avLst/>
            </a:prstGeom>
            <a:solidFill>
              <a:srgbClr val="FFFFFF"/>
            </a:solidFill>
            <a:ln>
              <a:noFill/>
            </a:ln>
          </p:spPr>
        </p:sp>
        <p:sp>
          <p:nvSpPr>
            <p:cNvPr id="41" name="TextBox 41"/>
            <p:cNvSpPr txBox="1"/>
            <p:nvPr/>
          </p:nvSpPr>
          <p:spPr>
            <a:xfrm>
              <a:off x="656272" y="4225766"/>
              <a:ext cx="888492"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Airport Hangar</a:t>
              </a:r>
            </a:p>
          </p:txBody>
        </p:sp>
        <p:sp>
          <p:nvSpPr>
            <p:cNvPr id="42" name="TextBox 42"/>
            <p:cNvSpPr txBox="1"/>
            <p:nvPr/>
          </p:nvSpPr>
          <p:spPr>
            <a:xfrm>
              <a:off x="1418272" y="4225766"/>
              <a:ext cx="352306" cy="167640"/>
            </a:xfrm>
            <a:prstGeom prst="rect">
              <a:avLst/>
            </a:prstGeom>
            <a:noFill/>
            <a:ln>
              <a:noFill/>
            </a:ln>
          </p:spPr>
          <p:txBody>
            <a:bodyPr wrap="none" lIns="0" tIns="0" rIns="0" bIns="0" anchor="t" anchorCtr="0">
              <a:spAutoFit/>
            </a:bodyPr>
            <a:lstStyle/>
            <a:p>
              <a:pPr algn="l"/>
              <a:r>
                <a:rPr lang="zh-CN" sz="825" dirty="0">
                  <a:solidFill>
                    <a:srgbClr val="D97706"/>
                  </a:solidFill>
                  <a:latin typeface="Arial"/>
                  <a:ea typeface="Microsoft YaHei"/>
                  <a:cs typeface="Arial"/>
                </a:rPr>
                <a:t>84.2%</a:t>
              </a:r>
            </a:p>
          </p:txBody>
        </p:sp>
        <p:sp>
          <p:nvSpPr>
            <p:cNvPr id="43" name="TextBox 43"/>
            <p:cNvSpPr txBox="1"/>
            <p:nvPr/>
          </p:nvSpPr>
          <p:spPr>
            <a:xfrm>
              <a:off x="1942148" y="4225766"/>
              <a:ext cx="322183" cy="167640"/>
            </a:xfrm>
            <a:prstGeom prst="rect">
              <a:avLst/>
            </a:prstGeom>
            <a:noFill/>
            <a:ln>
              <a:noFill/>
            </a:ln>
          </p:spPr>
          <p:txBody>
            <a:bodyPr wrap="none" lIns="0" tIns="0" rIns="0" bIns="0" anchor="t" anchorCtr="0">
              <a:spAutoFit/>
            </a:bodyPr>
            <a:lstStyle/>
            <a:p>
              <a:pPr algn="l"/>
              <a:r>
                <a:rPr lang="zh-CN" sz="825" dirty="0">
                  <a:solidFill>
                    <a:srgbClr val="16A34A"/>
                  </a:solidFill>
                  <a:latin typeface="Arial"/>
                  <a:ea typeface="Microsoft YaHei"/>
                  <a:cs typeface="Arial"/>
                </a:rPr>
                <a:t>98.1%</a:t>
              </a:r>
            </a:p>
          </p:txBody>
        </p:sp>
        <p:sp>
          <p:nvSpPr>
            <p:cNvPr id="44" name="TextBox 44"/>
            <p:cNvSpPr txBox="1"/>
            <p:nvPr/>
          </p:nvSpPr>
          <p:spPr>
            <a:xfrm>
              <a:off x="2418398" y="4225766"/>
              <a:ext cx="352306" cy="167640"/>
            </a:xfrm>
            <a:prstGeom prst="rect">
              <a:avLst/>
            </a:prstGeom>
            <a:noFill/>
            <a:ln>
              <a:noFill/>
            </a:ln>
          </p:spPr>
          <p:txBody>
            <a:bodyPr wrap="none" lIns="0" tIns="0" rIns="0" bIns="0" anchor="t" anchorCtr="0">
              <a:spAutoFit/>
            </a:bodyPr>
            <a:lstStyle/>
            <a:p>
              <a:pPr algn="l"/>
              <a:r>
                <a:rPr lang="zh-CN" sz="825" dirty="0">
                  <a:solidFill>
                    <a:srgbClr val="2196F3"/>
                  </a:solidFill>
                  <a:latin typeface="Arial"/>
                  <a:ea typeface="Microsoft YaHei"/>
                  <a:cs typeface="Arial"/>
                </a:rPr>
                <a:t>97.7%</a:t>
              </a:r>
            </a:p>
          </p:txBody>
        </p:sp>
        <p:sp>
          <p:nvSpPr>
            <p:cNvPr id="45" name="TextBox 45"/>
            <p:cNvSpPr txBox="1"/>
            <p:nvPr/>
          </p:nvSpPr>
          <p:spPr>
            <a:xfrm>
              <a:off x="2799398" y="4225766"/>
              <a:ext cx="368873" cy="167640"/>
            </a:xfrm>
            <a:prstGeom prst="rect">
              <a:avLst/>
            </a:prstGeom>
            <a:noFill/>
            <a:ln>
              <a:noFill/>
            </a:ln>
          </p:spPr>
          <p:txBody>
            <a:bodyPr wrap="none" lIns="0" tIns="0" rIns="0" bIns="0" anchor="t" anchorCtr="0">
              <a:spAutoFit/>
            </a:bodyPr>
            <a:lstStyle/>
            <a:p>
              <a:pPr algn="l"/>
              <a:r>
                <a:rPr lang="zh-CN" sz="825" b="1" dirty="0">
                  <a:solidFill>
                    <a:srgbClr val="1B3A6B"/>
                  </a:solidFill>
                  <a:latin typeface="Arial"/>
                  <a:ea typeface="Microsoft YaHei"/>
                  <a:cs typeface="Arial"/>
                </a:rPr>
                <a:t>97.7%</a:t>
              </a:r>
            </a:p>
          </p:txBody>
        </p:sp>
        <p:sp>
          <p:nvSpPr>
            <p:cNvPr id="46" name="TextBox 46"/>
            <p:cNvSpPr txBox="1"/>
            <p:nvPr/>
          </p:nvSpPr>
          <p:spPr>
            <a:xfrm>
              <a:off x="560070" y="4617720"/>
              <a:ext cx="926873" cy="182880"/>
            </a:xfrm>
            <a:prstGeom prst="rect">
              <a:avLst/>
            </a:prstGeom>
            <a:noFill/>
            <a:ln>
              <a:noFill/>
            </a:ln>
          </p:spPr>
          <p:txBody>
            <a:bodyPr wrap="none" lIns="0" tIns="0" rIns="0" bIns="0" anchor="t" anchorCtr="0">
              <a:spAutoFit/>
            </a:bodyPr>
            <a:lstStyle/>
            <a:p>
              <a:pPr algn="l"/>
              <a:r>
                <a:rPr lang="zh-CN" sz="900" b="1" dirty="0">
                  <a:solidFill>
                    <a:srgbClr val="1B3A6B"/>
                  </a:solidFill>
                  <a:latin typeface="Arial"/>
                  <a:ea typeface="Microsoft YaHei"/>
                  <a:cs typeface="Arial"/>
                </a:rPr>
                <a:t>融合权重分配:</a:t>
              </a:r>
            </a:p>
          </p:txBody>
        </p:sp>
        <p:sp>
          <p:nvSpPr>
            <p:cNvPr id="47" name="Freeform 47"/>
            <p:cNvSpPr/>
            <p:nvPr/>
          </p:nvSpPr>
          <p:spPr>
            <a:xfrm>
              <a:off x="571500" y="4810125"/>
              <a:ext cx="2428875" cy="571500"/>
            </a:xfrm>
            <a:custGeom>
              <a:avLst/>
              <a:gdLst/>
              <a:ahLst/>
              <a:cxnLst/>
              <a:rect l="l" t="t" r="r" b="b"/>
              <a:pathLst>
                <a:path w="2428875" h="571500">
                  <a:moveTo>
                    <a:pt x="57150" y="0"/>
                  </a:moveTo>
                  <a:lnTo>
                    <a:pt x="2371725" y="0"/>
                  </a:lnTo>
                  <a:cubicBezTo>
                    <a:pt x="2403288" y="0"/>
                    <a:pt x="2428875" y="25587"/>
                    <a:pt x="2428875" y="57150"/>
                  </a:cubicBezTo>
                  <a:lnTo>
                    <a:pt x="2428875" y="514350"/>
                  </a:lnTo>
                  <a:cubicBezTo>
                    <a:pt x="2428875" y="545913"/>
                    <a:pt x="2403288" y="571500"/>
                    <a:pt x="2371725" y="571500"/>
                  </a:cubicBezTo>
                  <a:lnTo>
                    <a:pt x="57150" y="571500"/>
                  </a:lnTo>
                  <a:cubicBezTo>
                    <a:pt x="25587" y="571500"/>
                    <a:pt x="0" y="545913"/>
                    <a:pt x="0" y="514350"/>
                  </a:cubicBezTo>
                  <a:lnTo>
                    <a:pt x="0" y="57150"/>
                  </a:lnTo>
                  <a:cubicBezTo>
                    <a:pt x="0" y="25587"/>
                    <a:pt x="25587" y="0"/>
                    <a:pt x="57150" y="0"/>
                  </a:cubicBezTo>
                  <a:close/>
                </a:path>
              </a:pathLst>
            </a:custGeom>
            <a:solidFill>
              <a:srgbClr val="F8FAFC"/>
            </a:solidFill>
            <a:ln w="9525">
              <a:solidFill>
                <a:srgbClr val="E5E7EB"/>
              </a:solidFill>
            </a:ln>
          </p:spPr>
        </p:sp>
        <p:sp>
          <p:nvSpPr>
            <p:cNvPr id="48" name="TextBox 48"/>
            <p:cNvSpPr txBox="1"/>
            <p:nvPr/>
          </p:nvSpPr>
          <p:spPr>
            <a:xfrm>
              <a:off x="656272" y="4930616"/>
              <a:ext cx="1207794"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RF=27.0% MLP=26.4%</a:t>
              </a:r>
            </a:p>
          </p:txBody>
        </p:sp>
        <p:sp>
          <p:nvSpPr>
            <p:cNvPr id="49" name="TextBox 49"/>
            <p:cNvSpPr txBox="1"/>
            <p:nvPr/>
          </p:nvSpPr>
          <p:spPr>
            <a:xfrm>
              <a:off x="656272" y="5102066"/>
              <a:ext cx="1346359"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CNN1D=26.1% SVM=20.6%</a:t>
              </a:r>
            </a:p>
          </p:txBody>
        </p:sp>
        <p:sp>
          <p:nvSpPr>
            <p:cNvPr id="50" name="TextBox 50"/>
            <p:cNvSpPr txBox="1"/>
            <p:nvPr/>
          </p:nvSpPr>
          <p:spPr>
            <a:xfrm>
              <a:off x="656272" y="5273516"/>
              <a:ext cx="1346359"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基于验证集准确率归一化</a:t>
              </a:r>
            </a:p>
          </p:txBody>
        </p:sp>
        <p:sp>
          <p:nvSpPr>
            <p:cNvPr id="51" name="TextBox 51"/>
            <p:cNvSpPr txBox="1"/>
            <p:nvPr/>
          </p:nvSpPr>
          <p:spPr>
            <a:xfrm>
              <a:off x="560070" y="5570220"/>
              <a:ext cx="650838" cy="182880"/>
            </a:xfrm>
            <a:prstGeom prst="rect">
              <a:avLst/>
            </a:prstGeom>
            <a:noFill/>
            <a:ln>
              <a:noFill/>
            </a:ln>
          </p:spPr>
          <p:txBody>
            <a:bodyPr wrap="none" lIns="0" tIns="0" rIns="0" bIns="0" anchor="t" anchorCtr="0">
              <a:spAutoFit/>
            </a:bodyPr>
            <a:lstStyle/>
            <a:p>
              <a:pPr algn="l"/>
              <a:r>
                <a:rPr lang="zh-CN" sz="900" b="1" dirty="0">
                  <a:solidFill>
                    <a:srgbClr val="1B3A6B"/>
                  </a:solidFill>
                  <a:latin typeface="Arial"/>
                  <a:ea typeface="Microsoft YaHei"/>
                  <a:cs typeface="Arial"/>
                </a:rPr>
                <a:t>推理效率:</a:t>
              </a:r>
            </a:p>
          </p:txBody>
        </p:sp>
        <p:sp>
          <p:nvSpPr>
            <p:cNvPr id="52" name="Freeform 52"/>
            <p:cNvSpPr/>
            <p:nvPr/>
          </p:nvSpPr>
          <p:spPr>
            <a:xfrm>
              <a:off x="571500" y="5762625"/>
              <a:ext cx="2428875" cy="533400"/>
            </a:xfrm>
            <a:custGeom>
              <a:avLst/>
              <a:gdLst/>
              <a:ahLst/>
              <a:cxnLst/>
              <a:rect l="l" t="t" r="r" b="b"/>
              <a:pathLst>
                <a:path w="2428875" h="533400">
                  <a:moveTo>
                    <a:pt x="57150" y="0"/>
                  </a:moveTo>
                  <a:lnTo>
                    <a:pt x="2371725" y="0"/>
                  </a:lnTo>
                  <a:cubicBezTo>
                    <a:pt x="2403288" y="0"/>
                    <a:pt x="2428875" y="25587"/>
                    <a:pt x="2428875" y="57150"/>
                  </a:cubicBezTo>
                  <a:lnTo>
                    <a:pt x="2428875" y="476250"/>
                  </a:lnTo>
                  <a:cubicBezTo>
                    <a:pt x="2428875" y="507813"/>
                    <a:pt x="2403288" y="533400"/>
                    <a:pt x="2371725" y="533400"/>
                  </a:cubicBezTo>
                  <a:lnTo>
                    <a:pt x="57150" y="533400"/>
                  </a:lnTo>
                  <a:cubicBezTo>
                    <a:pt x="25587" y="533400"/>
                    <a:pt x="0" y="507813"/>
                    <a:pt x="0" y="476250"/>
                  </a:cubicBezTo>
                  <a:lnTo>
                    <a:pt x="0" y="57150"/>
                  </a:lnTo>
                  <a:cubicBezTo>
                    <a:pt x="0" y="25587"/>
                    <a:pt x="25587" y="0"/>
                    <a:pt x="57150" y="0"/>
                  </a:cubicBezTo>
                  <a:close/>
                </a:path>
              </a:pathLst>
            </a:custGeom>
            <a:solidFill>
              <a:srgbClr val="F8FAFC"/>
            </a:solidFill>
            <a:ln w="9525">
              <a:solidFill>
                <a:srgbClr val="E5E7EB"/>
              </a:solidFill>
            </a:ln>
          </p:spPr>
        </p:sp>
        <p:sp>
          <p:nvSpPr>
            <p:cNvPr id="53" name="TextBox 53"/>
            <p:cNvSpPr txBox="1"/>
            <p:nvPr/>
          </p:nvSpPr>
          <p:spPr>
            <a:xfrm>
              <a:off x="656272" y="5883116"/>
              <a:ext cx="1153573"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单次预测: 毫秒~秒级</a:t>
              </a:r>
            </a:p>
          </p:txBody>
        </p:sp>
        <p:sp>
          <p:nvSpPr>
            <p:cNvPr id="54" name="TextBox 54"/>
            <p:cNvSpPr txBox="1"/>
            <p:nvPr/>
          </p:nvSpPr>
          <p:spPr>
            <a:xfrm>
              <a:off x="656272" y="6054566"/>
              <a:ext cx="924639"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FDS仿真: 数小时</a:t>
              </a:r>
            </a:p>
          </p:txBody>
        </p:sp>
        <p:sp>
          <p:nvSpPr>
            <p:cNvPr id="55" name="TextBox 55"/>
            <p:cNvSpPr txBox="1"/>
            <p:nvPr/>
          </p:nvSpPr>
          <p:spPr>
            <a:xfrm>
              <a:off x="656272" y="6226016"/>
              <a:ext cx="938195" cy="167640"/>
            </a:xfrm>
            <a:prstGeom prst="rect">
              <a:avLst/>
            </a:prstGeom>
            <a:noFill/>
            <a:ln>
              <a:noFill/>
            </a:ln>
          </p:spPr>
          <p:txBody>
            <a:bodyPr wrap="none" lIns="0" tIns="0" rIns="0" bIns="0" anchor="t" anchorCtr="0">
              <a:spAutoFit/>
            </a:bodyPr>
            <a:lstStyle/>
            <a:p>
              <a:pPr algn="l"/>
              <a:r>
                <a:rPr lang="zh-CN" sz="825" b="1" dirty="0">
                  <a:solidFill>
                    <a:srgbClr val="16A34A"/>
                  </a:solidFill>
                  <a:latin typeface="Arial"/>
                  <a:ea typeface="Microsoft YaHei"/>
                  <a:cs typeface="Arial"/>
                </a:rPr>
                <a:t>提升 3-4 数量级</a:t>
              </a:r>
            </a:p>
          </p:txBody>
        </p:sp>
      </p:grpSp>
      <p:grpSp>
        <p:nvGrpSpPr>
          <p:cNvPr id="91" name="Group 91"/>
          <p:cNvGrpSpPr/>
          <p:nvPr/>
        </p:nvGrpSpPr>
        <p:grpSpPr>
          <a:xfrm>
            <a:off x="3509010" y="870585"/>
            <a:ext cx="8016240" cy="5187315"/>
            <a:chOff x="3509010" y="870585"/>
            <a:chExt cx="8016240" cy="5187315"/>
          </a:xfrm>
        </p:grpSpPr>
        <p:sp>
          <p:nvSpPr>
            <p:cNvPr id="57" name="TextBox 57"/>
            <p:cNvSpPr txBox="1"/>
            <p:nvPr/>
          </p:nvSpPr>
          <p:spPr>
            <a:xfrm>
              <a:off x="3509010" y="870585"/>
              <a:ext cx="2422779" cy="243840"/>
            </a:xfrm>
            <a:prstGeom prst="rect">
              <a:avLst/>
            </a:prstGeom>
            <a:noFill/>
            <a:ln>
              <a:noFill/>
            </a:ln>
          </p:spPr>
          <p:txBody>
            <a:bodyPr wrap="none" lIns="0" tIns="0" rIns="0" bIns="0" anchor="t" anchorCtr="0">
              <a:spAutoFit/>
            </a:bodyPr>
            <a:lstStyle/>
            <a:p>
              <a:pPr algn="l"/>
              <a:r>
                <a:rPr lang="zh-CN" sz="1200" b="1" dirty="0">
                  <a:solidFill>
                    <a:srgbClr val="1B3A6B"/>
                  </a:solidFill>
                  <a:latin typeface="Arial"/>
                  <a:ea typeface="Microsoft YaHei"/>
                  <a:cs typeface="Arial"/>
                </a:rPr>
                <a:t>各模型整体测试集准确率对比</a:t>
              </a:r>
            </a:p>
          </p:txBody>
        </p:sp>
        <p:sp>
          <p:nvSpPr>
            <p:cNvPr id="58" name="TextBox 58"/>
            <p:cNvSpPr txBox="1"/>
            <p:nvPr/>
          </p:nvSpPr>
          <p:spPr>
            <a:xfrm>
              <a:off x="3512820" y="1112520"/>
              <a:ext cx="180394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四类设施混合数据集 · 单位: %</a:t>
              </a:r>
            </a:p>
          </p:txBody>
        </p:sp>
        <p:sp>
          <p:nvSpPr>
            <p:cNvPr id="59" name="Line 59"/>
            <p:cNvSpPr/>
            <p:nvPr/>
          </p:nvSpPr>
          <p:spPr>
            <a:xfrm>
              <a:off x="4095750" y="1524000"/>
              <a:ext cx="9525" cy="3762375"/>
            </a:xfrm>
            <a:custGeom>
              <a:avLst/>
              <a:gdLst/>
              <a:ahLst/>
              <a:cxnLst/>
              <a:rect l="l" t="t" r="r" b="b"/>
              <a:pathLst>
                <a:path w="9525" h="3762375">
                  <a:moveTo>
                    <a:pt x="0" y="0"/>
                  </a:moveTo>
                  <a:lnTo>
                    <a:pt x="0" y="3762375"/>
                  </a:lnTo>
                </a:path>
              </a:pathLst>
            </a:custGeom>
            <a:noFill/>
            <a:ln w="19050">
              <a:solidFill>
                <a:srgbClr val="95A5A6"/>
              </a:solidFill>
            </a:ln>
          </p:spPr>
        </p:sp>
        <p:sp>
          <p:nvSpPr>
            <p:cNvPr id="60" name="Line 60"/>
            <p:cNvSpPr/>
            <p:nvPr/>
          </p:nvSpPr>
          <p:spPr>
            <a:xfrm>
              <a:off x="4095750" y="5286375"/>
              <a:ext cx="7429500" cy="9525"/>
            </a:xfrm>
            <a:custGeom>
              <a:avLst/>
              <a:gdLst/>
              <a:ahLst/>
              <a:cxnLst/>
              <a:rect l="l" t="t" r="r" b="b"/>
              <a:pathLst>
                <a:path w="7429500" h="9525">
                  <a:moveTo>
                    <a:pt x="0" y="0"/>
                  </a:moveTo>
                  <a:lnTo>
                    <a:pt x="7429500" y="0"/>
                  </a:lnTo>
                </a:path>
              </a:pathLst>
            </a:custGeom>
            <a:noFill/>
            <a:ln w="19050">
              <a:solidFill>
                <a:srgbClr val="95A5A6"/>
              </a:solidFill>
            </a:ln>
          </p:spPr>
        </p:sp>
        <p:sp>
          <p:nvSpPr>
            <p:cNvPr id="61" name="TextBox 61"/>
            <p:cNvSpPr txBox="1"/>
            <p:nvPr/>
          </p:nvSpPr>
          <p:spPr>
            <a:xfrm>
              <a:off x="3805047" y="1464945"/>
              <a:ext cx="206883"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100</a:t>
              </a:r>
            </a:p>
          </p:txBody>
        </p:sp>
        <p:sp>
          <p:nvSpPr>
            <p:cNvPr id="62" name="Line 62"/>
            <p:cNvSpPr/>
            <p:nvPr/>
          </p:nvSpPr>
          <p:spPr>
            <a:xfrm>
              <a:off x="4095750" y="1524000"/>
              <a:ext cx="7429500" cy="9525"/>
            </a:xfrm>
            <a:custGeom>
              <a:avLst/>
              <a:gdLst/>
              <a:ahLst/>
              <a:cxnLst/>
              <a:rect l="l" t="t" r="r" b="b"/>
              <a:pathLst>
                <a:path w="7429500" h="9525">
                  <a:moveTo>
                    <a:pt x="0" y="0"/>
                  </a:moveTo>
                  <a:lnTo>
                    <a:pt x="7429500" y="0"/>
                  </a:lnTo>
                </a:path>
              </a:pathLst>
            </a:custGeom>
            <a:noFill/>
            <a:ln w="9525">
              <a:solidFill>
                <a:srgbClr val="E0E0E0"/>
              </a:solidFill>
              <a:prstDash val="dash"/>
            </a:ln>
          </p:spPr>
        </p:sp>
        <p:sp>
          <p:nvSpPr>
            <p:cNvPr id="63" name="TextBox 63"/>
            <p:cNvSpPr txBox="1"/>
            <p:nvPr/>
          </p:nvSpPr>
          <p:spPr>
            <a:xfrm>
              <a:off x="3844480" y="2369820"/>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80</a:t>
              </a:r>
            </a:p>
          </p:txBody>
        </p:sp>
        <p:sp>
          <p:nvSpPr>
            <p:cNvPr id="64" name="Line 64"/>
            <p:cNvSpPr/>
            <p:nvPr/>
          </p:nvSpPr>
          <p:spPr>
            <a:xfrm>
              <a:off x="4095750" y="2428875"/>
              <a:ext cx="7429500" cy="9525"/>
            </a:xfrm>
            <a:custGeom>
              <a:avLst/>
              <a:gdLst/>
              <a:ahLst/>
              <a:cxnLst/>
              <a:rect l="l" t="t" r="r" b="b"/>
              <a:pathLst>
                <a:path w="7429500" h="9525">
                  <a:moveTo>
                    <a:pt x="0" y="0"/>
                  </a:moveTo>
                  <a:lnTo>
                    <a:pt x="7429500" y="0"/>
                  </a:lnTo>
                </a:path>
              </a:pathLst>
            </a:custGeom>
            <a:noFill/>
            <a:ln w="9525">
              <a:solidFill>
                <a:srgbClr val="E0E0E0"/>
              </a:solidFill>
              <a:prstDash val="dash"/>
            </a:ln>
          </p:spPr>
        </p:sp>
        <p:sp>
          <p:nvSpPr>
            <p:cNvPr id="65" name="TextBox 65"/>
            <p:cNvSpPr txBox="1"/>
            <p:nvPr/>
          </p:nvSpPr>
          <p:spPr>
            <a:xfrm>
              <a:off x="3844480" y="3274695"/>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60</a:t>
              </a:r>
            </a:p>
          </p:txBody>
        </p:sp>
        <p:sp>
          <p:nvSpPr>
            <p:cNvPr id="66" name="Line 66"/>
            <p:cNvSpPr/>
            <p:nvPr/>
          </p:nvSpPr>
          <p:spPr>
            <a:xfrm>
              <a:off x="4095750" y="3333750"/>
              <a:ext cx="7429500" cy="9525"/>
            </a:xfrm>
            <a:custGeom>
              <a:avLst/>
              <a:gdLst/>
              <a:ahLst/>
              <a:cxnLst/>
              <a:rect l="l" t="t" r="r" b="b"/>
              <a:pathLst>
                <a:path w="7429500" h="9525">
                  <a:moveTo>
                    <a:pt x="0" y="0"/>
                  </a:moveTo>
                  <a:lnTo>
                    <a:pt x="7429500" y="0"/>
                  </a:lnTo>
                </a:path>
              </a:pathLst>
            </a:custGeom>
            <a:noFill/>
            <a:ln w="9525">
              <a:solidFill>
                <a:srgbClr val="E0E0E0"/>
              </a:solidFill>
              <a:prstDash val="dash"/>
            </a:ln>
          </p:spPr>
        </p:sp>
        <p:sp>
          <p:nvSpPr>
            <p:cNvPr id="67" name="TextBox 67"/>
            <p:cNvSpPr txBox="1"/>
            <p:nvPr/>
          </p:nvSpPr>
          <p:spPr>
            <a:xfrm>
              <a:off x="3844480" y="4179570"/>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40</a:t>
              </a:r>
            </a:p>
          </p:txBody>
        </p:sp>
        <p:sp>
          <p:nvSpPr>
            <p:cNvPr id="68" name="Line 68"/>
            <p:cNvSpPr/>
            <p:nvPr/>
          </p:nvSpPr>
          <p:spPr>
            <a:xfrm>
              <a:off x="4095750" y="4238625"/>
              <a:ext cx="7429500" cy="9525"/>
            </a:xfrm>
            <a:custGeom>
              <a:avLst/>
              <a:gdLst/>
              <a:ahLst/>
              <a:cxnLst/>
              <a:rect l="l" t="t" r="r" b="b"/>
              <a:pathLst>
                <a:path w="7429500" h="9525">
                  <a:moveTo>
                    <a:pt x="0" y="0"/>
                  </a:moveTo>
                  <a:lnTo>
                    <a:pt x="7429500" y="0"/>
                  </a:lnTo>
                </a:path>
              </a:pathLst>
            </a:custGeom>
            <a:noFill/>
            <a:ln w="9525">
              <a:solidFill>
                <a:srgbClr val="E0E0E0"/>
              </a:solidFill>
              <a:prstDash val="dash"/>
            </a:ln>
          </p:spPr>
        </p:sp>
        <p:sp>
          <p:nvSpPr>
            <p:cNvPr id="69" name="TextBox 69"/>
            <p:cNvSpPr txBox="1"/>
            <p:nvPr/>
          </p:nvSpPr>
          <p:spPr>
            <a:xfrm>
              <a:off x="3916775" y="5227320"/>
              <a:ext cx="95155"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a:t>
              </a:r>
            </a:p>
          </p:txBody>
        </p:sp>
        <p:sp>
          <p:nvSpPr>
            <p:cNvPr id="70" name="Freeform 70"/>
            <p:cNvSpPr/>
            <p:nvPr/>
          </p:nvSpPr>
          <p:spPr>
            <a:xfrm>
              <a:off x="4476750" y="2390775"/>
              <a:ext cx="571500" cy="2895600"/>
            </a:xfrm>
            <a:custGeom>
              <a:avLst/>
              <a:gdLst/>
              <a:ahLst/>
              <a:cxnLst/>
              <a:rect l="l" t="t" r="r" b="b"/>
              <a:pathLst>
                <a:path w="571500" h="2895600">
                  <a:moveTo>
                    <a:pt x="38100" y="0"/>
                  </a:moveTo>
                  <a:lnTo>
                    <a:pt x="533400" y="0"/>
                  </a:lnTo>
                  <a:cubicBezTo>
                    <a:pt x="554442" y="0"/>
                    <a:pt x="571500" y="17058"/>
                    <a:pt x="571500" y="38100"/>
                  </a:cubicBezTo>
                  <a:lnTo>
                    <a:pt x="571500" y="2857500"/>
                  </a:lnTo>
                  <a:cubicBezTo>
                    <a:pt x="571500" y="2878542"/>
                    <a:pt x="554442" y="2895600"/>
                    <a:pt x="533400" y="2895600"/>
                  </a:cubicBezTo>
                  <a:lnTo>
                    <a:pt x="38100" y="2895600"/>
                  </a:lnTo>
                  <a:cubicBezTo>
                    <a:pt x="17058" y="2895600"/>
                    <a:pt x="0" y="2878542"/>
                    <a:pt x="0" y="2857500"/>
                  </a:cubicBezTo>
                  <a:lnTo>
                    <a:pt x="0" y="38100"/>
                  </a:lnTo>
                  <a:cubicBezTo>
                    <a:pt x="0" y="17058"/>
                    <a:pt x="17058" y="0"/>
                    <a:pt x="38100" y="0"/>
                  </a:cubicBezTo>
                  <a:close/>
                </a:path>
              </a:pathLst>
            </a:custGeom>
            <a:gradFill>
              <a:gsLst>
                <a:gs pos="0">
                  <a:srgbClr val="D97706"/>
                </a:gs>
                <a:gs pos="100000">
                  <a:srgbClr val="B45309"/>
                </a:gs>
              </a:gsLst>
              <a:lin ang="5400000" scaled="1"/>
            </a:gradFill>
            <a:ln>
              <a:noFill/>
            </a:ln>
          </p:spPr>
        </p:sp>
        <p:sp>
          <p:nvSpPr>
            <p:cNvPr id="71" name="TextBox 71"/>
            <p:cNvSpPr txBox="1"/>
            <p:nvPr/>
          </p:nvSpPr>
          <p:spPr>
            <a:xfrm>
              <a:off x="4527762" y="2201228"/>
              <a:ext cx="469475" cy="213360"/>
            </a:xfrm>
            <a:prstGeom prst="rect">
              <a:avLst/>
            </a:prstGeom>
            <a:noFill/>
            <a:ln>
              <a:noFill/>
            </a:ln>
          </p:spPr>
          <p:txBody>
            <a:bodyPr wrap="none" lIns="0" tIns="0" rIns="0" bIns="0" anchor="t" anchorCtr="0">
              <a:spAutoFit/>
            </a:bodyPr>
            <a:lstStyle/>
            <a:p>
              <a:pPr algn="ctr"/>
              <a:r>
                <a:rPr lang="zh-CN" sz="1050" b="1" dirty="0">
                  <a:solidFill>
                    <a:srgbClr val="D97706"/>
                  </a:solidFill>
                  <a:latin typeface="Arial"/>
                  <a:ea typeface="Microsoft YaHei"/>
                  <a:cs typeface="Arial"/>
                </a:rPr>
                <a:t>76.9%</a:t>
              </a:r>
            </a:p>
          </p:txBody>
        </p:sp>
        <p:sp>
          <p:nvSpPr>
            <p:cNvPr id="72" name="TextBox 72"/>
            <p:cNvSpPr txBox="1"/>
            <p:nvPr/>
          </p:nvSpPr>
          <p:spPr>
            <a:xfrm>
              <a:off x="4607314" y="5411152"/>
              <a:ext cx="310372" cy="213360"/>
            </a:xfrm>
            <a:prstGeom prst="rect">
              <a:avLst/>
            </a:prstGeom>
            <a:noFill/>
            <a:ln>
              <a:noFill/>
            </a:ln>
          </p:spPr>
          <p:txBody>
            <a:bodyPr wrap="none" lIns="0" tIns="0" rIns="0" bIns="0" anchor="t" anchorCtr="0">
              <a:spAutoFit/>
            </a:bodyPr>
            <a:lstStyle/>
            <a:p>
              <a:pPr algn="ctr"/>
              <a:r>
                <a:rPr lang="zh-CN" sz="1050" dirty="0">
                  <a:solidFill>
                    <a:srgbClr val="6B7280"/>
                  </a:solidFill>
                  <a:latin typeface="Arial"/>
                  <a:ea typeface="Microsoft YaHei"/>
                  <a:cs typeface="Arial"/>
                </a:rPr>
                <a:t>SVM</a:t>
              </a:r>
            </a:p>
          </p:txBody>
        </p:sp>
        <p:sp>
          <p:nvSpPr>
            <p:cNvPr id="73" name="Freeform 73"/>
            <p:cNvSpPr/>
            <p:nvPr/>
          </p:nvSpPr>
          <p:spPr>
            <a:xfrm>
              <a:off x="6191250" y="1590675"/>
              <a:ext cx="571500" cy="3695700"/>
            </a:xfrm>
            <a:custGeom>
              <a:avLst/>
              <a:gdLst/>
              <a:ahLst/>
              <a:cxnLst/>
              <a:rect l="l" t="t" r="r" b="b"/>
              <a:pathLst>
                <a:path w="571500" h="3695700">
                  <a:moveTo>
                    <a:pt x="38100" y="0"/>
                  </a:moveTo>
                  <a:lnTo>
                    <a:pt x="533400" y="0"/>
                  </a:lnTo>
                  <a:cubicBezTo>
                    <a:pt x="554442" y="0"/>
                    <a:pt x="571500" y="17058"/>
                    <a:pt x="571500" y="38100"/>
                  </a:cubicBezTo>
                  <a:lnTo>
                    <a:pt x="571500" y="3657600"/>
                  </a:lnTo>
                  <a:cubicBezTo>
                    <a:pt x="571500" y="3678642"/>
                    <a:pt x="554442" y="3695700"/>
                    <a:pt x="533400" y="3695700"/>
                  </a:cubicBezTo>
                  <a:lnTo>
                    <a:pt x="38100" y="3695700"/>
                  </a:lnTo>
                  <a:cubicBezTo>
                    <a:pt x="17058" y="3695700"/>
                    <a:pt x="0" y="3678642"/>
                    <a:pt x="0" y="3657600"/>
                  </a:cubicBezTo>
                  <a:lnTo>
                    <a:pt x="0" y="38100"/>
                  </a:lnTo>
                  <a:cubicBezTo>
                    <a:pt x="0" y="17058"/>
                    <a:pt x="17058" y="0"/>
                    <a:pt x="38100" y="0"/>
                  </a:cubicBezTo>
                  <a:close/>
                </a:path>
              </a:pathLst>
            </a:custGeom>
            <a:gradFill>
              <a:gsLst>
                <a:gs pos="0">
                  <a:srgbClr val="16A34A"/>
                </a:gs>
                <a:gs pos="100000">
                  <a:srgbClr val="15803D"/>
                </a:gs>
              </a:gsLst>
              <a:lin ang="5400000" scaled="1"/>
            </a:gradFill>
            <a:ln>
              <a:noFill/>
            </a:ln>
          </p:spPr>
        </p:sp>
        <p:sp>
          <p:nvSpPr>
            <p:cNvPr id="74" name="TextBox 74"/>
            <p:cNvSpPr txBox="1"/>
            <p:nvPr/>
          </p:nvSpPr>
          <p:spPr>
            <a:xfrm>
              <a:off x="6262390" y="1401128"/>
              <a:ext cx="429220" cy="213360"/>
            </a:xfrm>
            <a:prstGeom prst="rect">
              <a:avLst/>
            </a:prstGeom>
            <a:noFill/>
            <a:ln>
              <a:noFill/>
            </a:ln>
          </p:spPr>
          <p:txBody>
            <a:bodyPr wrap="none" lIns="0" tIns="0" rIns="0" bIns="0" anchor="t" anchorCtr="0">
              <a:spAutoFit/>
            </a:bodyPr>
            <a:lstStyle/>
            <a:p>
              <a:pPr algn="ctr"/>
              <a:r>
                <a:rPr lang="zh-CN" sz="1050" b="1" dirty="0">
                  <a:solidFill>
                    <a:srgbClr val="16A34A"/>
                  </a:solidFill>
                  <a:latin typeface="Arial"/>
                  <a:ea typeface="Microsoft YaHei"/>
                  <a:cs typeface="Arial"/>
                </a:rPr>
                <a:t>98.1%</a:t>
              </a:r>
            </a:p>
          </p:txBody>
        </p:sp>
        <p:sp>
          <p:nvSpPr>
            <p:cNvPr id="75" name="TextBox 75"/>
            <p:cNvSpPr txBox="1"/>
            <p:nvPr/>
          </p:nvSpPr>
          <p:spPr>
            <a:xfrm>
              <a:off x="6379321" y="5411152"/>
              <a:ext cx="195358" cy="213360"/>
            </a:xfrm>
            <a:prstGeom prst="rect">
              <a:avLst/>
            </a:prstGeom>
            <a:noFill/>
            <a:ln>
              <a:noFill/>
            </a:ln>
          </p:spPr>
          <p:txBody>
            <a:bodyPr wrap="none" lIns="0" tIns="0" rIns="0" bIns="0" anchor="t" anchorCtr="0">
              <a:spAutoFit/>
            </a:bodyPr>
            <a:lstStyle/>
            <a:p>
              <a:pPr algn="ctr"/>
              <a:r>
                <a:rPr lang="zh-CN" sz="1050" dirty="0">
                  <a:solidFill>
                    <a:srgbClr val="6B7280"/>
                  </a:solidFill>
                  <a:latin typeface="Arial"/>
                  <a:ea typeface="Microsoft YaHei"/>
                  <a:cs typeface="Arial"/>
                </a:rPr>
                <a:t>RF</a:t>
              </a:r>
            </a:p>
          </p:txBody>
        </p:sp>
        <p:sp>
          <p:nvSpPr>
            <p:cNvPr id="76" name="Freeform 76"/>
            <p:cNvSpPr/>
            <p:nvPr/>
          </p:nvSpPr>
          <p:spPr>
            <a:xfrm>
              <a:off x="7905750" y="1666875"/>
              <a:ext cx="571500" cy="3619500"/>
            </a:xfrm>
            <a:custGeom>
              <a:avLst/>
              <a:gdLst/>
              <a:ahLst/>
              <a:cxnLst/>
              <a:rect l="l" t="t" r="r" b="b"/>
              <a:pathLst>
                <a:path w="571500" h="3619500">
                  <a:moveTo>
                    <a:pt x="38100" y="0"/>
                  </a:moveTo>
                  <a:lnTo>
                    <a:pt x="533400" y="0"/>
                  </a:lnTo>
                  <a:cubicBezTo>
                    <a:pt x="554442" y="0"/>
                    <a:pt x="571500" y="17058"/>
                    <a:pt x="571500" y="38100"/>
                  </a:cubicBezTo>
                  <a:lnTo>
                    <a:pt x="571500" y="3581400"/>
                  </a:lnTo>
                  <a:cubicBezTo>
                    <a:pt x="571500" y="3602442"/>
                    <a:pt x="554442" y="3619500"/>
                    <a:pt x="533400" y="3619500"/>
                  </a:cubicBezTo>
                  <a:lnTo>
                    <a:pt x="38100" y="3619500"/>
                  </a:lnTo>
                  <a:cubicBezTo>
                    <a:pt x="17058" y="3619500"/>
                    <a:pt x="0" y="3602442"/>
                    <a:pt x="0" y="3581400"/>
                  </a:cubicBezTo>
                  <a:lnTo>
                    <a:pt x="0" y="38100"/>
                  </a:lnTo>
                  <a:cubicBezTo>
                    <a:pt x="0" y="17058"/>
                    <a:pt x="17058" y="0"/>
                    <a:pt x="38100" y="0"/>
                  </a:cubicBezTo>
                  <a:close/>
                </a:path>
              </a:pathLst>
            </a:custGeom>
            <a:gradFill>
              <a:gsLst>
                <a:gs pos="0">
                  <a:srgbClr val="2196F3"/>
                </a:gs>
                <a:gs pos="100000">
                  <a:srgbClr val="1565C0"/>
                </a:gs>
              </a:gsLst>
              <a:lin ang="5400000" scaled="1"/>
            </a:gradFill>
            <a:ln>
              <a:noFill/>
            </a:ln>
          </p:spPr>
        </p:sp>
        <p:sp>
          <p:nvSpPr>
            <p:cNvPr id="77" name="TextBox 77"/>
            <p:cNvSpPr txBox="1"/>
            <p:nvPr/>
          </p:nvSpPr>
          <p:spPr>
            <a:xfrm>
              <a:off x="7956762" y="1477328"/>
              <a:ext cx="469475" cy="213360"/>
            </a:xfrm>
            <a:prstGeom prst="rect">
              <a:avLst/>
            </a:prstGeom>
            <a:noFill/>
            <a:ln>
              <a:noFill/>
            </a:ln>
          </p:spPr>
          <p:txBody>
            <a:bodyPr wrap="none" lIns="0" tIns="0" rIns="0" bIns="0" anchor="t" anchorCtr="0">
              <a:spAutoFit/>
            </a:bodyPr>
            <a:lstStyle/>
            <a:p>
              <a:pPr algn="ctr"/>
              <a:r>
                <a:rPr lang="zh-CN" sz="1050" b="1" dirty="0">
                  <a:solidFill>
                    <a:srgbClr val="2196F3"/>
                  </a:solidFill>
                  <a:latin typeface="Arial"/>
                  <a:ea typeface="Microsoft YaHei"/>
                  <a:cs typeface="Arial"/>
                </a:rPr>
                <a:t>96.3%</a:t>
              </a:r>
            </a:p>
          </p:txBody>
        </p:sp>
        <p:sp>
          <p:nvSpPr>
            <p:cNvPr id="78" name="TextBox 78"/>
            <p:cNvSpPr txBox="1"/>
            <p:nvPr/>
          </p:nvSpPr>
          <p:spPr>
            <a:xfrm>
              <a:off x="8036314" y="5411152"/>
              <a:ext cx="310372" cy="213360"/>
            </a:xfrm>
            <a:prstGeom prst="rect">
              <a:avLst/>
            </a:prstGeom>
            <a:noFill/>
            <a:ln>
              <a:noFill/>
            </a:ln>
          </p:spPr>
          <p:txBody>
            <a:bodyPr wrap="none" lIns="0" tIns="0" rIns="0" bIns="0" anchor="t" anchorCtr="0">
              <a:spAutoFit/>
            </a:bodyPr>
            <a:lstStyle/>
            <a:p>
              <a:pPr algn="ctr"/>
              <a:r>
                <a:rPr lang="zh-CN" sz="1050" dirty="0">
                  <a:solidFill>
                    <a:srgbClr val="6B7280"/>
                  </a:solidFill>
                  <a:latin typeface="Arial"/>
                  <a:ea typeface="Microsoft YaHei"/>
                  <a:cs typeface="Arial"/>
                </a:rPr>
                <a:t>MLP</a:t>
              </a:r>
            </a:p>
          </p:txBody>
        </p:sp>
        <p:sp>
          <p:nvSpPr>
            <p:cNvPr id="79" name="Freeform 79"/>
            <p:cNvSpPr/>
            <p:nvPr/>
          </p:nvSpPr>
          <p:spPr>
            <a:xfrm>
              <a:off x="9620250" y="1752600"/>
              <a:ext cx="571500" cy="3533775"/>
            </a:xfrm>
            <a:custGeom>
              <a:avLst/>
              <a:gdLst/>
              <a:ahLst/>
              <a:cxnLst/>
              <a:rect l="l" t="t" r="r" b="b"/>
              <a:pathLst>
                <a:path w="571500" h="3533775">
                  <a:moveTo>
                    <a:pt x="38100" y="0"/>
                  </a:moveTo>
                  <a:lnTo>
                    <a:pt x="533400" y="0"/>
                  </a:lnTo>
                  <a:cubicBezTo>
                    <a:pt x="554442" y="0"/>
                    <a:pt x="571500" y="17058"/>
                    <a:pt x="571500" y="38100"/>
                  </a:cubicBezTo>
                  <a:lnTo>
                    <a:pt x="571500" y="3495675"/>
                  </a:lnTo>
                  <a:cubicBezTo>
                    <a:pt x="571500" y="3516717"/>
                    <a:pt x="554442" y="3533775"/>
                    <a:pt x="533400" y="3533775"/>
                  </a:cubicBezTo>
                  <a:lnTo>
                    <a:pt x="38100" y="3533775"/>
                  </a:lnTo>
                  <a:cubicBezTo>
                    <a:pt x="17058" y="3533775"/>
                    <a:pt x="0" y="3516717"/>
                    <a:pt x="0" y="3495675"/>
                  </a:cubicBezTo>
                  <a:lnTo>
                    <a:pt x="0" y="38100"/>
                  </a:lnTo>
                  <a:cubicBezTo>
                    <a:pt x="0" y="17058"/>
                    <a:pt x="17058" y="0"/>
                    <a:pt x="38100" y="0"/>
                  </a:cubicBezTo>
                  <a:close/>
                </a:path>
              </a:pathLst>
            </a:custGeom>
            <a:gradFill>
              <a:gsLst>
                <a:gs pos="0">
                  <a:srgbClr val="4A90D9"/>
                </a:gs>
                <a:gs pos="100000">
                  <a:srgbClr val="1E5AA8"/>
                </a:gs>
              </a:gsLst>
              <a:lin ang="5400000" scaled="1"/>
            </a:gradFill>
            <a:ln>
              <a:noFill/>
            </a:ln>
          </p:spPr>
        </p:sp>
        <p:sp>
          <p:nvSpPr>
            <p:cNvPr id="80" name="TextBox 80"/>
            <p:cNvSpPr txBox="1"/>
            <p:nvPr/>
          </p:nvSpPr>
          <p:spPr>
            <a:xfrm>
              <a:off x="9671262" y="1563052"/>
              <a:ext cx="469475" cy="213360"/>
            </a:xfrm>
            <a:prstGeom prst="rect">
              <a:avLst/>
            </a:prstGeom>
            <a:noFill/>
            <a:ln>
              <a:noFill/>
            </a:ln>
          </p:spPr>
          <p:txBody>
            <a:bodyPr wrap="none" lIns="0" tIns="0" rIns="0" bIns="0" anchor="t" anchorCtr="0">
              <a:spAutoFit/>
            </a:bodyPr>
            <a:lstStyle/>
            <a:p>
              <a:pPr algn="ctr"/>
              <a:r>
                <a:rPr lang="zh-CN" sz="1050" b="1" dirty="0">
                  <a:solidFill>
                    <a:srgbClr val="4A90D9"/>
                  </a:solidFill>
                  <a:latin typeface="Arial"/>
                  <a:ea typeface="Microsoft YaHei"/>
                  <a:cs typeface="Arial"/>
                </a:rPr>
                <a:t>94.0%</a:t>
              </a:r>
            </a:p>
          </p:txBody>
        </p:sp>
        <p:sp>
          <p:nvSpPr>
            <p:cNvPr id="81" name="TextBox 81"/>
            <p:cNvSpPr txBox="1"/>
            <p:nvPr/>
          </p:nvSpPr>
          <p:spPr>
            <a:xfrm>
              <a:off x="9700974" y="5411152"/>
              <a:ext cx="410051" cy="213360"/>
            </a:xfrm>
            <a:prstGeom prst="rect">
              <a:avLst/>
            </a:prstGeom>
            <a:noFill/>
            <a:ln>
              <a:noFill/>
            </a:ln>
          </p:spPr>
          <p:txBody>
            <a:bodyPr wrap="none" lIns="0" tIns="0" rIns="0" bIns="0" anchor="t" anchorCtr="0">
              <a:spAutoFit/>
            </a:bodyPr>
            <a:lstStyle/>
            <a:p>
              <a:pPr algn="ctr"/>
              <a:r>
                <a:rPr lang="zh-CN" sz="1050" dirty="0">
                  <a:solidFill>
                    <a:srgbClr val="6B7280"/>
                  </a:solidFill>
                  <a:latin typeface="Arial"/>
                  <a:ea typeface="Microsoft YaHei"/>
                  <a:cs typeface="Arial"/>
                </a:rPr>
                <a:t>CNN1D</a:t>
              </a:r>
            </a:p>
          </p:txBody>
        </p:sp>
        <p:grpSp>
          <p:nvGrpSpPr>
            <p:cNvPr id="90" name="Group 90"/>
            <p:cNvGrpSpPr/>
            <p:nvPr/>
          </p:nvGrpSpPr>
          <p:grpSpPr>
            <a:xfrm>
              <a:off x="4095750" y="5857875"/>
              <a:ext cx="6212586" cy="200025"/>
              <a:chOff x="4095750" y="5857875"/>
              <a:chExt cx="6212586" cy="200025"/>
            </a:xfrm>
          </p:grpSpPr>
          <p:sp>
            <p:nvSpPr>
              <p:cNvPr id="82" name="Freeform 82"/>
              <p:cNvSpPr/>
              <p:nvPr/>
            </p:nvSpPr>
            <p:spPr>
              <a:xfrm>
                <a:off x="409575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D97706"/>
                  </a:gs>
                  <a:gs pos="100000">
                    <a:srgbClr val="B45309"/>
                  </a:gs>
                </a:gsLst>
                <a:lin ang="5400000" scaled="1"/>
              </a:gradFill>
              <a:ln>
                <a:noFill/>
              </a:ln>
            </p:spPr>
          </p:sp>
          <p:sp>
            <p:nvSpPr>
              <p:cNvPr id="83" name="TextBox 83"/>
              <p:cNvSpPr txBox="1"/>
              <p:nvPr/>
            </p:nvSpPr>
            <p:spPr>
              <a:xfrm>
                <a:off x="4293870" y="5875020"/>
                <a:ext cx="96269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支持向量机 SVM</a:t>
                </a:r>
              </a:p>
            </p:txBody>
          </p:sp>
          <p:sp>
            <p:nvSpPr>
              <p:cNvPr id="84" name="Freeform 84"/>
              <p:cNvSpPr/>
              <p:nvPr/>
            </p:nvSpPr>
            <p:spPr>
              <a:xfrm>
                <a:off x="561975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16A34A"/>
                  </a:gs>
                  <a:gs pos="100000">
                    <a:srgbClr val="15803D"/>
                  </a:gs>
                </a:gsLst>
                <a:lin ang="5400000" scaled="1"/>
              </a:gradFill>
              <a:ln>
                <a:noFill/>
              </a:ln>
            </p:spPr>
          </p:sp>
          <p:sp>
            <p:nvSpPr>
              <p:cNvPr id="85" name="TextBox 85"/>
              <p:cNvSpPr txBox="1"/>
              <p:nvPr/>
            </p:nvSpPr>
            <p:spPr>
              <a:xfrm>
                <a:off x="5817870" y="5875020"/>
                <a:ext cx="73266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随机森林 RF</a:t>
                </a:r>
              </a:p>
            </p:txBody>
          </p:sp>
          <p:sp>
            <p:nvSpPr>
              <p:cNvPr id="86" name="Freeform 86"/>
              <p:cNvSpPr/>
              <p:nvPr/>
            </p:nvSpPr>
            <p:spPr>
              <a:xfrm>
                <a:off x="704850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2196F3"/>
                  </a:gs>
                  <a:gs pos="100000">
                    <a:srgbClr val="1565C0"/>
                  </a:gs>
                </a:gsLst>
                <a:lin ang="5400000" scaled="1"/>
              </a:gradFill>
              <a:ln>
                <a:noFill/>
              </a:ln>
            </p:spPr>
          </p:sp>
          <p:sp>
            <p:nvSpPr>
              <p:cNvPr id="87" name="TextBox 87"/>
              <p:cNvSpPr txBox="1"/>
              <p:nvPr/>
            </p:nvSpPr>
            <p:spPr>
              <a:xfrm>
                <a:off x="7246620" y="5875020"/>
                <a:ext cx="96269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多层感知机 MLP</a:t>
                </a:r>
              </a:p>
            </p:txBody>
          </p:sp>
          <p:sp>
            <p:nvSpPr>
              <p:cNvPr id="88" name="Freeform 88"/>
              <p:cNvSpPr/>
              <p:nvPr/>
            </p:nvSpPr>
            <p:spPr>
              <a:xfrm>
                <a:off x="866775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4A90D9"/>
                  </a:gs>
                  <a:gs pos="100000">
                    <a:srgbClr val="1E5AA8"/>
                  </a:gs>
                </a:gsLst>
                <a:lin ang="5400000" scaled="1"/>
              </a:gradFill>
              <a:ln>
                <a:noFill/>
              </a:ln>
            </p:spPr>
          </p:sp>
          <p:sp>
            <p:nvSpPr>
              <p:cNvPr id="89" name="TextBox 89"/>
              <p:cNvSpPr txBox="1"/>
              <p:nvPr/>
            </p:nvSpPr>
            <p:spPr>
              <a:xfrm>
                <a:off x="8865870" y="5875020"/>
                <a:ext cx="1442466"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一维卷积神经网络 CNN1D</a:t>
                </a:r>
              </a:p>
            </p:txBody>
          </p:sp>
        </p:grpSp>
      </p:grpSp>
      <p:sp>
        <p:nvSpPr>
          <p:cNvPr id="92" name="TextBox 92"/>
          <p:cNvSpPr txBox="1"/>
          <p:nvPr/>
        </p:nvSpPr>
        <p:spPr>
          <a:xfrm>
            <a:off x="560070" y="6570345"/>
            <a:ext cx="43034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05 / 16</a:t>
            </a:r>
          </a:p>
        </p:txBody>
      </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B3A6B"/>
          </a:solidFill>
          <a:ln>
            <a:noFill/>
          </a:ln>
        </p:spPr>
      </p:sp>
      <p:sp>
        <p:nvSpPr>
          <p:cNvPr id="4" name="TextBox 4"/>
          <p:cNvSpPr txBox="1"/>
          <p:nvPr/>
        </p:nvSpPr>
        <p:spPr>
          <a:xfrm>
            <a:off x="550545" y="183832"/>
            <a:ext cx="3217457"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1.4 SVM表现分析与融合策略</a:t>
            </a:r>
          </a:p>
        </p:txBody>
      </p:sp>
      <p:sp>
        <p:nvSpPr>
          <p:cNvPr id="5" name="TextBox 5"/>
          <p:cNvSpPr txBox="1"/>
          <p:nvPr/>
        </p:nvSpPr>
        <p:spPr>
          <a:xfrm>
            <a:off x="10687050" y="248602"/>
            <a:ext cx="946785" cy="213360"/>
          </a:xfrm>
          <a:prstGeom prst="rect">
            <a:avLst/>
          </a:prstGeom>
          <a:noFill/>
          <a:ln>
            <a:noFill/>
          </a:ln>
        </p:spPr>
        <p:txBody>
          <a:bodyPr wrap="none" lIns="0" tIns="0" rIns="0" bIns="0" anchor="t" anchorCtr="0">
            <a:spAutoFit/>
          </a:bodyPr>
          <a:lstStyle/>
          <a:p>
            <a:pPr algn="r"/>
            <a:r>
              <a:rPr lang="zh-CN" sz="1050" dirty="0">
                <a:solidFill>
                  <a:srgbClr val="4A90D9"/>
                </a:solidFill>
                <a:latin typeface="Arial"/>
                <a:ea typeface="Microsoft YaHei"/>
                <a:cs typeface="Arial"/>
              </a:rPr>
              <a:t>航空航天设施</a:t>
            </a:r>
          </a:p>
        </p:txBody>
      </p:sp>
      <p:grpSp>
        <p:nvGrpSpPr>
          <p:cNvPr id="35" name="Group 35"/>
          <p:cNvGrpSpPr/>
          <p:nvPr/>
        </p:nvGrpSpPr>
        <p:grpSpPr>
          <a:xfrm>
            <a:off x="556260" y="870585"/>
            <a:ext cx="5615464" cy="5161121"/>
            <a:chOff x="556260" y="870585"/>
            <a:chExt cx="5615464" cy="5161121"/>
          </a:xfrm>
        </p:grpSpPr>
        <p:sp>
          <p:nvSpPr>
            <p:cNvPr id="6" name="TextBox 6"/>
            <p:cNvSpPr txBox="1"/>
            <p:nvPr/>
          </p:nvSpPr>
          <p:spPr>
            <a:xfrm>
              <a:off x="556260" y="870585"/>
              <a:ext cx="2477986" cy="243840"/>
            </a:xfrm>
            <a:prstGeom prst="rect">
              <a:avLst/>
            </a:prstGeom>
            <a:noFill/>
            <a:ln>
              <a:noFill/>
            </a:ln>
          </p:spPr>
          <p:txBody>
            <a:bodyPr wrap="none" lIns="0" tIns="0" rIns="0" bIns="0" anchor="t" anchorCtr="0">
              <a:spAutoFit/>
            </a:bodyPr>
            <a:lstStyle/>
            <a:p>
              <a:pPr algn="l"/>
              <a:r>
                <a:rPr lang="zh-CN" sz="1200" b="1" dirty="0">
                  <a:solidFill>
                    <a:srgbClr val="1B3A6B"/>
                  </a:solidFill>
                  <a:latin typeface="Arial"/>
                  <a:ea typeface="Microsoft YaHei"/>
                  <a:cs typeface="Arial"/>
                </a:rPr>
                <a:t>SVM表现分析 (准确率 76.9%)</a:t>
              </a:r>
            </a:p>
          </p:txBody>
        </p:sp>
        <p:sp>
          <p:nvSpPr>
            <p:cNvPr id="7" name="Freeform 7"/>
            <p:cNvSpPr/>
            <p:nvPr/>
          </p:nvSpPr>
          <p:spPr>
            <a:xfrm>
              <a:off x="571500" y="1143000"/>
              <a:ext cx="5143500" cy="762000"/>
            </a:xfrm>
            <a:custGeom>
              <a:avLst/>
              <a:gdLst/>
              <a:ahLst/>
              <a:cxnLst/>
              <a:rect l="l" t="t" r="r" b="b"/>
              <a:pathLst>
                <a:path w="5143500" h="762000">
                  <a:moveTo>
                    <a:pt x="76200" y="0"/>
                  </a:moveTo>
                  <a:lnTo>
                    <a:pt x="5067300" y="0"/>
                  </a:lnTo>
                  <a:cubicBezTo>
                    <a:pt x="5109384" y="0"/>
                    <a:pt x="5143500" y="34116"/>
                    <a:pt x="5143500" y="76200"/>
                  </a:cubicBezTo>
                  <a:lnTo>
                    <a:pt x="5143500" y="685800"/>
                  </a:lnTo>
                  <a:cubicBezTo>
                    <a:pt x="5143500" y="727884"/>
                    <a:pt x="5109384" y="762000"/>
                    <a:pt x="5067300" y="762000"/>
                  </a:cubicBezTo>
                  <a:lnTo>
                    <a:pt x="76200" y="762000"/>
                  </a:lnTo>
                  <a:cubicBezTo>
                    <a:pt x="34116" y="762000"/>
                    <a:pt x="0" y="727884"/>
                    <a:pt x="0" y="685800"/>
                  </a:cubicBezTo>
                  <a:lnTo>
                    <a:pt x="0" y="76200"/>
                  </a:lnTo>
                  <a:cubicBezTo>
                    <a:pt x="0" y="34116"/>
                    <a:pt x="34116" y="0"/>
                    <a:pt x="76200" y="0"/>
                  </a:cubicBezTo>
                  <a:close/>
                </a:path>
              </a:pathLst>
            </a:custGeom>
            <a:solidFill>
              <a:srgbClr val="FEF3C7"/>
            </a:solidFill>
            <a:ln w="14288">
              <a:solidFill>
                <a:srgbClr val="D97706"/>
              </a:solidFill>
            </a:ln>
          </p:spPr>
        </p:sp>
        <p:sp>
          <p:nvSpPr>
            <p:cNvPr id="8" name="Freeform 8"/>
            <p:cNvSpPr/>
            <p:nvPr/>
          </p:nvSpPr>
          <p:spPr>
            <a:xfrm>
              <a:off x="571500" y="1143000"/>
              <a:ext cx="76200" cy="762000"/>
            </a:xfrm>
            <a:custGeom>
              <a:avLst/>
              <a:gdLst/>
              <a:ahLst/>
              <a:cxnLst/>
              <a:rect l="l" t="t" r="r" b="b"/>
              <a:pathLst>
                <a:path w="76200" h="762000">
                  <a:moveTo>
                    <a:pt x="38100" y="0"/>
                  </a:moveTo>
                  <a:lnTo>
                    <a:pt x="38100" y="0"/>
                  </a:lnTo>
                  <a:cubicBezTo>
                    <a:pt x="59142" y="0"/>
                    <a:pt x="76200" y="17058"/>
                    <a:pt x="76200" y="38100"/>
                  </a:cubicBezTo>
                  <a:lnTo>
                    <a:pt x="76200" y="723900"/>
                  </a:lnTo>
                  <a:cubicBezTo>
                    <a:pt x="76200" y="744942"/>
                    <a:pt x="59142" y="762000"/>
                    <a:pt x="38100" y="762000"/>
                  </a:cubicBezTo>
                  <a:lnTo>
                    <a:pt x="38100" y="762000"/>
                  </a:lnTo>
                  <a:cubicBezTo>
                    <a:pt x="17058" y="762000"/>
                    <a:pt x="0" y="744942"/>
                    <a:pt x="0" y="723900"/>
                  </a:cubicBezTo>
                  <a:lnTo>
                    <a:pt x="0" y="38100"/>
                  </a:lnTo>
                  <a:cubicBezTo>
                    <a:pt x="0" y="17058"/>
                    <a:pt x="17058" y="0"/>
                    <a:pt x="38100" y="0"/>
                  </a:cubicBezTo>
                  <a:close/>
                </a:path>
              </a:pathLst>
            </a:custGeom>
            <a:gradFill>
              <a:gsLst>
                <a:gs pos="0">
                  <a:srgbClr val="D97706"/>
                </a:gs>
                <a:gs pos="100000">
                  <a:srgbClr val="B45309"/>
                </a:gs>
              </a:gsLst>
              <a:lin ang="5400000" scaled="1"/>
            </a:gradFill>
            <a:ln>
              <a:noFill/>
            </a:ln>
          </p:spPr>
        </p:sp>
        <p:sp>
          <p:nvSpPr>
            <p:cNvPr id="9" name="TextBox 9"/>
            <p:cNvSpPr txBox="1"/>
            <p:nvPr/>
          </p:nvSpPr>
          <p:spPr>
            <a:xfrm>
              <a:off x="796290" y="1267778"/>
              <a:ext cx="3448348"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SVM采用RBF核函数，在本任务上准确率仅76.9%</a:t>
              </a:r>
            </a:p>
          </p:txBody>
        </p:sp>
        <p:sp>
          <p:nvSpPr>
            <p:cNvPr id="10" name="TextBox 10"/>
            <p:cNvSpPr txBox="1"/>
            <p:nvPr/>
          </p:nvSpPr>
          <p:spPr>
            <a:xfrm>
              <a:off x="797242" y="1485424"/>
              <a:ext cx="3264337" cy="198120"/>
            </a:xfrm>
            <a:prstGeom prst="rect">
              <a:avLst/>
            </a:prstGeom>
            <a:noFill/>
            <a:ln>
              <a:noFill/>
            </a:ln>
          </p:spPr>
          <p:txBody>
            <a:bodyPr wrap="none" lIns="0" tIns="0" rIns="0" bIns="0" anchor="t" anchorCtr="0">
              <a:spAutoFit/>
            </a:bodyPr>
            <a:lstStyle/>
            <a:p>
              <a:pPr algn="l"/>
              <a:r>
                <a:rPr lang="zh-CN" sz="975" dirty="0">
                  <a:solidFill>
                    <a:srgbClr val="78350F"/>
                  </a:solidFill>
                  <a:latin typeface="Arial"/>
                  <a:ea typeface="Microsoft YaHei"/>
                  <a:cs typeface="Arial"/>
                </a:rPr>
                <a:t>显著低于RF(98.1%)、MLP(96.3%)、CNN1D(94.0%)</a:t>
              </a:r>
            </a:p>
          </p:txBody>
        </p:sp>
        <p:sp>
          <p:nvSpPr>
            <p:cNvPr id="11" name="TextBox 11"/>
            <p:cNvSpPr txBox="1"/>
            <p:nvPr/>
          </p:nvSpPr>
          <p:spPr>
            <a:xfrm>
              <a:off x="558165" y="2077402"/>
              <a:ext cx="1081352"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主要原因分析:</a:t>
              </a:r>
            </a:p>
          </p:txBody>
        </p:sp>
        <p:grpSp>
          <p:nvGrpSpPr>
            <p:cNvPr id="17" name="Group 17"/>
            <p:cNvGrpSpPr/>
            <p:nvPr/>
          </p:nvGrpSpPr>
          <p:grpSpPr>
            <a:xfrm>
              <a:off x="571500" y="2333625"/>
              <a:ext cx="5600224" cy="666750"/>
              <a:chOff x="571500" y="2333625"/>
              <a:chExt cx="5600224" cy="666750"/>
            </a:xfrm>
          </p:grpSpPr>
          <p:sp>
            <p:nvSpPr>
              <p:cNvPr id="12" name="Freeform 12"/>
              <p:cNvSpPr/>
              <p:nvPr/>
            </p:nvSpPr>
            <p:spPr>
              <a:xfrm>
                <a:off x="571500" y="2333625"/>
                <a:ext cx="5143500" cy="666750"/>
              </a:xfrm>
              <a:custGeom>
                <a:avLst/>
                <a:gdLst/>
                <a:ahLst/>
                <a:cxnLst/>
                <a:rect l="l" t="t" r="r" b="b"/>
                <a:pathLst>
                  <a:path w="5143500" h="666750">
                    <a:moveTo>
                      <a:pt x="57150" y="0"/>
                    </a:moveTo>
                    <a:lnTo>
                      <a:pt x="5086350" y="0"/>
                    </a:lnTo>
                    <a:cubicBezTo>
                      <a:pt x="5117913" y="0"/>
                      <a:pt x="5143500" y="25587"/>
                      <a:pt x="5143500" y="57150"/>
                    </a:cubicBezTo>
                    <a:lnTo>
                      <a:pt x="5143500" y="609600"/>
                    </a:lnTo>
                    <a:cubicBezTo>
                      <a:pt x="5143500" y="641163"/>
                      <a:pt x="5117913" y="666750"/>
                      <a:pt x="5086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5E7EB"/>
                </a:solidFill>
              </a:ln>
            </p:spPr>
          </p:sp>
          <p:sp>
            <p:nvSpPr>
              <p:cNvPr id="13" name="Freeform 13"/>
              <p:cNvSpPr/>
              <p:nvPr/>
            </p:nvSpPr>
            <p:spPr>
              <a:xfrm>
                <a:off x="571500" y="2333625"/>
                <a:ext cx="342900" cy="666750"/>
              </a:xfrm>
              <a:custGeom>
                <a:avLst/>
                <a:gdLst/>
                <a:ahLst/>
                <a:cxnLst/>
                <a:rect l="l" t="t" r="r" b="b"/>
                <a:pathLst>
                  <a:path w="342900" h="666750">
                    <a:moveTo>
                      <a:pt x="57150" y="0"/>
                    </a:moveTo>
                    <a:lnTo>
                      <a:pt x="285750" y="0"/>
                    </a:lnTo>
                    <a:cubicBezTo>
                      <a:pt x="317313" y="0"/>
                      <a:pt x="342900" y="25587"/>
                      <a:pt x="342900" y="57150"/>
                    </a:cubicBezTo>
                    <a:lnTo>
                      <a:pt x="342900" y="609600"/>
                    </a:lnTo>
                    <a:cubicBezTo>
                      <a:pt x="342900" y="641163"/>
                      <a:pt x="317313" y="666750"/>
                      <a:pt x="285750" y="666750"/>
                    </a:cubicBezTo>
                    <a:lnTo>
                      <a:pt x="57150" y="666750"/>
                    </a:lnTo>
                    <a:cubicBezTo>
                      <a:pt x="25587" y="666750"/>
                      <a:pt x="0" y="641163"/>
                      <a:pt x="0" y="609600"/>
                    </a:cubicBezTo>
                    <a:lnTo>
                      <a:pt x="0" y="57150"/>
                    </a:lnTo>
                    <a:cubicBezTo>
                      <a:pt x="0" y="25587"/>
                      <a:pt x="25587" y="0"/>
                      <a:pt x="57150" y="0"/>
                    </a:cubicBezTo>
                    <a:close/>
                  </a:path>
                </a:pathLst>
              </a:custGeom>
              <a:solidFill>
                <a:srgbClr val="1B3A6B"/>
              </a:solidFill>
              <a:ln>
                <a:noFill/>
              </a:ln>
            </p:spPr>
          </p:sp>
          <p:sp>
            <p:nvSpPr>
              <p:cNvPr id="14" name="TextBox 14"/>
              <p:cNvSpPr txBox="1"/>
              <p:nvPr/>
            </p:nvSpPr>
            <p:spPr>
              <a:xfrm>
                <a:off x="694751" y="261651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5" name="TextBox 15"/>
              <p:cNvSpPr txBox="1"/>
              <p:nvPr/>
            </p:nvSpPr>
            <p:spPr>
              <a:xfrm>
                <a:off x="1054418" y="2495074"/>
                <a:ext cx="1220914" cy="198120"/>
              </a:xfrm>
              <a:prstGeom prst="rect">
                <a:avLst/>
              </a:prstGeom>
              <a:noFill/>
              <a:ln>
                <a:noFill/>
              </a:ln>
            </p:spPr>
            <p:txBody>
              <a:bodyPr wrap="none" lIns="0" tIns="0" rIns="0" bIns="0" anchor="t" anchorCtr="0">
                <a:spAutoFit/>
              </a:bodyPr>
              <a:lstStyle/>
              <a:p>
                <a:pPr algn="l"/>
                <a:r>
                  <a:rPr lang="zh-CN" sz="975" b="1" dirty="0">
                    <a:solidFill>
                      <a:srgbClr val="1A1A2E"/>
                    </a:solidFill>
                    <a:latin typeface="Arial"/>
                    <a:ea typeface="Microsoft YaHei"/>
                    <a:cs typeface="Arial"/>
                  </a:rPr>
                  <a:t>特征空间复杂度高</a:t>
                </a:r>
              </a:p>
            </p:txBody>
          </p:sp>
          <p:sp>
            <p:nvSpPr>
              <p:cNvPr id="16" name="TextBox 16"/>
              <p:cNvSpPr txBox="1"/>
              <p:nvPr/>
            </p:nvSpPr>
            <p:spPr>
              <a:xfrm>
                <a:off x="1055370" y="2712720"/>
                <a:ext cx="511635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23维输入含连续变量（开口比、热通量等）与类别特征混合，RBF核难以捕捉非线性交互</a:t>
                </a:r>
              </a:p>
            </p:txBody>
          </p:sp>
        </p:grpSp>
        <p:grpSp>
          <p:nvGrpSpPr>
            <p:cNvPr id="23" name="Group 23"/>
            <p:cNvGrpSpPr/>
            <p:nvPr/>
          </p:nvGrpSpPr>
          <p:grpSpPr>
            <a:xfrm>
              <a:off x="571500" y="3095625"/>
              <a:ext cx="5143500" cy="666750"/>
              <a:chOff x="571500" y="3095625"/>
              <a:chExt cx="5143500" cy="666750"/>
            </a:xfrm>
          </p:grpSpPr>
          <p:sp>
            <p:nvSpPr>
              <p:cNvPr id="18" name="Freeform 18"/>
              <p:cNvSpPr/>
              <p:nvPr/>
            </p:nvSpPr>
            <p:spPr>
              <a:xfrm>
                <a:off x="571500" y="3095625"/>
                <a:ext cx="5143500" cy="666750"/>
              </a:xfrm>
              <a:custGeom>
                <a:avLst/>
                <a:gdLst/>
                <a:ahLst/>
                <a:cxnLst/>
                <a:rect l="l" t="t" r="r" b="b"/>
                <a:pathLst>
                  <a:path w="5143500" h="666750">
                    <a:moveTo>
                      <a:pt x="57150" y="0"/>
                    </a:moveTo>
                    <a:lnTo>
                      <a:pt x="5086350" y="0"/>
                    </a:lnTo>
                    <a:cubicBezTo>
                      <a:pt x="5117913" y="0"/>
                      <a:pt x="5143500" y="25587"/>
                      <a:pt x="5143500" y="57150"/>
                    </a:cubicBezTo>
                    <a:lnTo>
                      <a:pt x="5143500" y="609600"/>
                    </a:lnTo>
                    <a:cubicBezTo>
                      <a:pt x="5143500" y="641163"/>
                      <a:pt x="5117913" y="666750"/>
                      <a:pt x="5086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5E7EB"/>
                </a:solidFill>
              </a:ln>
            </p:spPr>
          </p:sp>
          <p:sp>
            <p:nvSpPr>
              <p:cNvPr id="19" name="Freeform 19"/>
              <p:cNvSpPr/>
              <p:nvPr/>
            </p:nvSpPr>
            <p:spPr>
              <a:xfrm>
                <a:off x="571500" y="3095625"/>
                <a:ext cx="342900" cy="666750"/>
              </a:xfrm>
              <a:custGeom>
                <a:avLst/>
                <a:gdLst/>
                <a:ahLst/>
                <a:cxnLst/>
                <a:rect l="l" t="t" r="r" b="b"/>
                <a:pathLst>
                  <a:path w="342900" h="666750">
                    <a:moveTo>
                      <a:pt x="57150" y="0"/>
                    </a:moveTo>
                    <a:lnTo>
                      <a:pt x="285750" y="0"/>
                    </a:lnTo>
                    <a:cubicBezTo>
                      <a:pt x="317313" y="0"/>
                      <a:pt x="342900" y="25587"/>
                      <a:pt x="342900" y="57150"/>
                    </a:cubicBezTo>
                    <a:lnTo>
                      <a:pt x="342900" y="609600"/>
                    </a:lnTo>
                    <a:cubicBezTo>
                      <a:pt x="342900" y="641163"/>
                      <a:pt x="317313" y="666750"/>
                      <a:pt x="285750" y="666750"/>
                    </a:cubicBezTo>
                    <a:lnTo>
                      <a:pt x="57150" y="666750"/>
                    </a:lnTo>
                    <a:cubicBezTo>
                      <a:pt x="25587" y="666750"/>
                      <a:pt x="0" y="641163"/>
                      <a:pt x="0" y="609600"/>
                    </a:cubicBezTo>
                    <a:lnTo>
                      <a:pt x="0" y="57150"/>
                    </a:lnTo>
                    <a:cubicBezTo>
                      <a:pt x="0" y="25587"/>
                      <a:pt x="25587" y="0"/>
                      <a:pt x="57150" y="0"/>
                    </a:cubicBezTo>
                    <a:close/>
                  </a:path>
                </a:pathLst>
              </a:custGeom>
              <a:solidFill>
                <a:srgbClr val="1B3A6B"/>
              </a:solidFill>
              <a:ln>
                <a:noFill/>
              </a:ln>
            </p:spPr>
          </p:sp>
          <p:sp>
            <p:nvSpPr>
              <p:cNvPr id="20" name="TextBox 20"/>
              <p:cNvSpPr txBox="1"/>
              <p:nvPr/>
            </p:nvSpPr>
            <p:spPr>
              <a:xfrm>
                <a:off x="668873" y="337851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1" name="TextBox 21"/>
              <p:cNvSpPr txBox="1"/>
              <p:nvPr/>
            </p:nvSpPr>
            <p:spPr>
              <a:xfrm>
                <a:off x="1054418" y="3257074"/>
                <a:ext cx="1071396" cy="198120"/>
              </a:xfrm>
              <a:prstGeom prst="rect">
                <a:avLst/>
              </a:prstGeom>
              <a:noFill/>
              <a:ln>
                <a:noFill/>
              </a:ln>
            </p:spPr>
            <p:txBody>
              <a:bodyPr wrap="none" lIns="0" tIns="0" rIns="0" bIns="0" anchor="t" anchorCtr="0">
                <a:spAutoFit/>
              </a:bodyPr>
              <a:lstStyle/>
              <a:p>
                <a:pPr algn="l"/>
                <a:r>
                  <a:rPr lang="zh-CN" sz="975" b="1" dirty="0">
                    <a:solidFill>
                      <a:srgbClr val="1A1A2E"/>
                    </a:solidFill>
                    <a:latin typeface="Arial"/>
                    <a:ea typeface="Microsoft YaHei"/>
                    <a:cs typeface="Arial"/>
                  </a:rPr>
                  <a:t>热源参数跨度大</a:t>
                </a:r>
              </a:p>
            </p:txBody>
          </p:sp>
          <p:sp>
            <p:nvSpPr>
              <p:cNvPr id="22" name="TextBox 22"/>
              <p:cNvSpPr txBox="1"/>
              <p:nvPr/>
            </p:nvSpPr>
            <p:spPr>
              <a:xfrm>
                <a:off x="1055370" y="3474720"/>
                <a:ext cx="4630007"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heat_flux从50到15000 W/m²，同类别内特征方差大，SVM间隔最大化泛化受限</a:t>
                </a:r>
              </a:p>
            </p:txBody>
          </p:sp>
        </p:grpSp>
        <p:grpSp>
          <p:nvGrpSpPr>
            <p:cNvPr id="29" name="Group 29"/>
            <p:cNvGrpSpPr/>
            <p:nvPr/>
          </p:nvGrpSpPr>
          <p:grpSpPr>
            <a:xfrm>
              <a:off x="571500" y="3857625"/>
              <a:ext cx="5143500" cy="666750"/>
              <a:chOff x="571500" y="3857625"/>
              <a:chExt cx="5143500" cy="666750"/>
            </a:xfrm>
          </p:grpSpPr>
          <p:sp>
            <p:nvSpPr>
              <p:cNvPr id="24" name="Freeform 24"/>
              <p:cNvSpPr/>
              <p:nvPr/>
            </p:nvSpPr>
            <p:spPr>
              <a:xfrm>
                <a:off x="571500" y="3857625"/>
                <a:ext cx="5143500" cy="666750"/>
              </a:xfrm>
              <a:custGeom>
                <a:avLst/>
                <a:gdLst/>
                <a:ahLst/>
                <a:cxnLst/>
                <a:rect l="l" t="t" r="r" b="b"/>
                <a:pathLst>
                  <a:path w="5143500" h="666750">
                    <a:moveTo>
                      <a:pt x="57150" y="0"/>
                    </a:moveTo>
                    <a:lnTo>
                      <a:pt x="5086350" y="0"/>
                    </a:lnTo>
                    <a:cubicBezTo>
                      <a:pt x="5117913" y="0"/>
                      <a:pt x="5143500" y="25587"/>
                      <a:pt x="5143500" y="57150"/>
                    </a:cubicBezTo>
                    <a:lnTo>
                      <a:pt x="5143500" y="609600"/>
                    </a:lnTo>
                    <a:cubicBezTo>
                      <a:pt x="5143500" y="641163"/>
                      <a:pt x="5117913" y="666750"/>
                      <a:pt x="5086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5E7EB"/>
                </a:solidFill>
              </a:ln>
            </p:spPr>
          </p:sp>
          <p:sp>
            <p:nvSpPr>
              <p:cNvPr id="25" name="Freeform 25"/>
              <p:cNvSpPr/>
              <p:nvPr/>
            </p:nvSpPr>
            <p:spPr>
              <a:xfrm>
                <a:off x="571500" y="3857625"/>
                <a:ext cx="342900" cy="666750"/>
              </a:xfrm>
              <a:custGeom>
                <a:avLst/>
                <a:gdLst/>
                <a:ahLst/>
                <a:cxnLst/>
                <a:rect l="l" t="t" r="r" b="b"/>
                <a:pathLst>
                  <a:path w="342900" h="666750">
                    <a:moveTo>
                      <a:pt x="57150" y="0"/>
                    </a:moveTo>
                    <a:lnTo>
                      <a:pt x="285750" y="0"/>
                    </a:lnTo>
                    <a:cubicBezTo>
                      <a:pt x="317313" y="0"/>
                      <a:pt x="342900" y="25587"/>
                      <a:pt x="342900" y="57150"/>
                    </a:cubicBezTo>
                    <a:lnTo>
                      <a:pt x="342900" y="609600"/>
                    </a:lnTo>
                    <a:cubicBezTo>
                      <a:pt x="342900" y="641163"/>
                      <a:pt x="317313" y="666750"/>
                      <a:pt x="285750" y="666750"/>
                    </a:cubicBezTo>
                    <a:lnTo>
                      <a:pt x="57150" y="666750"/>
                    </a:lnTo>
                    <a:cubicBezTo>
                      <a:pt x="25587" y="666750"/>
                      <a:pt x="0" y="641163"/>
                      <a:pt x="0" y="609600"/>
                    </a:cubicBezTo>
                    <a:lnTo>
                      <a:pt x="0" y="57150"/>
                    </a:lnTo>
                    <a:cubicBezTo>
                      <a:pt x="0" y="25587"/>
                      <a:pt x="25587" y="0"/>
                      <a:pt x="57150" y="0"/>
                    </a:cubicBezTo>
                    <a:close/>
                  </a:path>
                </a:pathLst>
              </a:custGeom>
              <a:solidFill>
                <a:srgbClr val="1B3A6B"/>
              </a:solidFill>
              <a:ln>
                <a:noFill/>
              </a:ln>
            </p:spPr>
          </p:sp>
          <p:sp>
            <p:nvSpPr>
              <p:cNvPr id="26" name="TextBox 26"/>
              <p:cNvSpPr txBox="1"/>
              <p:nvPr/>
            </p:nvSpPr>
            <p:spPr>
              <a:xfrm>
                <a:off x="668873" y="414051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27" name="TextBox 27"/>
              <p:cNvSpPr txBox="1"/>
              <p:nvPr/>
            </p:nvSpPr>
            <p:spPr>
              <a:xfrm>
                <a:off x="1054418" y="4019074"/>
                <a:ext cx="1071396" cy="198120"/>
              </a:xfrm>
              <a:prstGeom prst="rect">
                <a:avLst/>
              </a:prstGeom>
              <a:noFill/>
              <a:ln>
                <a:noFill/>
              </a:ln>
            </p:spPr>
            <p:txBody>
              <a:bodyPr wrap="none" lIns="0" tIns="0" rIns="0" bIns="0" anchor="t" anchorCtr="0">
                <a:spAutoFit/>
              </a:bodyPr>
              <a:lstStyle/>
              <a:p>
                <a:pPr algn="l"/>
                <a:r>
                  <a:rPr lang="zh-CN" sz="975" b="1" dirty="0">
                    <a:solidFill>
                      <a:srgbClr val="1A1A2E"/>
                    </a:solidFill>
                    <a:latin typeface="Arial"/>
                    <a:ea typeface="Microsoft YaHei"/>
                    <a:cs typeface="Arial"/>
                  </a:rPr>
                  <a:t>数据集规模中等</a:t>
                </a:r>
              </a:p>
            </p:txBody>
          </p:sp>
          <p:sp>
            <p:nvSpPr>
              <p:cNvPr id="28" name="TextBox 28"/>
              <p:cNvSpPr txBox="1"/>
              <p:nvPr/>
            </p:nvSpPr>
            <p:spPr>
              <a:xfrm>
                <a:off x="1055370" y="4236720"/>
                <a:ext cx="4110799"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每类约1700条 — 不足以维持高斯核紧凑性，也未达深度学习所需样本量</a:t>
                </a:r>
              </a:p>
            </p:txBody>
          </p:sp>
        </p:grpSp>
        <p:sp>
          <p:nvSpPr>
            <p:cNvPr id="30" name="TextBox 30"/>
            <p:cNvSpPr txBox="1"/>
            <p:nvPr/>
          </p:nvSpPr>
          <p:spPr>
            <a:xfrm>
              <a:off x="559118" y="4704874"/>
              <a:ext cx="1004112" cy="198120"/>
            </a:xfrm>
            <a:prstGeom prst="rect">
              <a:avLst/>
            </a:prstGeom>
            <a:noFill/>
            <a:ln>
              <a:noFill/>
            </a:ln>
          </p:spPr>
          <p:txBody>
            <a:bodyPr wrap="none" lIns="0" tIns="0" rIns="0" bIns="0" anchor="t" anchorCtr="0">
              <a:spAutoFit/>
            </a:bodyPr>
            <a:lstStyle/>
            <a:p>
              <a:pPr algn="l"/>
              <a:r>
                <a:rPr lang="zh-CN" sz="975" b="1" dirty="0">
                  <a:solidFill>
                    <a:srgbClr val="1B3A6B"/>
                  </a:solidFill>
                  <a:latin typeface="Arial"/>
                  <a:ea typeface="Microsoft YaHei"/>
                  <a:cs typeface="Arial"/>
                </a:rPr>
                <a:t>模型训练曲线:</a:t>
              </a:r>
            </a:p>
          </p:txBody>
        </p:sp>
        <p:grpSp>
          <p:nvGrpSpPr>
            <p:cNvPr id="33" name="Group 33"/>
            <p:cNvGrpSpPr/>
            <p:nvPr/>
          </p:nvGrpSpPr>
          <p:grpSpPr>
            <a:xfrm>
              <a:off x="571500" y="4953000"/>
              <a:ext cx="5143500" cy="838200"/>
              <a:chOff x="571500" y="4953000"/>
              <a:chExt cx="5143500" cy="838200"/>
            </a:xfrm>
          </p:grpSpPr>
          <p:pic>
            <p:nvPicPr>
              <p:cNvPr id="31" name="Image 31"/>
              <p:cNvPicPr>
                <a:picLocks noChangeAspect="1"/>
              </p:cNvPicPr>
              <p:nvPr/>
            </p:nvPicPr>
            <p:blipFill>
              <a:blip r:embed="rId2"/>
              <a:stretch>
                <a:fillRect/>
              </a:stretch>
            </p:blipFill>
            <p:spPr>
              <a:xfrm>
                <a:off x="571500" y="4953000"/>
                <a:ext cx="2524125" cy="838200"/>
              </a:xfrm>
              <a:prstGeom prst="rect">
                <a:avLst/>
              </a:prstGeom>
            </p:spPr>
          </p:pic>
          <p:pic>
            <p:nvPicPr>
              <p:cNvPr id="32" name="Image 32"/>
              <p:cNvPicPr>
                <a:picLocks noChangeAspect="1"/>
              </p:cNvPicPr>
              <p:nvPr/>
            </p:nvPicPr>
            <p:blipFill>
              <a:blip r:embed="rId3"/>
              <a:stretch>
                <a:fillRect/>
              </a:stretch>
            </p:blipFill>
            <p:spPr>
              <a:xfrm>
                <a:off x="3190875" y="4953000"/>
                <a:ext cx="2524125" cy="838200"/>
              </a:xfrm>
              <a:prstGeom prst="rect">
                <a:avLst/>
              </a:prstGeom>
            </p:spPr>
          </p:pic>
        </p:grpSp>
        <p:sp>
          <p:nvSpPr>
            <p:cNvPr id="34" name="TextBox 34"/>
            <p:cNvSpPr txBox="1"/>
            <p:nvPr/>
          </p:nvSpPr>
          <p:spPr>
            <a:xfrm>
              <a:off x="561022" y="5864066"/>
              <a:ext cx="1990987"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左: MLP训练曲线 右: CNN1D训练曲线</a:t>
              </a:r>
            </a:p>
          </p:txBody>
        </p:sp>
      </p:grpSp>
      <p:grpSp>
        <p:nvGrpSpPr>
          <p:cNvPr id="68" name="Group 68"/>
          <p:cNvGrpSpPr/>
          <p:nvPr/>
        </p:nvGrpSpPr>
        <p:grpSpPr>
          <a:xfrm>
            <a:off x="5985510" y="870585"/>
            <a:ext cx="5914073" cy="6035040"/>
            <a:chOff x="5985510" y="870585"/>
            <a:chExt cx="5914073" cy="6035040"/>
          </a:xfrm>
        </p:grpSpPr>
        <p:sp>
          <p:nvSpPr>
            <p:cNvPr id="36" name="TextBox 36"/>
            <p:cNvSpPr txBox="1"/>
            <p:nvPr/>
          </p:nvSpPr>
          <p:spPr>
            <a:xfrm>
              <a:off x="5985510" y="870585"/>
              <a:ext cx="1502664" cy="243840"/>
            </a:xfrm>
            <a:prstGeom prst="rect">
              <a:avLst/>
            </a:prstGeom>
            <a:noFill/>
            <a:ln>
              <a:noFill/>
            </a:ln>
          </p:spPr>
          <p:txBody>
            <a:bodyPr wrap="none" lIns="0" tIns="0" rIns="0" bIns="0" anchor="t" anchorCtr="0">
              <a:spAutoFit/>
            </a:bodyPr>
            <a:lstStyle/>
            <a:p>
              <a:pPr algn="l"/>
              <a:r>
                <a:rPr lang="zh-CN" sz="1200" b="1" dirty="0">
                  <a:solidFill>
                    <a:srgbClr val="1B3A6B"/>
                  </a:solidFill>
                  <a:latin typeface="Arial"/>
                  <a:ea typeface="Microsoft YaHei"/>
                  <a:cs typeface="Arial"/>
                </a:rPr>
                <a:t>融合权重分配策略</a:t>
              </a:r>
            </a:p>
          </p:txBody>
        </p:sp>
        <p:sp>
          <p:nvSpPr>
            <p:cNvPr id="37" name="Freeform 37"/>
            <p:cNvSpPr/>
            <p:nvPr/>
          </p:nvSpPr>
          <p:spPr>
            <a:xfrm>
              <a:off x="6000750" y="1143000"/>
              <a:ext cx="5619750" cy="666750"/>
            </a:xfrm>
            <a:custGeom>
              <a:avLst/>
              <a:gdLst/>
              <a:ahLst/>
              <a:cxnLst/>
              <a:rect l="l" t="t" r="r" b="b"/>
              <a:pathLst>
                <a:path w="5619750" h="666750">
                  <a:moveTo>
                    <a:pt x="76200" y="0"/>
                  </a:moveTo>
                  <a:lnTo>
                    <a:pt x="5543550" y="0"/>
                  </a:lnTo>
                  <a:cubicBezTo>
                    <a:pt x="5585634" y="0"/>
                    <a:pt x="5619750" y="34116"/>
                    <a:pt x="5619750" y="76200"/>
                  </a:cubicBezTo>
                  <a:lnTo>
                    <a:pt x="5619750" y="590550"/>
                  </a:lnTo>
                  <a:cubicBezTo>
                    <a:pt x="5619750" y="632634"/>
                    <a:pt x="5585634" y="666750"/>
                    <a:pt x="5543550" y="666750"/>
                  </a:cubicBezTo>
                  <a:lnTo>
                    <a:pt x="76200" y="666750"/>
                  </a:lnTo>
                  <a:cubicBezTo>
                    <a:pt x="34116" y="666750"/>
                    <a:pt x="0" y="632634"/>
                    <a:pt x="0" y="590550"/>
                  </a:cubicBezTo>
                  <a:lnTo>
                    <a:pt x="0" y="76200"/>
                  </a:lnTo>
                  <a:cubicBezTo>
                    <a:pt x="0" y="34116"/>
                    <a:pt x="34116" y="0"/>
                    <a:pt x="76200" y="0"/>
                  </a:cubicBezTo>
                  <a:close/>
                </a:path>
              </a:pathLst>
            </a:custGeom>
            <a:solidFill>
              <a:srgbClr val="F0F9FF"/>
            </a:solidFill>
            <a:ln w="9525">
              <a:solidFill>
                <a:srgbClr val="2196F3"/>
              </a:solidFill>
            </a:ln>
          </p:spPr>
        </p:sp>
        <p:sp>
          <p:nvSpPr>
            <p:cNvPr id="38" name="TextBox 38"/>
            <p:cNvSpPr txBox="1"/>
            <p:nvPr/>
          </p:nvSpPr>
          <p:spPr>
            <a:xfrm>
              <a:off x="6178868" y="1294924"/>
              <a:ext cx="572071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基于验证集准确率的加权策略：各模型预测概率按归一化权重加权平均后输出最终预测结果</a:t>
              </a:r>
            </a:p>
          </p:txBody>
        </p:sp>
        <p:sp>
          <p:nvSpPr>
            <p:cNvPr id="39" name="TextBox 39"/>
            <p:cNvSpPr txBox="1"/>
            <p:nvPr/>
          </p:nvSpPr>
          <p:spPr>
            <a:xfrm>
              <a:off x="6179820" y="1493520"/>
              <a:ext cx="3407569"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同时计算预测不确定度作为模型可信度参考（均值0.086）</a:t>
              </a:r>
            </a:p>
          </p:txBody>
        </p:sp>
        <p:sp>
          <p:nvSpPr>
            <p:cNvPr id="40" name="TextBox 40"/>
            <p:cNvSpPr txBox="1"/>
            <p:nvPr/>
          </p:nvSpPr>
          <p:spPr>
            <a:xfrm>
              <a:off x="5987415" y="1934528"/>
              <a:ext cx="759312"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权重分配:</a:t>
              </a:r>
            </a:p>
          </p:txBody>
        </p:sp>
        <p:grpSp>
          <p:nvGrpSpPr>
            <p:cNvPr id="45" name="Group 45"/>
            <p:cNvGrpSpPr/>
            <p:nvPr/>
          </p:nvGrpSpPr>
          <p:grpSpPr>
            <a:xfrm>
              <a:off x="5988368" y="2219325"/>
              <a:ext cx="5341315" cy="235744"/>
              <a:chOff x="5988368" y="2219325"/>
              <a:chExt cx="5341315" cy="235744"/>
            </a:xfrm>
          </p:grpSpPr>
          <p:sp>
            <p:nvSpPr>
              <p:cNvPr id="41" name="TextBox 41"/>
              <p:cNvSpPr txBox="1"/>
              <p:nvPr/>
            </p:nvSpPr>
            <p:spPr>
              <a:xfrm>
                <a:off x="5988368" y="2256949"/>
                <a:ext cx="1035796"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RF（随机森林）</a:t>
                </a:r>
              </a:p>
            </p:txBody>
          </p:sp>
          <p:sp>
            <p:nvSpPr>
              <p:cNvPr id="42" name="Freeform 42"/>
              <p:cNvSpPr/>
              <p:nvPr/>
            </p:nvSpPr>
            <p:spPr>
              <a:xfrm>
                <a:off x="7334250" y="2219325"/>
                <a:ext cx="3476625" cy="209550"/>
              </a:xfrm>
              <a:custGeom>
                <a:avLst/>
                <a:gdLst/>
                <a:ahLst/>
                <a:cxnLst/>
                <a:rect l="l" t="t" r="r" b="b"/>
                <a:pathLst>
                  <a:path w="3476625" h="209550">
                    <a:moveTo>
                      <a:pt x="38100" y="0"/>
                    </a:moveTo>
                    <a:lnTo>
                      <a:pt x="3438525" y="0"/>
                    </a:lnTo>
                    <a:cubicBezTo>
                      <a:pt x="3459567" y="0"/>
                      <a:pt x="3476625" y="17058"/>
                      <a:pt x="3476625" y="38100"/>
                    </a:cubicBezTo>
                    <a:lnTo>
                      <a:pt x="3476625" y="171450"/>
                    </a:lnTo>
                    <a:cubicBezTo>
                      <a:pt x="3476625" y="192492"/>
                      <a:pt x="3459567" y="209550"/>
                      <a:pt x="3438525" y="209550"/>
                    </a:cubicBezTo>
                    <a:lnTo>
                      <a:pt x="38100" y="209550"/>
                    </a:lnTo>
                    <a:cubicBezTo>
                      <a:pt x="17058" y="209550"/>
                      <a:pt x="0" y="192492"/>
                      <a:pt x="0" y="171450"/>
                    </a:cubicBezTo>
                    <a:lnTo>
                      <a:pt x="0" y="38100"/>
                    </a:lnTo>
                    <a:cubicBezTo>
                      <a:pt x="0" y="17058"/>
                      <a:pt x="17058" y="0"/>
                      <a:pt x="38100" y="0"/>
                    </a:cubicBezTo>
                    <a:close/>
                  </a:path>
                </a:pathLst>
              </a:custGeom>
              <a:solidFill>
                <a:srgbClr val="16A34A">
                  <a:alpha val="20000"/>
                </a:srgbClr>
              </a:solidFill>
              <a:ln>
                <a:noFill/>
              </a:ln>
            </p:spPr>
          </p:sp>
          <p:sp>
            <p:nvSpPr>
              <p:cNvPr id="43" name="Freeform 43"/>
              <p:cNvSpPr/>
              <p:nvPr/>
            </p:nvSpPr>
            <p:spPr>
              <a:xfrm>
                <a:off x="7334250" y="2219325"/>
                <a:ext cx="3467100" cy="209550"/>
              </a:xfrm>
              <a:custGeom>
                <a:avLst/>
                <a:gdLst/>
                <a:ahLst/>
                <a:cxnLst/>
                <a:rect l="l" t="t" r="r" b="b"/>
                <a:pathLst>
                  <a:path w="3467100" h="209550">
                    <a:moveTo>
                      <a:pt x="38100" y="0"/>
                    </a:moveTo>
                    <a:lnTo>
                      <a:pt x="3429000" y="0"/>
                    </a:lnTo>
                    <a:cubicBezTo>
                      <a:pt x="3450042" y="0"/>
                      <a:pt x="3467100" y="17058"/>
                      <a:pt x="3467100" y="38100"/>
                    </a:cubicBezTo>
                    <a:lnTo>
                      <a:pt x="3467100" y="171450"/>
                    </a:lnTo>
                    <a:cubicBezTo>
                      <a:pt x="3467100" y="192492"/>
                      <a:pt x="3450042" y="209550"/>
                      <a:pt x="3429000" y="209550"/>
                    </a:cubicBezTo>
                    <a:lnTo>
                      <a:pt x="38100" y="209550"/>
                    </a:lnTo>
                    <a:cubicBezTo>
                      <a:pt x="17058" y="209550"/>
                      <a:pt x="0" y="192492"/>
                      <a:pt x="0" y="171450"/>
                    </a:cubicBezTo>
                    <a:lnTo>
                      <a:pt x="0" y="38100"/>
                    </a:lnTo>
                    <a:cubicBezTo>
                      <a:pt x="0" y="17058"/>
                      <a:pt x="17058" y="0"/>
                      <a:pt x="38100" y="0"/>
                    </a:cubicBezTo>
                    <a:close/>
                  </a:path>
                </a:pathLst>
              </a:custGeom>
              <a:solidFill>
                <a:srgbClr val="16A34A"/>
              </a:solidFill>
              <a:ln>
                <a:noFill/>
              </a:ln>
            </p:spPr>
          </p:sp>
          <p:sp>
            <p:nvSpPr>
              <p:cNvPr id="44" name="TextBox 44"/>
              <p:cNvSpPr txBox="1"/>
              <p:nvPr/>
            </p:nvSpPr>
            <p:spPr>
              <a:xfrm>
                <a:off x="10893742" y="2256949"/>
                <a:ext cx="435941" cy="198120"/>
              </a:xfrm>
              <a:prstGeom prst="rect">
                <a:avLst/>
              </a:prstGeom>
              <a:noFill/>
              <a:ln>
                <a:noFill/>
              </a:ln>
            </p:spPr>
            <p:txBody>
              <a:bodyPr wrap="none" lIns="0" tIns="0" rIns="0" bIns="0" anchor="t" anchorCtr="0">
                <a:spAutoFit/>
              </a:bodyPr>
              <a:lstStyle/>
              <a:p>
                <a:pPr algn="l"/>
                <a:r>
                  <a:rPr lang="zh-CN" sz="975" b="1" dirty="0">
                    <a:solidFill>
                      <a:srgbClr val="16A34A"/>
                    </a:solidFill>
                    <a:latin typeface="Arial"/>
                    <a:ea typeface="Microsoft YaHei"/>
                    <a:cs typeface="Arial"/>
                  </a:rPr>
                  <a:t>27.0%</a:t>
                </a:r>
              </a:p>
            </p:txBody>
          </p:sp>
        </p:grpSp>
        <p:grpSp>
          <p:nvGrpSpPr>
            <p:cNvPr id="50" name="Group 50"/>
            <p:cNvGrpSpPr/>
            <p:nvPr/>
          </p:nvGrpSpPr>
          <p:grpSpPr>
            <a:xfrm>
              <a:off x="5988368" y="2600325"/>
              <a:ext cx="5265115" cy="235744"/>
              <a:chOff x="5988368" y="2600325"/>
              <a:chExt cx="5265115" cy="235744"/>
            </a:xfrm>
          </p:grpSpPr>
          <p:sp>
            <p:nvSpPr>
              <p:cNvPr id="46" name="TextBox 46"/>
              <p:cNvSpPr txBox="1"/>
              <p:nvPr/>
            </p:nvSpPr>
            <p:spPr>
              <a:xfrm>
                <a:off x="5988368" y="2637949"/>
                <a:ext cx="128499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MLP（多层感知机）</a:t>
                </a:r>
              </a:p>
            </p:txBody>
          </p:sp>
          <p:sp>
            <p:nvSpPr>
              <p:cNvPr id="47" name="Freeform 47"/>
              <p:cNvSpPr/>
              <p:nvPr/>
            </p:nvSpPr>
            <p:spPr>
              <a:xfrm>
                <a:off x="7334250" y="2600325"/>
                <a:ext cx="3400425" cy="209550"/>
              </a:xfrm>
              <a:custGeom>
                <a:avLst/>
                <a:gdLst/>
                <a:ahLst/>
                <a:cxnLst/>
                <a:rect l="l" t="t" r="r" b="b"/>
                <a:pathLst>
                  <a:path w="3400425" h="209550">
                    <a:moveTo>
                      <a:pt x="38100" y="0"/>
                    </a:moveTo>
                    <a:lnTo>
                      <a:pt x="3362325" y="0"/>
                    </a:lnTo>
                    <a:cubicBezTo>
                      <a:pt x="3383367" y="0"/>
                      <a:pt x="3400425" y="17058"/>
                      <a:pt x="3400425" y="38100"/>
                    </a:cubicBezTo>
                    <a:lnTo>
                      <a:pt x="3400425" y="171450"/>
                    </a:lnTo>
                    <a:cubicBezTo>
                      <a:pt x="3400425" y="192492"/>
                      <a:pt x="3383367" y="209550"/>
                      <a:pt x="3362325" y="209550"/>
                    </a:cubicBezTo>
                    <a:lnTo>
                      <a:pt x="38100" y="209550"/>
                    </a:lnTo>
                    <a:cubicBezTo>
                      <a:pt x="17058" y="209550"/>
                      <a:pt x="0" y="192492"/>
                      <a:pt x="0" y="171450"/>
                    </a:cubicBezTo>
                    <a:lnTo>
                      <a:pt x="0" y="38100"/>
                    </a:lnTo>
                    <a:cubicBezTo>
                      <a:pt x="0" y="17058"/>
                      <a:pt x="17058" y="0"/>
                      <a:pt x="38100" y="0"/>
                    </a:cubicBezTo>
                    <a:close/>
                  </a:path>
                </a:pathLst>
              </a:custGeom>
              <a:solidFill>
                <a:srgbClr val="2196F3">
                  <a:alpha val="20000"/>
                </a:srgbClr>
              </a:solidFill>
              <a:ln>
                <a:noFill/>
              </a:ln>
            </p:spPr>
          </p:sp>
          <p:sp>
            <p:nvSpPr>
              <p:cNvPr id="48" name="Freeform 48"/>
              <p:cNvSpPr/>
              <p:nvPr/>
            </p:nvSpPr>
            <p:spPr>
              <a:xfrm>
                <a:off x="7334250" y="2600325"/>
                <a:ext cx="3400425" cy="209550"/>
              </a:xfrm>
              <a:custGeom>
                <a:avLst/>
                <a:gdLst/>
                <a:ahLst/>
                <a:cxnLst/>
                <a:rect l="l" t="t" r="r" b="b"/>
                <a:pathLst>
                  <a:path w="3400425" h="209550">
                    <a:moveTo>
                      <a:pt x="38100" y="0"/>
                    </a:moveTo>
                    <a:lnTo>
                      <a:pt x="3362325" y="0"/>
                    </a:lnTo>
                    <a:cubicBezTo>
                      <a:pt x="3383367" y="0"/>
                      <a:pt x="3400425" y="17058"/>
                      <a:pt x="3400425" y="38100"/>
                    </a:cubicBezTo>
                    <a:lnTo>
                      <a:pt x="3400425" y="171450"/>
                    </a:lnTo>
                    <a:cubicBezTo>
                      <a:pt x="3400425" y="192492"/>
                      <a:pt x="3383367" y="209550"/>
                      <a:pt x="3362325" y="209550"/>
                    </a:cubicBezTo>
                    <a:lnTo>
                      <a:pt x="38100" y="209550"/>
                    </a:lnTo>
                    <a:cubicBezTo>
                      <a:pt x="17058" y="209550"/>
                      <a:pt x="0" y="192492"/>
                      <a:pt x="0" y="171450"/>
                    </a:cubicBezTo>
                    <a:lnTo>
                      <a:pt x="0" y="38100"/>
                    </a:lnTo>
                    <a:cubicBezTo>
                      <a:pt x="0" y="17058"/>
                      <a:pt x="17058" y="0"/>
                      <a:pt x="38100" y="0"/>
                    </a:cubicBezTo>
                    <a:close/>
                  </a:path>
                </a:pathLst>
              </a:custGeom>
              <a:solidFill>
                <a:srgbClr val="2196F3"/>
              </a:solidFill>
              <a:ln>
                <a:noFill/>
              </a:ln>
            </p:spPr>
          </p:sp>
          <p:sp>
            <p:nvSpPr>
              <p:cNvPr id="49" name="TextBox 49"/>
              <p:cNvSpPr txBox="1"/>
              <p:nvPr/>
            </p:nvSpPr>
            <p:spPr>
              <a:xfrm>
                <a:off x="10817542" y="2637949"/>
                <a:ext cx="435941" cy="198120"/>
              </a:xfrm>
              <a:prstGeom prst="rect">
                <a:avLst/>
              </a:prstGeom>
              <a:noFill/>
              <a:ln>
                <a:noFill/>
              </a:ln>
            </p:spPr>
            <p:txBody>
              <a:bodyPr wrap="none" lIns="0" tIns="0" rIns="0" bIns="0" anchor="t" anchorCtr="0">
                <a:spAutoFit/>
              </a:bodyPr>
              <a:lstStyle/>
              <a:p>
                <a:pPr algn="l"/>
                <a:r>
                  <a:rPr lang="zh-CN" sz="975" b="1" dirty="0">
                    <a:solidFill>
                      <a:srgbClr val="2196F3"/>
                    </a:solidFill>
                    <a:latin typeface="Arial"/>
                    <a:ea typeface="Microsoft YaHei"/>
                    <a:cs typeface="Arial"/>
                  </a:rPr>
                  <a:t>26.4%</a:t>
                </a:r>
              </a:p>
            </p:txBody>
          </p:sp>
        </p:grpSp>
        <p:grpSp>
          <p:nvGrpSpPr>
            <p:cNvPr id="55" name="Group 55"/>
            <p:cNvGrpSpPr/>
            <p:nvPr/>
          </p:nvGrpSpPr>
          <p:grpSpPr>
            <a:xfrm>
              <a:off x="5988368" y="2981325"/>
              <a:ext cx="5189636" cy="235744"/>
              <a:chOff x="5988368" y="2981325"/>
              <a:chExt cx="5189636" cy="235744"/>
            </a:xfrm>
          </p:grpSpPr>
          <p:sp>
            <p:nvSpPr>
              <p:cNvPr id="51" name="TextBox 51"/>
              <p:cNvSpPr txBox="1"/>
              <p:nvPr/>
            </p:nvSpPr>
            <p:spPr>
              <a:xfrm>
                <a:off x="5988368" y="3018949"/>
                <a:ext cx="123515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CNN1D（一维卷积）</a:t>
                </a:r>
              </a:p>
            </p:txBody>
          </p:sp>
          <p:sp>
            <p:nvSpPr>
              <p:cNvPr id="52" name="Freeform 52"/>
              <p:cNvSpPr/>
              <p:nvPr/>
            </p:nvSpPr>
            <p:spPr>
              <a:xfrm>
                <a:off x="7334250" y="2981325"/>
                <a:ext cx="3362325" cy="209550"/>
              </a:xfrm>
              <a:custGeom>
                <a:avLst/>
                <a:gdLst/>
                <a:ahLst/>
                <a:cxnLst/>
                <a:rect l="l" t="t" r="r" b="b"/>
                <a:pathLst>
                  <a:path w="3362325" h="209550">
                    <a:moveTo>
                      <a:pt x="38100" y="0"/>
                    </a:moveTo>
                    <a:lnTo>
                      <a:pt x="3324225" y="0"/>
                    </a:lnTo>
                    <a:cubicBezTo>
                      <a:pt x="3345267" y="0"/>
                      <a:pt x="3362325" y="17058"/>
                      <a:pt x="3362325" y="38100"/>
                    </a:cubicBezTo>
                    <a:lnTo>
                      <a:pt x="3362325" y="171450"/>
                    </a:lnTo>
                    <a:cubicBezTo>
                      <a:pt x="3362325" y="192492"/>
                      <a:pt x="3345267" y="209550"/>
                      <a:pt x="3324225" y="209550"/>
                    </a:cubicBezTo>
                    <a:lnTo>
                      <a:pt x="38100" y="209550"/>
                    </a:lnTo>
                    <a:cubicBezTo>
                      <a:pt x="17058" y="209550"/>
                      <a:pt x="0" y="192492"/>
                      <a:pt x="0" y="171450"/>
                    </a:cubicBezTo>
                    <a:lnTo>
                      <a:pt x="0" y="38100"/>
                    </a:lnTo>
                    <a:cubicBezTo>
                      <a:pt x="0" y="17058"/>
                      <a:pt x="17058" y="0"/>
                      <a:pt x="38100" y="0"/>
                    </a:cubicBezTo>
                    <a:close/>
                  </a:path>
                </a:pathLst>
              </a:custGeom>
              <a:solidFill>
                <a:srgbClr val="4A90D9">
                  <a:alpha val="20000"/>
                </a:srgbClr>
              </a:solidFill>
              <a:ln>
                <a:noFill/>
              </a:ln>
            </p:spPr>
          </p:sp>
          <p:sp>
            <p:nvSpPr>
              <p:cNvPr id="53" name="Freeform 53"/>
              <p:cNvSpPr/>
              <p:nvPr/>
            </p:nvSpPr>
            <p:spPr>
              <a:xfrm>
                <a:off x="7334250" y="2981325"/>
                <a:ext cx="3362325" cy="209550"/>
              </a:xfrm>
              <a:custGeom>
                <a:avLst/>
                <a:gdLst/>
                <a:ahLst/>
                <a:cxnLst/>
                <a:rect l="l" t="t" r="r" b="b"/>
                <a:pathLst>
                  <a:path w="3362325" h="209550">
                    <a:moveTo>
                      <a:pt x="38100" y="0"/>
                    </a:moveTo>
                    <a:lnTo>
                      <a:pt x="3324225" y="0"/>
                    </a:lnTo>
                    <a:cubicBezTo>
                      <a:pt x="3345267" y="0"/>
                      <a:pt x="3362325" y="17058"/>
                      <a:pt x="3362325" y="38100"/>
                    </a:cubicBezTo>
                    <a:lnTo>
                      <a:pt x="3362325" y="171450"/>
                    </a:lnTo>
                    <a:cubicBezTo>
                      <a:pt x="3362325" y="192492"/>
                      <a:pt x="3345267" y="209550"/>
                      <a:pt x="3324225" y="209550"/>
                    </a:cubicBezTo>
                    <a:lnTo>
                      <a:pt x="38100" y="209550"/>
                    </a:lnTo>
                    <a:cubicBezTo>
                      <a:pt x="17058" y="209550"/>
                      <a:pt x="0" y="192492"/>
                      <a:pt x="0" y="171450"/>
                    </a:cubicBezTo>
                    <a:lnTo>
                      <a:pt x="0" y="38100"/>
                    </a:lnTo>
                    <a:cubicBezTo>
                      <a:pt x="0" y="17058"/>
                      <a:pt x="17058" y="0"/>
                      <a:pt x="38100" y="0"/>
                    </a:cubicBezTo>
                    <a:close/>
                  </a:path>
                </a:pathLst>
              </a:custGeom>
              <a:solidFill>
                <a:srgbClr val="4A90D9"/>
              </a:solidFill>
              <a:ln>
                <a:noFill/>
              </a:ln>
            </p:spPr>
          </p:sp>
          <p:sp>
            <p:nvSpPr>
              <p:cNvPr id="54" name="TextBox 54"/>
              <p:cNvSpPr txBox="1"/>
              <p:nvPr/>
            </p:nvSpPr>
            <p:spPr>
              <a:xfrm>
                <a:off x="10779442" y="3018949"/>
                <a:ext cx="398562"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26.1%</a:t>
                </a:r>
              </a:p>
            </p:txBody>
          </p:sp>
        </p:grpSp>
        <p:grpSp>
          <p:nvGrpSpPr>
            <p:cNvPr id="60" name="Group 60"/>
            <p:cNvGrpSpPr/>
            <p:nvPr/>
          </p:nvGrpSpPr>
          <p:grpSpPr>
            <a:xfrm>
              <a:off x="5988368" y="3362325"/>
              <a:ext cx="4522165" cy="235744"/>
              <a:chOff x="5988368" y="3362325"/>
              <a:chExt cx="4522165" cy="235744"/>
            </a:xfrm>
          </p:grpSpPr>
          <p:sp>
            <p:nvSpPr>
              <p:cNvPr id="56" name="TextBox 56"/>
              <p:cNvSpPr txBox="1"/>
              <p:nvPr/>
            </p:nvSpPr>
            <p:spPr>
              <a:xfrm>
                <a:off x="5988368" y="3399949"/>
                <a:ext cx="128499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SVM（支持向量机）</a:t>
                </a:r>
              </a:p>
            </p:txBody>
          </p:sp>
          <p:sp>
            <p:nvSpPr>
              <p:cNvPr id="57" name="Freeform 57"/>
              <p:cNvSpPr/>
              <p:nvPr/>
            </p:nvSpPr>
            <p:spPr>
              <a:xfrm>
                <a:off x="7334250" y="3362325"/>
                <a:ext cx="2657475" cy="209550"/>
              </a:xfrm>
              <a:custGeom>
                <a:avLst/>
                <a:gdLst/>
                <a:ahLst/>
                <a:cxnLst/>
                <a:rect l="l" t="t" r="r" b="b"/>
                <a:pathLst>
                  <a:path w="2657475" h="209550">
                    <a:moveTo>
                      <a:pt x="38100" y="0"/>
                    </a:moveTo>
                    <a:lnTo>
                      <a:pt x="2619375" y="0"/>
                    </a:lnTo>
                    <a:cubicBezTo>
                      <a:pt x="2640417" y="0"/>
                      <a:pt x="2657475" y="17058"/>
                      <a:pt x="2657475" y="38100"/>
                    </a:cubicBezTo>
                    <a:lnTo>
                      <a:pt x="2657475" y="171450"/>
                    </a:lnTo>
                    <a:cubicBezTo>
                      <a:pt x="2657475" y="192492"/>
                      <a:pt x="2640417" y="209550"/>
                      <a:pt x="2619375" y="209550"/>
                    </a:cubicBezTo>
                    <a:lnTo>
                      <a:pt x="38100" y="209550"/>
                    </a:lnTo>
                    <a:cubicBezTo>
                      <a:pt x="17058" y="209550"/>
                      <a:pt x="0" y="192492"/>
                      <a:pt x="0" y="171450"/>
                    </a:cubicBezTo>
                    <a:lnTo>
                      <a:pt x="0" y="38100"/>
                    </a:lnTo>
                    <a:cubicBezTo>
                      <a:pt x="0" y="17058"/>
                      <a:pt x="17058" y="0"/>
                      <a:pt x="38100" y="0"/>
                    </a:cubicBezTo>
                    <a:close/>
                  </a:path>
                </a:pathLst>
              </a:custGeom>
              <a:solidFill>
                <a:srgbClr val="D97706">
                  <a:alpha val="20000"/>
                </a:srgbClr>
              </a:solidFill>
              <a:ln>
                <a:noFill/>
              </a:ln>
            </p:spPr>
          </p:sp>
          <p:sp>
            <p:nvSpPr>
              <p:cNvPr id="58" name="Freeform 58"/>
              <p:cNvSpPr/>
              <p:nvPr/>
            </p:nvSpPr>
            <p:spPr>
              <a:xfrm>
                <a:off x="7334250" y="3362325"/>
                <a:ext cx="2657475" cy="209550"/>
              </a:xfrm>
              <a:custGeom>
                <a:avLst/>
                <a:gdLst/>
                <a:ahLst/>
                <a:cxnLst/>
                <a:rect l="l" t="t" r="r" b="b"/>
                <a:pathLst>
                  <a:path w="2657475" h="209550">
                    <a:moveTo>
                      <a:pt x="38100" y="0"/>
                    </a:moveTo>
                    <a:lnTo>
                      <a:pt x="2619375" y="0"/>
                    </a:lnTo>
                    <a:cubicBezTo>
                      <a:pt x="2640417" y="0"/>
                      <a:pt x="2657475" y="17058"/>
                      <a:pt x="2657475" y="38100"/>
                    </a:cubicBezTo>
                    <a:lnTo>
                      <a:pt x="2657475" y="171450"/>
                    </a:lnTo>
                    <a:cubicBezTo>
                      <a:pt x="2657475" y="192492"/>
                      <a:pt x="2640417" y="209550"/>
                      <a:pt x="2619375" y="209550"/>
                    </a:cubicBezTo>
                    <a:lnTo>
                      <a:pt x="38100" y="209550"/>
                    </a:lnTo>
                    <a:cubicBezTo>
                      <a:pt x="17058" y="209550"/>
                      <a:pt x="0" y="192492"/>
                      <a:pt x="0" y="171450"/>
                    </a:cubicBezTo>
                    <a:lnTo>
                      <a:pt x="0" y="38100"/>
                    </a:lnTo>
                    <a:cubicBezTo>
                      <a:pt x="0" y="17058"/>
                      <a:pt x="17058" y="0"/>
                      <a:pt x="38100" y="0"/>
                    </a:cubicBezTo>
                    <a:close/>
                  </a:path>
                </a:pathLst>
              </a:custGeom>
              <a:solidFill>
                <a:srgbClr val="D97706"/>
              </a:solidFill>
              <a:ln>
                <a:noFill/>
              </a:ln>
            </p:spPr>
          </p:sp>
          <p:sp>
            <p:nvSpPr>
              <p:cNvPr id="59" name="TextBox 59"/>
              <p:cNvSpPr txBox="1"/>
              <p:nvPr/>
            </p:nvSpPr>
            <p:spPr>
              <a:xfrm>
                <a:off x="10074592" y="3399949"/>
                <a:ext cx="435941" cy="198120"/>
              </a:xfrm>
              <a:prstGeom prst="rect">
                <a:avLst/>
              </a:prstGeom>
              <a:noFill/>
              <a:ln>
                <a:noFill/>
              </a:ln>
            </p:spPr>
            <p:txBody>
              <a:bodyPr wrap="none" lIns="0" tIns="0" rIns="0" bIns="0" anchor="t" anchorCtr="0">
                <a:spAutoFit/>
              </a:bodyPr>
              <a:lstStyle/>
              <a:p>
                <a:pPr algn="l"/>
                <a:r>
                  <a:rPr lang="zh-CN" sz="975" b="1" dirty="0">
                    <a:solidFill>
                      <a:srgbClr val="D97706"/>
                    </a:solidFill>
                    <a:latin typeface="Arial"/>
                    <a:ea typeface="Microsoft YaHei"/>
                    <a:cs typeface="Arial"/>
                  </a:rPr>
                  <a:t>20.6%</a:t>
                </a:r>
              </a:p>
            </p:txBody>
          </p:sp>
        </p:grpSp>
        <p:sp>
          <p:nvSpPr>
            <p:cNvPr id="61" name="TextBox 61"/>
            <p:cNvSpPr txBox="1"/>
            <p:nvPr/>
          </p:nvSpPr>
          <p:spPr>
            <a:xfrm>
              <a:off x="5987415" y="3744278"/>
              <a:ext cx="759312"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后续计划:</a:t>
              </a:r>
            </a:p>
          </p:txBody>
        </p:sp>
        <p:sp>
          <p:nvSpPr>
            <p:cNvPr id="62" name="Freeform 62"/>
            <p:cNvSpPr/>
            <p:nvPr/>
          </p:nvSpPr>
          <p:spPr>
            <a:xfrm>
              <a:off x="6000750" y="4000500"/>
              <a:ext cx="5619750" cy="619125"/>
            </a:xfrm>
            <a:custGeom>
              <a:avLst/>
              <a:gdLst/>
              <a:ahLst/>
              <a:cxnLst/>
              <a:rect l="l" t="t" r="r" b="b"/>
              <a:pathLst>
                <a:path w="5619750" h="619125">
                  <a:moveTo>
                    <a:pt x="76200" y="0"/>
                  </a:moveTo>
                  <a:lnTo>
                    <a:pt x="5543550" y="0"/>
                  </a:lnTo>
                  <a:cubicBezTo>
                    <a:pt x="5585634" y="0"/>
                    <a:pt x="5619750" y="34116"/>
                    <a:pt x="5619750" y="76200"/>
                  </a:cubicBezTo>
                  <a:lnTo>
                    <a:pt x="5619750" y="542925"/>
                  </a:lnTo>
                  <a:cubicBezTo>
                    <a:pt x="5619750" y="585009"/>
                    <a:pt x="5585634" y="619125"/>
                    <a:pt x="5543550" y="619125"/>
                  </a:cubicBezTo>
                  <a:lnTo>
                    <a:pt x="76200" y="619125"/>
                  </a:lnTo>
                  <a:cubicBezTo>
                    <a:pt x="34116" y="619125"/>
                    <a:pt x="0" y="585009"/>
                    <a:pt x="0" y="542925"/>
                  </a:cubicBezTo>
                  <a:lnTo>
                    <a:pt x="0" y="76200"/>
                  </a:lnTo>
                  <a:cubicBezTo>
                    <a:pt x="0" y="34116"/>
                    <a:pt x="34116" y="0"/>
                    <a:pt x="76200" y="0"/>
                  </a:cubicBezTo>
                  <a:close/>
                </a:path>
              </a:pathLst>
            </a:custGeom>
            <a:solidFill>
              <a:srgbClr val="FEF2F2"/>
            </a:solidFill>
            <a:ln w="9525">
              <a:solidFill>
                <a:srgbClr val="DC2626"/>
              </a:solidFill>
            </a:ln>
          </p:spPr>
        </p:sp>
        <p:sp>
          <p:nvSpPr>
            <p:cNvPr id="63" name="Freeform 63"/>
            <p:cNvSpPr/>
            <p:nvPr/>
          </p:nvSpPr>
          <p:spPr>
            <a:xfrm>
              <a:off x="6000750" y="4000500"/>
              <a:ext cx="76200" cy="619125"/>
            </a:xfrm>
            <a:custGeom>
              <a:avLst/>
              <a:gdLst/>
              <a:ahLst/>
              <a:cxnLst/>
              <a:rect l="l" t="t" r="r" b="b"/>
              <a:pathLst>
                <a:path w="76200" h="619125">
                  <a:moveTo>
                    <a:pt x="38100" y="0"/>
                  </a:moveTo>
                  <a:lnTo>
                    <a:pt x="38100" y="0"/>
                  </a:lnTo>
                  <a:cubicBezTo>
                    <a:pt x="59142" y="0"/>
                    <a:pt x="76200" y="17058"/>
                    <a:pt x="76200" y="38100"/>
                  </a:cubicBezTo>
                  <a:lnTo>
                    <a:pt x="76200" y="581025"/>
                  </a:lnTo>
                  <a:cubicBezTo>
                    <a:pt x="76200" y="602067"/>
                    <a:pt x="59142" y="619125"/>
                    <a:pt x="38100" y="619125"/>
                  </a:cubicBezTo>
                  <a:lnTo>
                    <a:pt x="38100" y="619125"/>
                  </a:lnTo>
                  <a:cubicBezTo>
                    <a:pt x="17058" y="619125"/>
                    <a:pt x="0" y="602067"/>
                    <a:pt x="0" y="581025"/>
                  </a:cubicBezTo>
                  <a:lnTo>
                    <a:pt x="0" y="38100"/>
                  </a:lnTo>
                  <a:cubicBezTo>
                    <a:pt x="0" y="17058"/>
                    <a:pt x="17058" y="0"/>
                    <a:pt x="38100" y="0"/>
                  </a:cubicBezTo>
                  <a:close/>
                </a:path>
              </a:pathLst>
            </a:custGeom>
            <a:solidFill>
              <a:srgbClr val="DC2626"/>
            </a:solidFill>
            <a:ln>
              <a:noFill/>
            </a:ln>
          </p:spPr>
        </p:sp>
        <p:sp>
          <p:nvSpPr>
            <p:cNvPr id="64" name="TextBox 64"/>
            <p:cNvSpPr txBox="1"/>
            <p:nvPr/>
          </p:nvSpPr>
          <p:spPr>
            <a:xfrm>
              <a:off x="6216968" y="4133374"/>
              <a:ext cx="3089898" cy="198120"/>
            </a:xfrm>
            <a:prstGeom prst="rect">
              <a:avLst/>
            </a:prstGeom>
            <a:noFill/>
            <a:ln>
              <a:noFill/>
            </a:ln>
          </p:spPr>
          <p:txBody>
            <a:bodyPr wrap="none" lIns="0" tIns="0" rIns="0" bIns="0" anchor="t" anchorCtr="0">
              <a:spAutoFit/>
            </a:bodyPr>
            <a:lstStyle/>
            <a:p>
              <a:pPr algn="l"/>
              <a:r>
                <a:rPr lang="zh-CN" sz="975" b="1" dirty="0">
                  <a:solidFill>
                    <a:srgbClr val="991B1B"/>
                  </a:solidFill>
                  <a:latin typeface="Arial"/>
                  <a:ea typeface="Microsoft YaHei"/>
                  <a:cs typeface="Arial"/>
                </a:rPr>
                <a:t>若FDS数据集验证后SVM仍显著落后于其他模型</a:t>
              </a:r>
            </a:p>
          </p:txBody>
        </p:sp>
        <p:sp>
          <p:nvSpPr>
            <p:cNvPr id="65" name="TextBox 65"/>
            <p:cNvSpPr txBox="1"/>
            <p:nvPr/>
          </p:nvSpPr>
          <p:spPr>
            <a:xfrm>
              <a:off x="6216968" y="4342924"/>
              <a:ext cx="4033290"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a:ea typeface="Microsoft YaHei"/>
                  <a:cs typeface="Arial"/>
                </a:rPr>
                <a:t>→ 从融合模型中剔除SVM，仅保留RF、MLP、CNN1D进行加权融合</a:t>
              </a:r>
            </a:p>
          </p:txBody>
        </p:sp>
        <p:sp>
          <p:nvSpPr>
            <p:cNvPr id="66" name="TextBox 66"/>
            <p:cNvSpPr txBox="1"/>
            <p:nvPr/>
          </p:nvSpPr>
          <p:spPr>
            <a:xfrm>
              <a:off x="5988368" y="4800124"/>
              <a:ext cx="1153631" cy="198120"/>
            </a:xfrm>
            <a:prstGeom prst="rect">
              <a:avLst/>
            </a:prstGeom>
            <a:noFill/>
            <a:ln>
              <a:noFill/>
            </a:ln>
          </p:spPr>
          <p:txBody>
            <a:bodyPr wrap="none" lIns="0" tIns="0" rIns="0" bIns="0" anchor="t" anchorCtr="0">
              <a:spAutoFit/>
            </a:bodyPr>
            <a:lstStyle/>
            <a:p>
              <a:pPr algn="l"/>
              <a:r>
                <a:rPr lang="zh-CN" sz="975" b="1" dirty="0">
                  <a:solidFill>
                    <a:srgbClr val="1B3A6B"/>
                  </a:solidFill>
                  <a:latin typeface="Arial"/>
                  <a:ea typeface="Microsoft YaHei"/>
                  <a:cs typeface="Arial"/>
                </a:rPr>
                <a:t>测试集混淆矩阵:</a:t>
              </a:r>
            </a:p>
          </p:txBody>
        </p:sp>
        <p:pic>
          <p:nvPicPr>
            <p:cNvPr id="67" name="Image 67"/>
            <p:cNvPicPr>
              <a:picLocks noChangeAspect="1"/>
            </p:cNvPicPr>
            <p:nvPr/>
          </p:nvPicPr>
          <p:blipFill>
            <a:blip r:embed="rId4"/>
            <a:stretch>
              <a:fillRect/>
            </a:stretch>
          </p:blipFill>
          <p:spPr>
            <a:xfrm>
              <a:off x="7399020" y="5000625"/>
              <a:ext cx="2823210" cy="1905000"/>
            </a:xfrm>
            <a:prstGeom prst="rect">
              <a:avLst/>
            </a:prstGeom>
          </p:spPr>
        </p:pic>
      </p:grpSp>
      <p:sp>
        <p:nvSpPr>
          <p:cNvPr id="69" name="TextBox 69"/>
          <p:cNvSpPr txBox="1"/>
          <p:nvPr/>
        </p:nvSpPr>
        <p:spPr>
          <a:xfrm>
            <a:off x="560070" y="6570345"/>
            <a:ext cx="43034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06 / 16</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5803D"/>
              </a:gs>
              <a:gs pos="100000">
                <a:srgbClr val="0F5230"/>
              </a:gs>
            </a:gsLst>
            <a:lin ang="5400000" scaled="1"/>
          </a:gradFill>
          <a:ln>
            <a:noFill/>
          </a:ln>
        </p:spPr>
      </p:sp>
      <p:sp>
        <p:nvSpPr>
          <p:cNvPr id="3" name="TextBox 3"/>
          <p:cNvSpPr txBox="1"/>
          <p:nvPr/>
        </p:nvSpPr>
        <p:spPr>
          <a:xfrm>
            <a:off x="1009650" y="2200275"/>
            <a:ext cx="2037921" cy="2133600"/>
          </a:xfrm>
          <a:prstGeom prst="rect">
            <a:avLst/>
          </a:prstGeom>
          <a:noFill/>
          <a:ln>
            <a:noFill/>
          </a:ln>
        </p:spPr>
        <p:txBody>
          <a:bodyPr wrap="none" lIns="0" tIns="0" rIns="0" bIns="0" anchor="t" anchorCtr="0">
            <a:spAutoFit/>
          </a:bodyPr>
          <a:lstStyle/>
          <a:p>
            <a:pPr algn="l"/>
            <a:r>
              <a:rPr lang="zh-CN" sz="10500" b="1" dirty="0">
                <a:solidFill>
                  <a:srgbClr val="FFFFFF">
                    <a:alpha val="8000"/>
                  </a:srgbClr>
                </a:solidFill>
                <a:latin typeface="Arial"/>
                <a:ea typeface="Microsoft YaHei"/>
                <a:cs typeface="Arial"/>
              </a:rPr>
              <a:t>02</a:t>
            </a:r>
          </a:p>
        </p:txBody>
      </p:sp>
      <p:sp>
        <p:nvSpPr>
          <p:cNvPr id="4" name="Freeform 4"/>
          <p:cNvSpPr/>
          <p:nvPr/>
        </p:nvSpPr>
        <p:spPr>
          <a:xfrm>
            <a:off x="762000" y="2095500"/>
            <a:ext cx="57150" cy="1905000"/>
          </a:xfrm>
          <a:custGeom>
            <a:avLst/>
            <a:gdLst/>
            <a:ahLst/>
            <a:cxnLst/>
            <a:rect l="l" t="t" r="r" b="b"/>
            <a:pathLst>
              <a:path w="57150" h="1905000">
                <a:moveTo>
                  <a:pt x="28575" y="0"/>
                </a:moveTo>
                <a:lnTo>
                  <a:pt x="28575" y="0"/>
                </a:lnTo>
                <a:cubicBezTo>
                  <a:pt x="44357" y="0"/>
                  <a:pt x="57150" y="12793"/>
                  <a:pt x="57150" y="28575"/>
                </a:cubicBezTo>
                <a:lnTo>
                  <a:pt x="57150" y="1876425"/>
                </a:lnTo>
                <a:cubicBezTo>
                  <a:pt x="57150" y="1892207"/>
                  <a:pt x="44357" y="1905000"/>
                  <a:pt x="28575" y="1905000"/>
                </a:cubicBezTo>
                <a:lnTo>
                  <a:pt x="28575" y="1905000"/>
                </a:lnTo>
                <a:cubicBezTo>
                  <a:pt x="12793" y="1905000"/>
                  <a:pt x="0" y="1892207"/>
                  <a:pt x="0" y="1876425"/>
                </a:cubicBezTo>
                <a:lnTo>
                  <a:pt x="0" y="28575"/>
                </a:lnTo>
                <a:cubicBezTo>
                  <a:pt x="0" y="12793"/>
                  <a:pt x="12793" y="0"/>
                  <a:pt x="28575" y="0"/>
                </a:cubicBezTo>
                <a:close/>
              </a:path>
            </a:pathLst>
          </a:custGeom>
          <a:solidFill>
            <a:srgbClr val="16A34A"/>
          </a:solidFill>
          <a:ln>
            <a:noFill/>
          </a:ln>
        </p:spPr>
      </p:sp>
      <p:sp>
        <p:nvSpPr>
          <p:cNvPr id="5" name="TextBox 5"/>
          <p:cNvSpPr txBox="1"/>
          <p:nvPr/>
        </p:nvSpPr>
        <p:spPr>
          <a:xfrm>
            <a:off x="1104900" y="2724150"/>
            <a:ext cx="6056948"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机械加工设施热毁伤代理模型</a:t>
            </a:r>
          </a:p>
        </p:txBody>
      </p:sp>
      <p:sp>
        <p:nvSpPr>
          <p:cNvPr id="6" name="TextBox 6"/>
          <p:cNvSpPr txBox="1"/>
          <p:nvPr/>
        </p:nvSpPr>
        <p:spPr>
          <a:xfrm>
            <a:off x="1123950" y="3362325"/>
            <a:ext cx="3784282" cy="304800"/>
          </a:xfrm>
          <a:prstGeom prst="rect">
            <a:avLst/>
          </a:prstGeom>
          <a:noFill/>
          <a:ln>
            <a:noFill/>
          </a:ln>
        </p:spPr>
        <p:txBody>
          <a:bodyPr wrap="none" lIns="0" tIns="0" rIns="0" bIns="0" anchor="t" anchorCtr="0">
            <a:spAutoFit/>
          </a:bodyPr>
          <a:lstStyle/>
          <a:p>
            <a:pPr algn="l"/>
            <a:r>
              <a:rPr lang="zh-CN" sz="1500" dirty="0">
                <a:solidFill>
                  <a:srgbClr val="4ADE80"/>
                </a:solidFill>
                <a:latin typeface="Arial"/>
                <a:ea typeface="Microsoft YaHei"/>
                <a:cs typeface="Arial"/>
              </a:rPr>
              <a:t>Machinery Manufacturing Facilities</a:t>
            </a:r>
          </a:p>
        </p:txBody>
      </p:sp>
      <p:sp>
        <p:nvSpPr>
          <p:cNvPr id="7" name="Freeform 7"/>
          <p:cNvSpPr/>
          <p:nvPr/>
        </p:nvSpPr>
        <p:spPr>
          <a:xfrm>
            <a:off x="1143000" y="3762375"/>
            <a:ext cx="2857500" cy="19050"/>
          </a:xfrm>
          <a:custGeom>
            <a:avLst/>
            <a:gdLst/>
            <a:ahLst/>
            <a:cxnLst/>
            <a:rect l="l" t="t" r="r" b="b"/>
            <a:pathLst>
              <a:path w="2857500" h="19050">
                <a:moveTo>
                  <a:pt x="9525" y="0"/>
                </a:moveTo>
                <a:lnTo>
                  <a:pt x="2847975" y="0"/>
                </a:lnTo>
                <a:cubicBezTo>
                  <a:pt x="2853236" y="0"/>
                  <a:pt x="2857500" y="4264"/>
                  <a:pt x="2857500" y="9525"/>
                </a:cubicBezTo>
                <a:lnTo>
                  <a:pt x="2857500" y="9525"/>
                </a:lnTo>
                <a:cubicBezTo>
                  <a:pt x="2857500" y="14786"/>
                  <a:pt x="2853236" y="19050"/>
                  <a:pt x="2847975" y="19050"/>
                </a:cubicBezTo>
                <a:lnTo>
                  <a:pt x="9525" y="19050"/>
                </a:lnTo>
                <a:cubicBezTo>
                  <a:pt x="4264" y="19050"/>
                  <a:pt x="0" y="14786"/>
                  <a:pt x="0" y="9525"/>
                </a:cubicBezTo>
                <a:lnTo>
                  <a:pt x="0" y="9525"/>
                </a:lnTo>
                <a:cubicBezTo>
                  <a:pt x="0" y="4264"/>
                  <a:pt x="4264" y="0"/>
                  <a:pt x="9525" y="0"/>
                </a:cubicBezTo>
                <a:close/>
              </a:path>
            </a:pathLst>
          </a:custGeom>
          <a:solidFill>
            <a:srgbClr val="16A34A">
              <a:alpha val="40000"/>
            </a:srgbClr>
          </a:solidFill>
          <a:ln>
            <a:noFill/>
          </a:ln>
        </p:spPr>
      </p:sp>
      <p:sp>
        <p:nvSpPr>
          <p:cNvPr id="8" name="TextBox 8"/>
          <p:cNvSpPr txBox="1"/>
          <p:nvPr/>
        </p:nvSpPr>
        <p:spPr>
          <a:xfrm>
            <a:off x="1127760" y="3966210"/>
            <a:ext cx="2887218" cy="243840"/>
          </a:xfrm>
          <a:prstGeom prst="rect">
            <a:avLst/>
          </a:prstGeom>
          <a:noFill/>
          <a:ln>
            <a:noFill/>
          </a:ln>
        </p:spPr>
        <p:txBody>
          <a:bodyPr wrap="none" lIns="0" tIns="0" rIns="0" bIns="0" anchor="t" anchorCtr="0">
            <a:spAutoFit/>
          </a:bodyPr>
          <a:lstStyle/>
          <a:p>
            <a:pPr algn="l"/>
            <a:r>
              <a:rPr lang="zh-CN" sz="1200" dirty="0">
                <a:solidFill>
                  <a:srgbClr val="6B7280"/>
                </a:solidFill>
                <a:latin typeface="Arial"/>
                <a:ea typeface="Microsoft YaHei"/>
                <a:cs typeface="Arial"/>
              </a:rPr>
              <a:t>总装车间 · 部装车间 · 机械加工车间</a:t>
            </a:r>
          </a:p>
        </p:txBody>
      </p:sp>
      <p:grpSp>
        <p:nvGrpSpPr>
          <p:cNvPr id="12" name="Group 12"/>
          <p:cNvGrpSpPr/>
          <p:nvPr/>
        </p:nvGrpSpPr>
        <p:grpSpPr>
          <a:xfrm>
            <a:off x="8763000" y="2095500"/>
            <a:ext cx="1524000" cy="1524000"/>
            <a:chOff x="8763000" y="2095500"/>
            <a:chExt cx="1524000" cy="1524000"/>
          </a:xfrm>
        </p:grpSpPr>
        <p:sp>
          <p:nvSpPr>
            <p:cNvPr id="9" name="Ellipse 9"/>
            <p:cNvSpPr/>
            <p:nvPr/>
          </p:nvSpPr>
          <p:spPr>
            <a:xfrm>
              <a:off x="8763000" y="2095500"/>
              <a:ext cx="1524000" cy="1524000"/>
            </a:xfrm>
            <a:prstGeom prst="ellipse">
              <a:avLst/>
            </a:prstGeom>
            <a:solidFill>
              <a:srgbClr val="16A34A">
                <a:alpha val="5000"/>
              </a:srgbClr>
            </a:solidFill>
            <a:ln>
              <a:noFill/>
            </a:ln>
          </p:spPr>
        </p:sp>
        <p:sp>
          <p:nvSpPr>
            <p:cNvPr id="10" name="Ellipse 10"/>
            <p:cNvSpPr/>
            <p:nvPr/>
          </p:nvSpPr>
          <p:spPr>
            <a:xfrm>
              <a:off x="9048750" y="2381250"/>
              <a:ext cx="952500" cy="952500"/>
            </a:xfrm>
            <a:prstGeom prst="ellipse">
              <a:avLst/>
            </a:prstGeom>
            <a:solidFill>
              <a:srgbClr val="16A34A">
                <a:alpha val="8000"/>
              </a:srgbClr>
            </a:solidFill>
            <a:ln>
              <a:noFill/>
            </a:ln>
          </p:spPr>
        </p:sp>
        <p:sp>
          <p:nvSpPr>
            <p:cNvPr id="11" name="Ellipse 11"/>
            <p:cNvSpPr/>
            <p:nvPr/>
          </p:nvSpPr>
          <p:spPr>
            <a:xfrm>
              <a:off x="9286875" y="2619375"/>
              <a:ext cx="476250" cy="476250"/>
            </a:xfrm>
            <a:prstGeom prst="ellipse">
              <a:avLst/>
            </a:prstGeom>
            <a:solidFill>
              <a:srgbClr val="16A34A">
                <a:alpha val="15000"/>
              </a:srgbClr>
            </a:solidFill>
            <a:ln>
              <a:noFill/>
            </a:ln>
          </p:spPr>
        </p:sp>
      </p:grpSp>
      <p:sp>
        <p:nvSpPr>
          <p:cNvPr id="13" name="TextBox 13"/>
          <p:cNvSpPr txBox="1"/>
          <p:nvPr/>
        </p:nvSpPr>
        <p:spPr>
          <a:xfrm>
            <a:off x="11131772" y="6506528"/>
            <a:ext cx="502063" cy="213360"/>
          </a:xfrm>
          <a:prstGeom prst="rect">
            <a:avLst/>
          </a:prstGeom>
          <a:noFill/>
          <a:ln>
            <a:noFill/>
          </a:ln>
        </p:spPr>
        <p:txBody>
          <a:bodyPr wrap="none" lIns="0" tIns="0" rIns="0" bIns="0" anchor="t" anchorCtr="0">
            <a:spAutoFit/>
          </a:bodyPr>
          <a:lstStyle/>
          <a:p>
            <a:pPr algn="r"/>
            <a:r>
              <a:rPr lang="zh-CN" sz="1050" dirty="0">
                <a:solidFill>
                  <a:srgbClr val="4ADE80">
                    <a:alpha val="60000"/>
                  </a:srgbClr>
                </a:solidFill>
                <a:latin typeface="Arial"/>
                <a:ea typeface="Microsoft YaHei"/>
                <a:cs typeface="Arial"/>
              </a:rPr>
              <a:t>07 / 16</a:t>
            </a:r>
          </a:p>
        </p:txBody>
      </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5803D"/>
          </a:solidFill>
          <a:ln>
            <a:noFill/>
          </a:ln>
        </p:spPr>
      </p:sp>
      <p:sp>
        <p:nvSpPr>
          <p:cNvPr id="4" name="TextBox 4"/>
          <p:cNvSpPr txBox="1"/>
          <p:nvPr/>
        </p:nvSpPr>
        <p:spPr>
          <a:xfrm>
            <a:off x="550545" y="183832"/>
            <a:ext cx="1990254"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2.1 数据体系建设</a:t>
            </a:r>
          </a:p>
        </p:txBody>
      </p:sp>
      <p:sp>
        <p:nvSpPr>
          <p:cNvPr id="5" name="TextBox 5"/>
          <p:cNvSpPr txBox="1"/>
          <p:nvPr/>
        </p:nvSpPr>
        <p:spPr>
          <a:xfrm>
            <a:off x="10687050" y="248602"/>
            <a:ext cx="946785" cy="213360"/>
          </a:xfrm>
          <a:prstGeom prst="rect">
            <a:avLst/>
          </a:prstGeom>
          <a:noFill/>
          <a:ln>
            <a:noFill/>
          </a:ln>
        </p:spPr>
        <p:txBody>
          <a:bodyPr wrap="none" lIns="0" tIns="0" rIns="0" bIns="0" anchor="t" anchorCtr="0">
            <a:spAutoFit/>
          </a:bodyPr>
          <a:lstStyle/>
          <a:p>
            <a:pPr algn="r"/>
            <a:r>
              <a:rPr lang="zh-CN" sz="1050" dirty="0">
                <a:solidFill>
                  <a:srgbClr val="86EFAC"/>
                </a:solidFill>
                <a:latin typeface="Arial"/>
                <a:ea typeface="Microsoft YaHei"/>
                <a:cs typeface="Arial"/>
              </a:rPr>
              <a:t>机械加工设施</a:t>
            </a:r>
          </a:p>
        </p:txBody>
      </p:sp>
      <p:grpSp>
        <p:nvGrpSpPr>
          <p:cNvPr id="34" name="Group 34"/>
          <p:cNvGrpSpPr/>
          <p:nvPr/>
        </p:nvGrpSpPr>
        <p:grpSpPr>
          <a:xfrm>
            <a:off x="558165" y="809625"/>
            <a:ext cx="3811548" cy="5619750"/>
            <a:chOff x="558165" y="809625"/>
            <a:chExt cx="3811548" cy="5619750"/>
          </a:xfrm>
        </p:grpSpPr>
        <p:sp>
          <p:nvSpPr>
            <p:cNvPr id="6" name="Freeform 6"/>
            <p:cNvSpPr/>
            <p:nvPr/>
          </p:nvSpPr>
          <p:spPr>
            <a:xfrm>
              <a:off x="571500" y="809625"/>
              <a:ext cx="3619500" cy="1095375"/>
            </a:xfrm>
            <a:custGeom>
              <a:avLst/>
              <a:gdLst/>
              <a:ahLst/>
              <a:cxnLst/>
              <a:rect l="l" t="t" r="r" b="b"/>
              <a:pathLst>
                <a:path w="3619500" h="1095375">
                  <a:moveTo>
                    <a:pt x="76200" y="0"/>
                  </a:moveTo>
                  <a:lnTo>
                    <a:pt x="3543300" y="0"/>
                  </a:lnTo>
                  <a:cubicBezTo>
                    <a:pt x="3585384" y="0"/>
                    <a:pt x="3619500" y="34116"/>
                    <a:pt x="3619500" y="76200"/>
                  </a:cubicBezTo>
                  <a:lnTo>
                    <a:pt x="3619500" y="1019175"/>
                  </a:lnTo>
                  <a:cubicBezTo>
                    <a:pt x="3619500" y="1061259"/>
                    <a:pt x="3585384" y="1095375"/>
                    <a:pt x="3543300" y="1095375"/>
                  </a:cubicBezTo>
                  <a:lnTo>
                    <a:pt x="76200" y="1095375"/>
                  </a:lnTo>
                  <a:cubicBezTo>
                    <a:pt x="34116" y="1095375"/>
                    <a:pt x="0" y="1061259"/>
                    <a:pt x="0" y="1019175"/>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7" name="TextBox 7"/>
            <p:cNvSpPr txBox="1"/>
            <p:nvPr/>
          </p:nvSpPr>
          <p:spPr>
            <a:xfrm>
              <a:off x="748665" y="962978"/>
              <a:ext cx="670750"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a:ea typeface="Microsoft YaHei"/>
                  <a:cs typeface="Arial"/>
                </a:rPr>
                <a:t>设施配置</a:t>
              </a:r>
            </a:p>
          </p:txBody>
        </p:sp>
        <p:sp>
          <p:nvSpPr>
            <p:cNvPr id="8" name="TextBox 8"/>
            <p:cNvSpPr txBox="1"/>
            <p:nvPr/>
          </p:nvSpPr>
          <p:spPr>
            <a:xfrm>
              <a:off x="749618" y="1228249"/>
              <a:ext cx="2167866"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machinery_manufacturing.json</a:t>
              </a:r>
            </a:p>
          </p:txBody>
        </p:sp>
        <p:sp>
          <p:nvSpPr>
            <p:cNvPr id="9" name="TextBox 9"/>
            <p:cNvSpPr txBox="1"/>
            <p:nvPr/>
          </p:nvSpPr>
          <p:spPr>
            <a:xfrm>
              <a:off x="749618" y="1437799"/>
              <a:ext cx="234586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总装车间 / 部装车间 / 机械加工车间</a:t>
              </a:r>
            </a:p>
          </p:txBody>
        </p:sp>
        <p:sp>
          <p:nvSpPr>
            <p:cNvPr id="10" name="TextBox 10"/>
            <p:cNvSpPr txBox="1"/>
            <p:nvPr/>
          </p:nvSpPr>
          <p:spPr>
            <a:xfrm>
              <a:off x="750570" y="1655445"/>
              <a:ext cx="2875216"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3类子目标 · 完整记录几何、开口、楼层、可燃物</a:t>
              </a:r>
            </a:p>
          </p:txBody>
        </p:sp>
        <p:sp>
          <p:nvSpPr>
            <p:cNvPr id="11" name="Freeform 11"/>
            <p:cNvSpPr/>
            <p:nvPr/>
          </p:nvSpPr>
          <p:spPr>
            <a:xfrm>
              <a:off x="571500" y="2047875"/>
              <a:ext cx="3619500" cy="1047750"/>
            </a:xfrm>
            <a:custGeom>
              <a:avLst/>
              <a:gdLst/>
              <a:ahLst/>
              <a:cxnLst/>
              <a:rect l="l" t="t" r="r" b="b"/>
              <a:pathLst>
                <a:path w="3619500" h="1047750">
                  <a:moveTo>
                    <a:pt x="76200" y="0"/>
                  </a:moveTo>
                  <a:lnTo>
                    <a:pt x="3543300" y="0"/>
                  </a:lnTo>
                  <a:cubicBezTo>
                    <a:pt x="3585384" y="0"/>
                    <a:pt x="3619500" y="34116"/>
                    <a:pt x="3619500" y="76200"/>
                  </a:cubicBezTo>
                  <a:lnTo>
                    <a:pt x="3619500" y="971550"/>
                  </a:lnTo>
                  <a:cubicBezTo>
                    <a:pt x="3619500" y="1013634"/>
                    <a:pt x="3585384" y="1047750"/>
                    <a:pt x="3543300" y="1047750"/>
                  </a:cubicBezTo>
                  <a:lnTo>
                    <a:pt x="76200" y="1047750"/>
                  </a:lnTo>
                  <a:cubicBezTo>
                    <a:pt x="34116" y="1047750"/>
                    <a:pt x="0" y="1013634"/>
                    <a:pt x="0" y="971550"/>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12" name="TextBox 12"/>
            <p:cNvSpPr txBox="1"/>
            <p:nvPr/>
          </p:nvSpPr>
          <p:spPr>
            <a:xfrm>
              <a:off x="748665" y="2201228"/>
              <a:ext cx="831771"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a:ea typeface="Microsoft YaHei"/>
                  <a:cs typeface="Arial"/>
                </a:rPr>
                <a:t>可燃物特征</a:t>
              </a:r>
            </a:p>
          </p:txBody>
        </p:sp>
        <p:sp>
          <p:nvSpPr>
            <p:cNvPr id="13" name="TextBox 13"/>
            <p:cNvSpPr txBox="1"/>
            <p:nvPr/>
          </p:nvSpPr>
          <p:spPr>
            <a:xfrm>
              <a:off x="749618" y="2437924"/>
              <a:ext cx="2139386"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工业油桶、涂料桶、橡胶聚合物</a:t>
              </a:r>
            </a:p>
          </p:txBody>
        </p:sp>
        <p:sp>
          <p:nvSpPr>
            <p:cNvPr id="14" name="TextBox 14"/>
            <p:cNvSpPr txBox="1"/>
            <p:nvPr/>
          </p:nvSpPr>
          <p:spPr>
            <a:xfrm>
              <a:off x="749618" y="2628424"/>
              <a:ext cx="1854589"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有机溶剂桶、可燃气体钢瓶</a:t>
              </a:r>
            </a:p>
          </p:txBody>
        </p:sp>
        <p:sp>
          <p:nvSpPr>
            <p:cNvPr id="15" name="TextBox 15"/>
            <p:cNvSpPr txBox="1"/>
            <p:nvPr/>
          </p:nvSpPr>
          <p:spPr>
            <a:xfrm>
              <a:off x="749618" y="2818924"/>
              <a:ext cx="1996988"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金属粉尘收集器（特殊风险）</a:t>
              </a:r>
            </a:p>
          </p:txBody>
        </p:sp>
        <p:sp>
          <p:nvSpPr>
            <p:cNvPr id="16" name="Freeform 16"/>
            <p:cNvSpPr/>
            <p:nvPr/>
          </p:nvSpPr>
          <p:spPr>
            <a:xfrm>
              <a:off x="571500" y="3238500"/>
              <a:ext cx="3619500" cy="904875"/>
            </a:xfrm>
            <a:custGeom>
              <a:avLst/>
              <a:gdLst/>
              <a:ahLst/>
              <a:cxnLst/>
              <a:rect l="l" t="t" r="r" b="b"/>
              <a:pathLst>
                <a:path w="3619500" h="904875">
                  <a:moveTo>
                    <a:pt x="76200" y="0"/>
                  </a:moveTo>
                  <a:lnTo>
                    <a:pt x="3543300" y="0"/>
                  </a:lnTo>
                  <a:cubicBezTo>
                    <a:pt x="3585384" y="0"/>
                    <a:pt x="3619500" y="34116"/>
                    <a:pt x="3619500" y="76200"/>
                  </a:cubicBezTo>
                  <a:lnTo>
                    <a:pt x="3619500" y="828675"/>
                  </a:lnTo>
                  <a:cubicBezTo>
                    <a:pt x="3619500" y="870759"/>
                    <a:pt x="3585384" y="904875"/>
                    <a:pt x="3543300" y="904875"/>
                  </a:cubicBezTo>
                  <a:lnTo>
                    <a:pt x="76200" y="904875"/>
                  </a:lnTo>
                  <a:cubicBezTo>
                    <a:pt x="34116" y="904875"/>
                    <a:pt x="0" y="870759"/>
                    <a:pt x="0" y="828675"/>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17" name="TextBox 17"/>
            <p:cNvSpPr txBox="1"/>
            <p:nvPr/>
          </p:nvSpPr>
          <p:spPr>
            <a:xfrm>
              <a:off x="748665" y="3391852"/>
              <a:ext cx="831771"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a:ea typeface="Microsoft YaHei"/>
                  <a:cs typeface="Arial"/>
                </a:rPr>
                <a:t>数据集规模</a:t>
              </a:r>
            </a:p>
          </p:txBody>
        </p:sp>
        <p:sp>
          <p:nvSpPr>
            <p:cNvPr id="18" name="TextBox 18"/>
            <p:cNvSpPr txBox="1"/>
            <p:nvPr/>
          </p:nvSpPr>
          <p:spPr>
            <a:xfrm>
              <a:off x="737235" y="3570922"/>
              <a:ext cx="871883" cy="396240"/>
            </a:xfrm>
            <a:prstGeom prst="rect">
              <a:avLst/>
            </a:prstGeom>
            <a:noFill/>
            <a:ln>
              <a:noFill/>
            </a:ln>
          </p:spPr>
          <p:txBody>
            <a:bodyPr wrap="none" lIns="0" tIns="0" rIns="0" bIns="0" anchor="t" anchorCtr="0">
              <a:spAutoFit/>
            </a:bodyPr>
            <a:lstStyle/>
            <a:p>
              <a:pPr algn="l"/>
              <a:r>
                <a:rPr lang="zh-CN" sz="1950" b="1" dirty="0">
                  <a:solidFill>
                    <a:srgbClr val="16A34A"/>
                  </a:solidFill>
                  <a:latin typeface="Arial"/>
                  <a:ea typeface="Microsoft YaHei"/>
                  <a:cs typeface="Arial"/>
                </a:rPr>
                <a:t>7,000</a:t>
              </a:r>
            </a:p>
          </p:txBody>
        </p:sp>
        <p:sp>
          <p:nvSpPr>
            <p:cNvPr id="19" name="TextBox 19"/>
            <p:cNvSpPr txBox="1"/>
            <p:nvPr/>
          </p:nvSpPr>
          <p:spPr>
            <a:xfrm>
              <a:off x="1654492" y="3676174"/>
              <a:ext cx="233162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条（训练5000/验证1000/测试1000）</a:t>
              </a:r>
            </a:p>
          </p:txBody>
        </p:sp>
        <p:sp>
          <p:nvSpPr>
            <p:cNvPr id="20" name="TextBox 20"/>
            <p:cNvSpPr txBox="1"/>
            <p:nvPr/>
          </p:nvSpPr>
          <p:spPr>
            <a:xfrm>
              <a:off x="750570" y="3903345"/>
              <a:ext cx="326955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Machinery Manufacturing子集约121条，占测试集12.1%</a:t>
              </a:r>
            </a:p>
          </p:txBody>
        </p:sp>
        <p:sp>
          <p:nvSpPr>
            <p:cNvPr id="21" name="TextBox 21"/>
            <p:cNvSpPr txBox="1"/>
            <p:nvPr/>
          </p:nvSpPr>
          <p:spPr>
            <a:xfrm>
              <a:off x="558165" y="4268152"/>
              <a:ext cx="1403392"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a:ea typeface="Microsoft YaHei"/>
                  <a:cs typeface="Arial"/>
                </a:rPr>
                <a:t>各车间主要可燃物:</a:t>
              </a:r>
            </a:p>
          </p:txBody>
        </p:sp>
        <p:grpSp>
          <p:nvGrpSpPr>
            <p:cNvPr id="25" name="Group 25"/>
            <p:cNvGrpSpPr/>
            <p:nvPr/>
          </p:nvGrpSpPr>
          <p:grpSpPr>
            <a:xfrm>
              <a:off x="571500" y="4524375"/>
              <a:ext cx="3619500" cy="571500"/>
              <a:chOff x="571500" y="4524375"/>
              <a:chExt cx="3619500" cy="571500"/>
            </a:xfrm>
          </p:grpSpPr>
          <p:sp>
            <p:nvSpPr>
              <p:cNvPr id="22" name="Freeform 22"/>
              <p:cNvSpPr/>
              <p:nvPr/>
            </p:nvSpPr>
            <p:spPr>
              <a:xfrm>
                <a:off x="571500" y="4524375"/>
                <a:ext cx="3619500" cy="571500"/>
              </a:xfrm>
              <a:custGeom>
                <a:avLst/>
                <a:gdLst/>
                <a:ahLst/>
                <a:cxnLst/>
                <a:rect l="l" t="t" r="r" b="b"/>
                <a:pathLst>
                  <a:path w="3619500" h="571500">
                    <a:moveTo>
                      <a:pt x="57150" y="0"/>
                    </a:moveTo>
                    <a:lnTo>
                      <a:pt x="3562350" y="0"/>
                    </a:lnTo>
                    <a:cubicBezTo>
                      <a:pt x="3593913" y="0"/>
                      <a:pt x="3619500" y="25587"/>
                      <a:pt x="3619500" y="57150"/>
                    </a:cubicBezTo>
                    <a:lnTo>
                      <a:pt x="3619500" y="514350"/>
                    </a:lnTo>
                    <a:cubicBezTo>
                      <a:pt x="3619500" y="545913"/>
                      <a:pt x="3593913" y="571500"/>
                      <a:pt x="3562350" y="571500"/>
                    </a:cubicBezTo>
                    <a:lnTo>
                      <a:pt x="57150" y="571500"/>
                    </a:lnTo>
                    <a:cubicBezTo>
                      <a:pt x="25587" y="571500"/>
                      <a:pt x="0" y="545913"/>
                      <a:pt x="0" y="514350"/>
                    </a:cubicBezTo>
                    <a:lnTo>
                      <a:pt x="0" y="57150"/>
                    </a:lnTo>
                    <a:cubicBezTo>
                      <a:pt x="0" y="25587"/>
                      <a:pt x="25587" y="0"/>
                      <a:pt x="57150" y="0"/>
                    </a:cubicBezTo>
                    <a:close/>
                  </a:path>
                </a:pathLst>
              </a:custGeom>
              <a:solidFill>
                <a:srgbClr val="F0FDF4"/>
              </a:solidFill>
              <a:ln w="9525">
                <a:solidFill>
                  <a:srgbClr val="16A34A"/>
                </a:solidFill>
              </a:ln>
            </p:spPr>
          </p:sp>
          <p:sp>
            <p:nvSpPr>
              <p:cNvPr id="23" name="TextBox 23"/>
              <p:cNvSpPr txBox="1"/>
              <p:nvPr/>
            </p:nvSpPr>
            <p:spPr>
              <a:xfrm>
                <a:off x="702945" y="4636770"/>
                <a:ext cx="574929" cy="182880"/>
              </a:xfrm>
              <a:prstGeom prst="rect">
                <a:avLst/>
              </a:prstGeom>
              <a:noFill/>
              <a:ln>
                <a:noFill/>
              </a:ln>
            </p:spPr>
            <p:txBody>
              <a:bodyPr wrap="none" lIns="0" tIns="0" rIns="0" bIns="0" anchor="t" anchorCtr="0">
                <a:spAutoFit/>
              </a:bodyPr>
              <a:lstStyle/>
              <a:p>
                <a:pPr algn="l"/>
                <a:r>
                  <a:rPr lang="zh-CN" sz="900" b="1" dirty="0">
                    <a:solidFill>
                      <a:srgbClr val="166534"/>
                    </a:solidFill>
                    <a:latin typeface="Arial"/>
                    <a:ea typeface="Microsoft YaHei"/>
                    <a:cs typeface="Arial"/>
                  </a:rPr>
                  <a:t>总装车间</a:t>
                </a:r>
              </a:p>
            </p:txBody>
          </p:sp>
          <p:sp>
            <p:nvSpPr>
              <p:cNvPr id="24" name="TextBox 24"/>
              <p:cNvSpPr txBox="1"/>
              <p:nvPr/>
            </p:nvSpPr>
            <p:spPr>
              <a:xfrm>
                <a:off x="703898" y="4835366"/>
                <a:ext cx="2744057"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木托盘(8)、纸箱(6)、工业油桶(4)、橡胶零件(4)</a:t>
                </a:r>
              </a:p>
            </p:txBody>
          </p:sp>
        </p:grpSp>
        <p:grpSp>
          <p:nvGrpSpPr>
            <p:cNvPr id="29" name="Group 29"/>
            <p:cNvGrpSpPr/>
            <p:nvPr/>
          </p:nvGrpSpPr>
          <p:grpSpPr>
            <a:xfrm>
              <a:off x="571500" y="5191125"/>
              <a:ext cx="3798213" cy="571500"/>
              <a:chOff x="571500" y="5191125"/>
              <a:chExt cx="3798213" cy="571500"/>
            </a:xfrm>
          </p:grpSpPr>
          <p:sp>
            <p:nvSpPr>
              <p:cNvPr id="26" name="Freeform 26"/>
              <p:cNvSpPr/>
              <p:nvPr/>
            </p:nvSpPr>
            <p:spPr>
              <a:xfrm>
                <a:off x="571500" y="5191125"/>
                <a:ext cx="3619500" cy="571500"/>
              </a:xfrm>
              <a:custGeom>
                <a:avLst/>
                <a:gdLst/>
                <a:ahLst/>
                <a:cxnLst/>
                <a:rect l="l" t="t" r="r" b="b"/>
                <a:pathLst>
                  <a:path w="3619500" h="571500">
                    <a:moveTo>
                      <a:pt x="57150" y="0"/>
                    </a:moveTo>
                    <a:lnTo>
                      <a:pt x="3562350" y="0"/>
                    </a:lnTo>
                    <a:cubicBezTo>
                      <a:pt x="3593913" y="0"/>
                      <a:pt x="3619500" y="25587"/>
                      <a:pt x="3619500" y="57150"/>
                    </a:cubicBezTo>
                    <a:lnTo>
                      <a:pt x="3619500" y="514350"/>
                    </a:lnTo>
                    <a:cubicBezTo>
                      <a:pt x="3619500" y="545913"/>
                      <a:pt x="3593913" y="571500"/>
                      <a:pt x="3562350" y="571500"/>
                    </a:cubicBezTo>
                    <a:lnTo>
                      <a:pt x="57150" y="571500"/>
                    </a:lnTo>
                    <a:cubicBezTo>
                      <a:pt x="25587" y="571500"/>
                      <a:pt x="0" y="545913"/>
                      <a:pt x="0" y="514350"/>
                    </a:cubicBezTo>
                    <a:lnTo>
                      <a:pt x="0" y="57150"/>
                    </a:lnTo>
                    <a:cubicBezTo>
                      <a:pt x="0" y="25587"/>
                      <a:pt x="25587" y="0"/>
                      <a:pt x="57150" y="0"/>
                    </a:cubicBezTo>
                    <a:close/>
                  </a:path>
                </a:pathLst>
              </a:custGeom>
              <a:solidFill>
                <a:srgbClr val="F0FDF4"/>
              </a:solidFill>
              <a:ln w="9525">
                <a:solidFill>
                  <a:srgbClr val="16A34A"/>
                </a:solidFill>
              </a:ln>
            </p:spPr>
          </p:sp>
          <p:sp>
            <p:nvSpPr>
              <p:cNvPr id="27" name="TextBox 27"/>
              <p:cNvSpPr txBox="1"/>
              <p:nvPr/>
            </p:nvSpPr>
            <p:spPr>
              <a:xfrm>
                <a:off x="702945" y="5303520"/>
                <a:ext cx="574929" cy="182880"/>
              </a:xfrm>
              <a:prstGeom prst="rect">
                <a:avLst/>
              </a:prstGeom>
              <a:noFill/>
              <a:ln>
                <a:noFill/>
              </a:ln>
            </p:spPr>
            <p:txBody>
              <a:bodyPr wrap="none" lIns="0" tIns="0" rIns="0" bIns="0" anchor="t" anchorCtr="0">
                <a:spAutoFit/>
              </a:bodyPr>
              <a:lstStyle/>
              <a:p>
                <a:pPr algn="l"/>
                <a:r>
                  <a:rPr lang="zh-CN" sz="900" b="1" dirty="0">
                    <a:solidFill>
                      <a:srgbClr val="166534"/>
                    </a:solidFill>
                    <a:latin typeface="Arial"/>
                    <a:ea typeface="Microsoft YaHei"/>
                    <a:cs typeface="Arial"/>
                  </a:rPr>
                  <a:t>部装车间</a:t>
                </a:r>
              </a:p>
            </p:txBody>
          </p:sp>
          <p:sp>
            <p:nvSpPr>
              <p:cNvPr id="28" name="TextBox 28"/>
              <p:cNvSpPr txBox="1"/>
              <p:nvPr/>
            </p:nvSpPr>
            <p:spPr>
              <a:xfrm>
                <a:off x="703898" y="5502116"/>
                <a:ext cx="3665815"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木托盘(8)、纸箱(5)、工业油桶(3)、电气塑料(3)、有机溶剂桶(2)</a:t>
                </a:r>
              </a:p>
            </p:txBody>
          </p:sp>
        </p:grpSp>
        <p:grpSp>
          <p:nvGrpSpPr>
            <p:cNvPr id="33" name="Group 33"/>
            <p:cNvGrpSpPr/>
            <p:nvPr/>
          </p:nvGrpSpPr>
          <p:grpSpPr>
            <a:xfrm>
              <a:off x="571500" y="5857875"/>
              <a:ext cx="3619500" cy="571500"/>
              <a:chOff x="571500" y="5857875"/>
              <a:chExt cx="3619500" cy="571500"/>
            </a:xfrm>
          </p:grpSpPr>
          <p:sp>
            <p:nvSpPr>
              <p:cNvPr id="30" name="Freeform 30"/>
              <p:cNvSpPr/>
              <p:nvPr/>
            </p:nvSpPr>
            <p:spPr>
              <a:xfrm>
                <a:off x="571500" y="5857875"/>
                <a:ext cx="3619500" cy="571500"/>
              </a:xfrm>
              <a:custGeom>
                <a:avLst/>
                <a:gdLst/>
                <a:ahLst/>
                <a:cxnLst/>
                <a:rect l="l" t="t" r="r" b="b"/>
                <a:pathLst>
                  <a:path w="3619500" h="571500">
                    <a:moveTo>
                      <a:pt x="57150" y="0"/>
                    </a:moveTo>
                    <a:lnTo>
                      <a:pt x="3562350" y="0"/>
                    </a:lnTo>
                    <a:cubicBezTo>
                      <a:pt x="3593913" y="0"/>
                      <a:pt x="3619500" y="25587"/>
                      <a:pt x="3619500" y="57150"/>
                    </a:cubicBezTo>
                    <a:lnTo>
                      <a:pt x="3619500" y="514350"/>
                    </a:lnTo>
                    <a:cubicBezTo>
                      <a:pt x="3619500" y="545913"/>
                      <a:pt x="3593913" y="571500"/>
                      <a:pt x="3562350" y="571500"/>
                    </a:cubicBezTo>
                    <a:lnTo>
                      <a:pt x="57150" y="571500"/>
                    </a:lnTo>
                    <a:cubicBezTo>
                      <a:pt x="25587" y="571500"/>
                      <a:pt x="0" y="545913"/>
                      <a:pt x="0" y="514350"/>
                    </a:cubicBezTo>
                    <a:lnTo>
                      <a:pt x="0" y="57150"/>
                    </a:lnTo>
                    <a:cubicBezTo>
                      <a:pt x="0" y="25587"/>
                      <a:pt x="25587" y="0"/>
                      <a:pt x="57150" y="0"/>
                    </a:cubicBezTo>
                    <a:close/>
                  </a:path>
                </a:pathLst>
              </a:custGeom>
              <a:solidFill>
                <a:srgbClr val="F0FDF4"/>
              </a:solidFill>
              <a:ln w="9525">
                <a:solidFill>
                  <a:srgbClr val="16A34A"/>
                </a:solidFill>
              </a:ln>
            </p:spPr>
          </p:sp>
          <p:sp>
            <p:nvSpPr>
              <p:cNvPr id="31" name="TextBox 31"/>
              <p:cNvSpPr txBox="1"/>
              <p:nvPr/>
            </p:nvSpPr>
            <p:spPr>
              <a:xfrm>
                <a:off x="702945" y="5970270"/>
                <a:ext cx="850964" cy="182880"/>
              </a:xfrm>
              <a:prstGeom prst="rect">
                <a:avLst/>
              </a:prstGeom>
              <a:noFill/>
              <a:ln>
                <a:noFill/>
              </a:ln>
            </p:spPr>
            <p:txBody>
              <a:bodyPr wrap="none" lIns="0" tIns="0" rIns="0" bIns="0" anchor="t" anchorCtr="0">
                <a:spAutoFit/>
              </a:bodyPr>
              <a:lstStyle/>
              <a:p>
                <a:pPr algn="l"/>
                <a:r>
                  <a:rPr lang="zh-CN" sz="900" b="1" dirty="0">
                    <a:solidFill>
                      <a:srgbClr val="166534"/>
                    </a:solidFill>
                    <a:latin typeface="Arial"/>
                    <a:ea typeface="Microsoft YaHei"/>
                    <a:cs typeface="Arial"/>
                  </a:rPr>
                  <a:t>机械加工车间</a:t>
                </a:r>
              </a:p>
            </p:txBody>
          </p:sp>
          <p:sp>
            <p:nvSpPr>
              <p:cNvPr id="32" name="TextBox 32"/>
              <p:cNvSpPr txBox="1"/>
              <p:nvPr/>
            </p:nvSpPr>
            <p:spPr>
              <a:xfrm>
                <a:off x="703898" y="6168866"/>
                <a:ext cx="3467005"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木托盘(5)、工业油桶(4)、金属粉尘收集器(4)、有机溶剂桶(3)</a:t>
                </a:r>
              </a:p>
            </p:txBody>
          </p:sp>
        </p:grpSp>
      </p:grpSp>
      <p:grpSp>
        <p:nvGrpSpPr>
          <p:cNvPr id="73" name="Group 73"/>
          <p:cNvGrpSpPr/>
          <p:nvPr/>
        </p:nvGrpSpPr>
        <p:grpSpPr>
          <a:xfrm>
            <a:off x="4366260" y="870585"/>
            <a:ext cx="8547735" cy="4511040"/>
            <a:chOff x="4366260" y="870585"/>
            <a:chExt cx="8547735" cy="4511040"/>
          </a:xfrm>
        </p:grpSpPr>
        <p:sp>
          <p:nvSpPr>
            <p:cNvPr id="35" name="TextBox 35"/>
            <p:cNvSpPr txBox="1"/>
            <p:nvPr/>
          </p:nvSpPr>
          <p:spPr>
            <a:xfrm>
              <a:off x="4366260" y="870585"/>
              <a:ext cx="1318641" cy="243840"/>
            </a:xfrm>
            <a:prstGeom prst="rect">
              <a:avLst/>
            </a:prstGeom>
            <a:noFill/>
            <a:ln>
              <a:noFill/>
            </a:ln>
          </p:spPr>
          <p:txBody>
            <a:bodyPr wrap="none" lIns="0" tIns="0" rIns="0" bIns="0" anchor="t" anchorCtr="0">
              <a:spAutoFit/>
            </a:bodyPr>
            <a:lstStyle/>
            <a:p>
              <a:pPr algn="l"/>
              <a:r>
                <a:rPr lang="zh-CN" sz="1200" b="1" dirty="0">
                  <a:solidFill>
                    <a:srgbClr val="15803D"/>
                  </a:solidFill>
                  <a:latin typeface="Arial"/>
                  <a:ea typeface="Microsoft YaHei"/>
                  <a:cs typeface="Arial"/>
                </a:rPr>
                <a:t>子目标建筑参数</a:t>
              </a:r>
            </a:p>
          </p:txBody>
        </p:sp>
        <p:sp>
          <p:nvSpPr>
            <p:cNvPr id="36" name="Freeform 36"/>
            <p:cNvSpPr/>
            <p:nvPr/>
          </p:nvSpPr>
          <p:spPr>
            <a:xfrm>
              <a:off x="4381500" y="1143000"/>
              <a:ext cx="7239000" cy="342900"/>
            </a:xfrm>
            <a:custGeom>
              <a:avLst/>
              <a:gdLst/>
              <a:ahLst/>
              <a:cxnLst/>
              <a:rect l="l" t="t" r="r" b="b"/>
              <a:pathLst>
                <a:path w="7239000" h="342900">
                  <a:moveTo>
                    <a:pt x="38100" y="0"/>
                  </a:moveTo>
                  <a:lnTo>
                    <a:pt x="7200900" y="0"/>
                  </a:lnTo>
                  <a:cubicBezTo>
                    <a:pt x="7221942" y="0"/>
                    <a:pt x="7239000" y="17058"/>
                    <a:pt x="7239000" y="38100"/>
                  </a:cubicBezTo>
                  <a:lnTo>
                    <a:pt x="7239000" y="304800"/>
                  </a:lnTo>
                  <a:cubicBezTo>
                    <a:pt x="7239000" y="325842"/>
                    <a:pt x="7221942" y="342900"/>
                    <a:pt x="7200900" y="342900"/>
                  </a:cubicBezTo>
                  <a:lnTo>
                    <a:pt x="38100" y="342900"/>
                  </a:lnTo>
                  <a:cubicBezTo>
                    <a:pt x="17058" y="342900"/>
                    <a:pt x="0" y="325842"/>
                    <a:pt x="0" y="304800"/>
                  </a:cubicBezTo>
                  <a:lnTo>
                    <a:pt x="0" y="38100"/>
                  </a:lnTo>
                  <a:cubicBezTo>
                    <a:pt x="0" y="17058"/>
                    <a:pt x="17058" y="0"/>
                    <a:pt x="38100" y="0"/>
                  </a:cubicBezTo>
                  <a:close/>
                </a:path>
              </a:pathLst>
            </a:custGeom>
            <a:solidFill>
              <a:srgbClr val="15803D"/>
            </a:solidFill>
            <a:ln>
              <a:noFill/>
            </a:ln>
          </p:spPr>
        </p:sp>
        <p:sp>
          <p:nvSpPr>
            <p:cNvPr id="37" name="TextBox 37"/>
            <p:cNvSpPr txBox="1"/>
            <p:nvPr/>
          </p:nvSpPr>
          <p:spPr>
            <a:xfrm>
              <a:off x="4511992" y="1247299"/>
              <a:ext cx="77235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子目标建筑</a:t>
              </a:r>
            </a:p>
          </p:txBody>
        </p:sp>
        <p:sp>
          <p:nvSpPr>
            <p:cNvPr id="38" name="TextBox 38"/>
            <p:cNvSpPr txBox="1"/>
            <p:nvPr/>
          </p:nvSpPr>
          <p:spPr>
            <a:xfrm>
              <a:off x="6655118" y="1247299"/>
              <a:ext cx="45089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长(m)</a:t>
              </a:r>
            </a:p>
          </p:txBody>
        </p:sp>
        <p:sp>
          <p:nvSpPr>
            <p:cNvPr id="39" name="TextBox 39"/>
            <p:cNvSpPr txBox="1"/>
            <p:nvPr/>
          </p:nvSpPr>
          <p:spPr>
            <a:xfrm>
              <a:off x="7417118" y="1247299"/>
              <a:ext cx="45089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宽(m)</a:t>
              </a:r>
            </a:p>
          </p:txBody>
        </p:sp>
        <p:sp>
          <p:nvSpPr>
            <p:cNvPr id="40" name="TextBox 40"/>
            <p:cNvSpPr txBox="1"/>
            <p:nvPr/>
          </p:nvSpPr>
          <p:spPr>
            <a:xfrm>
              <a:off x="8179118" y="1247299"/>
              <a:ext cx="45089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高(m)</a:t>
              </a:r>
            </a:p>
          </p:txBody>
        </p:sp>
        <p:sp>
          <p:nvSpPr>
            <p:cNvPr id="41" name="TextBox 41"/>
            <p:cNvSpPr txBox="1"/>
            <p:nvPr/>
          </p:nvSpPr>
          <p:spPr>
            <a:xfrm>
              <a:off x="8941118" y="1247299"/>
              <a:ext cx="32380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楼层</a:t>
              </a:r>
            </a:p>
          </p:txBody>
        </p:sp>
        <p:sp>
          <p:nvSpPr>
            <p:cNvPr id="42" name="TextBox 42"/>
            <p:cNvSpPr txBox="1"/>
            <p:nvPr/>
          </p:nvSpPr>
          <p:spPr>
            <a:xfrm>
              <a:off x="9703118" y="1247299"/>
              <a:ext cx="473321"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门数量</a:t>
              </a:r>
            </a:p>
          </p:txBody>
        </p:sp>
        <p:sp>
          <p:nvSpPr>
            <p:cNvPr id="43" name="TextBox 43"/>
            <p:cNvSpPr txBox="1"/>
            <p:nvPr/>
          </p:nvSpPr>
          <p:spPr>
            <a:xfrm>
              <a:off x="10655618" y="1247299"/>
              <a:ext cx="77235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主要可燃物</a:t>
              </a:r>
            </a:p>
          </p:txBody>
        </p:sp>
        <p:sp>
          <p:nvSpPr>
            <p:cNvPr id="44" name="Rectangle 44"/>
            <p:cNvSpPr/>
            <p:nvPr/>
          </p:nvSpPr>
          <p:spPr>
            <a:xfrm>
              <a:off x="4381500" y="1485900"/>
              <a:ext cx="7239000" cy="571500"/>
            </a:xfrm>
            <a:prstGeom prst="rect">
              <a:avLst/>
            </a:prstGeom>
            <a:solidFill>
              <a:srgbClr val="F8FAFC"/>
            </a:solidFill>
            <a:ln>
              <a:noFill/>
            </a:ln>
          </p:spPr>
        </p:sp>
        <p:sp>
          <p:nvSpPr>
            <p:cNvPr id="45" name="TextBox 45"/>
            <p:cNvSpPr txBox="1"/>
            <p:nvPr/>
          </p:nvSpPr>
          <p:spPr>
            <a:xfrm>
              <a:off x="4511992" y="1590199"/>
              <a:ext cx="622840" cy="198120"/>
            </a:xfrm>
            <a:prstGeom prst="rect">
              <a:avLst/>
            </a:prstGeom>
            <a:noFill/>
            <a:ln>
              <a:noFill/>
            </a:ln>
          </p:spPr>
          <p:txBody>
            <a:bodyPr wrap="none" lIns="0" tIns="0" rIns="0" bIns="0" anchor="t" anchorCtr="0">
              <a:spAutoFit/>
            </a:bodyPr>
            <a:lstStyle/>
            <a:p>
              <a:pPr algn="l"/>
              <a:r>
                <a:rPr lang="zh-CN" sz="975" b="1" dirty="0">
                  <a:solidFill>
                    <a:srgbClr val="1A1A2E"/>
                  </a:solidFill>
                  <a:latin typeface="Arial"/>
                  <a:ea typeface="Microsoft YaHei"/>
                  <a:cs typeface="Arial"/>
                </a:rPr>
                <a:t>总装车间</a:t>
              </a:r>
            </a:p>
          </p:txBody>
        </p:sp>
        <p:sp>
          <p:nvSpPr>
            <p:cNvPr id="46" name="TextBox 46"/>
            <p:cNvSpPr txBox="1"/>
            <p:nvPr/>
          </p:nvSpPr>
          <p:spPr>
            <a:xfrm>
              <a:off x="6655118" y="1590199"/>
              <a:ext cx="38076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157.5</a:t>
              </a:r>
            </a:p>
          </p:txBody>
        </p:sp>
        <p:sp>
          <p:nvSpPr>
            <p:cNvPr id="47" name="TextBox 47"/>
            <p:cNvSpPr txBox="1"/>
            <p:nvPr/>
          </p:nvSpPr>
          <p:spPr>
            <a:xfrm>
              <a:off x="7417118" y="1590199"/>
              <a:ext cx="33804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86.0</a:t>
              </a:r>
            </a:p>
          </p:txBody>
        </p:sp>
        <p:sp>
          <p:nvSpPr>
            <p:cNvPr id="48" name="TextBox 48"/>
            <p:cNvSpPr txBox="1"/>
            <p:nvPr/>
          </p:nvSpPr>
          <p:spPr>
            <a:xfrm>
              <a:off x="8179118" y="1590199"/>
              <a:ext cx="25972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8.0</a:t>
              </a:r>
            </a:p>
          </p:txBody>
        </p:sp>
        <p:sp>
          <p:nvSpPr>
            <p:cNvPr id="49" name="TextBox 49"/>
            <p:cNvSpPr txBox="1"/>
            <p:nvPr/>
          </p:nvSpPr>
          <p:spPr>
            <a:xfrm>
              <a:off x="8941118" y="1590199"/>
              <a:ext cx="6748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1</a:t>
              </a:r>
            </a:p>
          </p:txBody>
        </p:sp>
        <p:sp>
          <p:nvSpPr>
            <p:cNvPr id="50" name="TextBox 50"/>
            <p:cNvSpPr txBox="1"/>
            <p:nvPr/>
          </p:nvSpPr>
          <p:spPr>
            <a:xfrm>
              <a:off x="9703118" y="1590199"/>
              <a:ext cx="10308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5</a:t>
              </a:r>
            </a:p>
          </p:txBody>
        </p:sp>
        <p:sp>
          <p:nvSpPr>
            <p:cNvPr id="51" name="TextBox 51"/>
            <p:cNvSpPr txBox="1"/>
            <p:nvPr/>
          </p:nvSpPr>
          <p:spPr>
            <a:xfrm>
              <a:off x="10656570" y="1598295"/>
              <a:ext cx="173164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工业油桶、涂料桶、橡胶零件</a:t>
              </a:r>
            </a:p>
          </p:txBody>
        </p:sp>
        <p:sp>
          <p:nvSpPr>
            <p:cNvPr id="52" name="TextBox 52"/>
            <p:cNvSpPr txBox="1"/>
            <p:nvPr/>
          </p:nvSpPr>
          <p:spPr>
            <a:xfrm>
              <a:off x="4513898" y="1844516"/>
              <a:ext cx="2653689"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规模最大 · 门数量5个 · 停放卡车等大型交通工具</a:t>
              </a:r>
            </a:p>
          </p:txBody>
        </p:sp>
        <p:sp>
          <p:nvSpPr>
            <p:cNvPr id="53" name="Rectangle 53"/>
            <p:cNvSpPr/>
            <p:nvPr/>
          </p:nvSpPr>
          <p:spPr>
            <a:xfrm>
              <a:off x="4381500" y="2105025"/>
              <a:ext cx="7239000" cy="571500"/>
            </a:xfrm>
            <a:prstGeom prst="rect">
              <a:avLst/>
            </a:prstGeom>
            <a:solidFill>
              <a:srgbClr val="FFFFFF"/>
            </a:solidFill>
            <a:ln>
              <a:noFill/>
            </a:ln>
          </p:spPr>
        </p:sp>
        <p:sp>
          <p:nvSpPr>
            <p:cNvPr id="54" name="TextBox 54"/>
            <p:cNvSpPr txBox="1"/>
            <p:nvPr/>
          </p:nvSpPr>
          <p:spPr>
            <a:xfrm>
              <a:off x="4511992" y="2209324"/>
              <a:ext cx="622840" cy="198120"/>
            </a:xfrm>
            <a:prstGeom prst="rect">
              <a:avLst/>
            </a:prstGeom>
            <a:noFill/>
            <a:ln>
              <a:noFill/>
            </a:ln>
          </p:spPr>
          <p:txBody>
            <a:bodyPr wrap="none" lIns="0" tIns="0" rIns="0" bIns="0" anchor="t" anchorCtr="0">
              <a:spAutoFit/>
            </a:bodyPr>
            <a:lstStyle/>
            <a:p>
              <a:pPr algn="l"/>
              <a:r>
                <a:rPr lang="zh-CN" sz="975" b="1" dirty="0">
                  <a:solidFill>
                    <a:srgbClr val="1A1A2E"/>
                  </a:solidFill>
                  <a:latin typeface="Arial"/>
                  <a:ea typeface="Microsoft YaHei"/>
                  <a:cs typeface="Arial"/>
                </a:rPr>
                <a:t>部装车间</a:t>
              </a:r>
            </a:p>
          </p:txBody>
        </p:sp>
        <p:sp>
          <p:nvSpPr>
            <p:cNvPr id="55" name="TextBox 55"/>
            <p:cNvSpPr txBox="1"/>
            <p:nvPr/>
          </p:nvSpPr>
          <p:spPr>
            <a:xfrm>
              <a:off x="6655118" y="2209324"/>
              <a:ext cx="38076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130.0</a:t>
              </a:r>
            </a:p>
          </p:txBody>
        </p:sp>
        <p:sp>
          <p:nvSpPr>
            <p:cNvPr id="56" name="TextBox 56"/>
            <p:cNvSpPr txBox="1"/>
            <p:nvPr/>
          </p:nvSpPr>
          <p:spPr>
            <a:xfrm>
              <a:off x="7417118" y="2209324"/>
              <a:ext cx="33804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70.0</a:t>
              </a:r>
            </a:p>
          </p:txBody>
        </p:sp>
        <p:sp>
          <p:nvSpPr>
            <p:cNvPr id="57" name="TextBox 57"/>
            <p:cNvSpPr txBox="1"/>
            <p:nvPr/>
          </p:nvSpPr>
          <p:spPr>
            <a:xfrm>
              <a:off x="8179118" y="2209324"/>
              <a:ext cx="25972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7.0</a:t>
              </a:r>
            </a:p>
          </p:txBody>
        </p:sp>
        <p:sp>
          <p:nvSpPr>
            <p:cNvPr id="58" name="TextBox 58"/>
            <p:cNvSpPr txBox="1"/>
            <p:nvPr/>
          </p:nvSpPr>
          <p:spPr>
            <a:xfrm>
              <a:off x="8941118" y="2209324"/>
              <a:ext cx="6748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1</a:t>
              </a:r>
            </a:p>
          </p:txBody>
        </p:sp>
        <p:sp>
          <p:nvSpPr>
            <p:cNvPr id="59" name="TextBox 59"/>
            <p:cNvSpPr txBox="1"/>
            <p:nvPr/>
          </p:nvSpPr>
          <p:spPr>
            <a:xfrm>
              <a:off x="9703118" y="2209324"/>
              <a:ext cx="10308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4</a:t>
              </a:r>
            </a:p>
          </p:txBody>
        </p:sp>
        <p:sp>
          <p:nvSpPr>
            <p:cNvPr id="60" name="TextBox 60"/>
            <p:cNvSpPr txBox="1"/>
            <p:nvPr/>
          </p:nvSpPr>
          <p:spPr>
            <a:xfrm>
              <a:off x="10656570" y="2217420"/>
              <a:ext cx="160020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有机溶剂桶、可燃气体钢瓶</a:t>
              </a:r>
            </a:p>
          </p:txBody>
        </p:sp>
        <p:sp>
          <p:nvSpPr>
            <p:cNvPr id="61" name="TextBox 61"/>
            <p:cNvSpPr txBox="1"/>
            <p:nvPr/>
          </p:nvSpPr>
          <p:spPr>
            <a:xfrm>
              <a:off x="4513898" y="2463641"/>
              <a:ext cx="2581394"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门数量4个 · 可燃气体和有机溶剂高挥发/易燃性</a:t>
              </a:r>
            </a:p>
          </p:txBody>
        </p:sp>
        <p:sp>
          <p:nvSpPr>
            <p:cNvPr id="62" name="Rectangle 62"/>
            <p:cNvSpPr/>
            <p:nvPr/>
          </p:nvSpPr>
          <p:spPr>
            <a:xfrm>
              <a:off x="4381500" y="2724150"/>
              <a:ext cx="7239000" cy="571500"/>
            </a:xfrm>
            <a:prstGeom prst="rect">
              <a:avLst/>
            </a:prstGeom>
            <a:solidFill>
              <a:srgbClr val="F8FAFC"/>
            </a:solidFill>
            <a:ln>
              <a:noFill/>
            </a:ln>
          </p:spPr>
        </p:sp>
        <p:sp>
          <p:nvSpPr>
            <p:cNvPr id="63" name="TextBox 63"/>
            <p:cNvSpPr txBox="1"/>
            <p:nvPr/>
          </p:nvSpPr>
          <p:spPr>
            <a:xfrm>
              <a:off x="4511992" y="2828449"/>
              <a:ext cx="921877" cy="198120"/>
            </a:xfrm>
            <a:prstGeom prst="rect">
              <a:avLst/>
            </a:prstGeom>
            <a:noFill/>
            <a:ln>
              <a:noFill/>
            </a:ln>
          </p:spPr>
          <p:txBody>
            <a:bodyPr wrap="none" lIns="0" tIns="0" rIns="0" bIns="0" anchor="t" anchorCtr="0">
              <a:spAutoFit/>
            </a:bodyPr>
            <a:lstStyle/>
            <a:p>
              <a:pPr algn="l"/>
              <a:r>
                <a:rPr lang="zh-CN" sz="975" b="1" dirty="0">
                  <a:solidFill>
                    <a:srgbClr val="1A1A2E"/>
                  </a:solidFill>
                  <a:latin typeface="Arial"/>
                  <a:ea typeface="Microsoft YaHei"/>
                  <a:cs typeface="Arial"/>
                </a:rPr>
                <a:t>机械加工车间</a:t>
              </a:r>
            </a:p>
          </p:txBody>
        </p:sp>
        <p:sp>
          <p:nvSpPr>
            <p:cNvPr id="64" name="TextBox 64"/>
            <p:cNvSpPr txBox="1"/>
            <p:nvPr/>
          </p:nvSpPr>
          <p:spPr>
            <a:xfrm>
              <a:off x="6655118" y="2828449"/>
              <a:ext cx="38076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135.0</a:t>
              </a:r>
            </a:p>
          </p:txBody>
        </p:sp>
        <p:sp>
          <p:nvSpPr>
            <p:cNvPr id="65" name="TextBox 65"/>
            <p:cNvSpPr txBox="1"/>
            <p:nvPr/>
          </p:nvSpPr>
          <p:spPr>
            <a:xfrm>
              <a:off x="7417118" y="2828449"/>
              <a:ext cx="33804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70.0</a:t>
              </a:r>
            </a:p>
          </p:txBody>
        </p:sp>
        <p:sp>
          <p:nvSpPr>
            <p:cNvPr id="66" name="TextBox 66"/>
            <p:cNvSpPr txBox="1"/>
            <p:nvPr/>
          </p:nvSpPr>
          <p:spPr>
            <a:xfrm>
              <a:off x="8179118" y="2828449"/>
              <a:ext cx="25972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7.0</a:t>
              </a:r>
            </a:p>
          </p:txBody>
        </p:sp>
        <p:sp>
          <p:nvSpPr>
            <p:cNvPr id="67" name="TextBox 67"/>
            <p:cNvSpPr txBox="1"/>
            <p:nvPr/>
          </p:nvSpPr>
          <p:spPr>
            <a:xfrm>
              <a:off x="8941118" y="2828449"/>
              <a:ext cx="6748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1</a:t>
              </a:r>
            </a:p>
          </p:txBody>
        </p:sp>
        <p:sp>
          <p:nvSpPr>
            <p:cNvPr id="68" name="TextBox 68"/>
            <p:cNvSpPr txBox="1"/>
            <p:nvPr/>
          </p:nvSpPr>
          <p:spPr>
            <a:xfrm>
              <a:off x="9703118" y="2828449"/>
              <a:ext cx="10308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5</a:t>
              </a:r>
            </a:p>
          </p:txBody>
        </p:sp>
        <p:sp>
          <p:nvSpPr>
            <p:cNvPr id="69" name="TextBox 69"/>
            <p:cNvSpPr txBox="1"/>
            <p:nvPr/>
          </p:nvSpPr>
          <p:spPr>
            <a:xfrm>
              <a:off x="10656570" y="2836545"/>
              <a:ext cx="225742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工业油品、有机溶剂、金属粉尘收集器</a:t>
              </a:r>
            </a:p>
          </p:txBody>
        </p:sp>
        <p:sp>
          <p:nvSpPr>
            <p:cNvPr id="70" name="TextBox 70"/>
            <p:cNvSpPr txBox="1"/>
            <p:nvPr/>
          </p:nvSpPr>
          <p:spPr>
            <a:xfrm>
              <a:off x="4513898" y="3082766"/>
              <a:ext cx="3015163"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门数量5个 · 可燃物多样性最复杂 · 金属粉尘具爆炸风险</a:t>
              </a:r>
            </a:p>
          </p:txBody>
        </p:sp>
        <p:sp>
          <p:nvSpPr>
            <p:cNvPr id="71" name="TextBox 71"/>
            <p:cNvSpPr txBox="1"/>
            <p:nvPr/>
          </p:nvSpPr>
          <p:spPr>
            <a:xfrm>
              <a:off x="4369118" y="3466624"/>
              <a:ext cx="1099876"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各建筑尺寸分布:</a:t>
              </a:r>
            </a:p>
          </p:txBody>
        </p:sp>
        <p:pic>
          <p:nvPicPr>
            <p:cNvPr id="72" name="Image 72"/>
            <p:cNvPicPr>
              <a:picLocks noChangeAspect="1"/>
            </p:cNvPicPr>
            <p:nvPr/>
          </p:nvPicPr>
          <p:blipFill>
            <a:blip r:embed="rId2"/>
            <a:stretch>
              <a:fillRect/>
            </a:stretch>
          </p:blipFill>
          <p:spPr>
            <a:xfrm>
              <a:off x="6522720" y="3667125"/>
              <a:ext cx="2956560" cy="1714500"/>
            </a:xfrm>
            <a:prstGeom prst="rect">
              <a:avLst/>
            </a:prstGeom>
          </p:spPr>
        </p:pic>
      </p:grpSp>
      <p:sp>
        <p:nvSpPr>
          <p:cNvPr id="74" name="TextBox 74"/>
          <p:cNvSpPr txBox="1"/>
          <p:nvPr/>
        </p:nvSpPr>
        <p:spPr>
          <a:xfrm>
            <a:off x="560070" y="6570345"/>
            <a:ext cx="43034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08 / 16</a:t>
            </a:r>
          </a:p>
        </p:txBody>
      </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5803D"/>
          </a:solidFill>
          <a:ln>
            <a:noFill/>
          </a:ln>
        </p:spPr>
      </p:sp>
      <p:sp>
        <p:nvSpPr>
          <p:cNvPr id="4" name="TextBox 4"/>
          <p:cNvSpPr txBox="1"/>
          <p:nvPr/>
        </p:nvSpPr>
        <p:spPr>
          <a:xfrm>
            <a:off x="550545" y="183832"/>
            <a:ext cx="2053511"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2.2 模型性能对比</a:t>
            </a:r>
          </a:p>
        </p:txBody>
      </p:sp>
      <p:sp>
        <p:nvSpPr>
          <p:cNvPr id="5" name="TextBox 5"/>
          <p:cNvSpPr txBox="1"/>
          <p:nvPr/>
        </p:nvSpPr>
        <p:spPr>
          <a:xfrm>
            <a:off x="10687050" y="248602"/>
            <a:ext cx="946785" cy="213360"/>
          </a:xfrm>
          <a:prstGeom prst="rect">
            <a:avLst/>
          </a:prstGeom>
          <a:noFill/>
          <a:ln>
            <a:noFill/>
          </a:ln>
        </p:spPr>
        <p:txBody>
          <a:bodyPr wrap="none" lIns="0" tIns="0" rIns="0" bIns="0" anchor="t" anchorCtr="0">
            <a:spAutoFit/>
          </a:bodyPr>
          <a:lstStyle/>
          <a:p>
            <a:pPr algn="r"/>
            <a:r>
              <a:rPr lang="zh-CN" sz="1050" dirty="0">
                <a:solidFill>
                  <a:srgbClr val="86EFAC"/>
                </a:solidFill>
                <a:latin typeface="Arial"/>
                <a:ea typeface="Microsoft YaHei"/>
                <a:cs typeface="Arial"/>
              </a:rPr>
              <a:t>机械加工设施</a:t>
            </a:r>
          </a:p>
        </p:txBody>
      </p:sp>
      <p:grpSp>
        <p:nvGrpSpPr>
          <p:cNvPr id="47" name="Group 47"/>
          <p:cNvGrpSpPr/>
          <p:nvPr/>
        </p:nvGrpSpPr>
        <p:grpSpPr>
          <a:xfrm>
            <a:off x="558165" y="886778"/>
            <a:ext cx="2540366" cy="6161722"/>
            <a:chOff x="558165" y="886778"/>
            <a:chExt cx="2540366" cy="6161722"/>
          </a:xfrm>
        </p:grpSpPr>
        <p:sp>
          <p:nvSpPr>
            <p:cNvPr id="6" name="TextBox 6"/>
            <p:cNvSpPr txBox="1"/>
            <p:nvPr/>
          </p:nvSpPr>
          <p:spPr>
            <a:xfrm>
              <a:off x="558165" y="886778"/>
              <a:ext cx="1636871"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a:ea typeface="Microsoft YaHei"/>
                  <a:cs typeface="Arial"/>
                </a:rPr>
                <a:t>各模型整体测试集指标</a:t>
              </a:r>
            </a:p>
          </p:txBody>
        </p:sp>
        <p:grpSp>
          <p:nvGrpSpPr>
            <p:cNvPr id="11" name="Group 11"/>
            <p:cNvGrpSpPr/>
            <p:nvPr/>
          </p:nvGrpSpPr>
          <p:grpSpPr>
            <a:xfrm>
              <a:off x="571500" y="1190625"/>
              <a:ext cx="1081087" cy="809625"/>
              <a:chOff x="571500" y="1190625"/>
              <a:chExt cx="1081087" cy="809625"/>
            </a:xfrm>
          </p:grpSpPr>
          <p:sp>
            <p:nvSpPr>
              <p:cNvPr id="7" name="Freeform 7"/>
              <p:cNvSpPr/>
              <p:nvPr/>
            </p:nvSpPr>
            <p:spPr>
              <a:xfrm>
                <a:off x="571500" y="1190625"/>
                <a:ext cx="1047750" cy="809625"/>
              </a:xfrm>
              <a:custGeom>
                <a:avLst/>
                <a:gdLst/>
                <a:ahLst/>
                <a:cxnLst/>
                <a:rect l="l" t="t" r="r" b="b"/>
                <a:pathLst>
                  <a:path w="1047750" h="809625">
                    <a:moveTo>
                      <a:pt x="76200" y="0"/>
                    </a:moveTo>
                    <a:lnTo>
                      <a:pt x="971550" y="0"/>
                    </a:lnTo>
                    <a:cubicBezTo>
                      <a:pt x="1013634" y="0"/>
                      <a:pt x="1047750" y="34116"/>
                      <a:pt x="1047750" y="76200"/>
                    </a:cubicBezTo>
                    <a:lnTo>
                      <a:pt x="1047750" y="733425"/>
                    </a:lnTo>
                    <a:cubicBezTo>
                      <a:pt x="1047750" y="775509"/>
                      <a:pt x="1013634" y="809625"/>
                      <a:pt x="971550" y="809625"/>
                    </a:cubicBezTo>
                    <a:lnTo>
                      <a:pt x="76200" y="809625"/>
                    </a:lnTo>
                    <a:cubicBezTo>
                      <a:pt x="34116" y="809625"/>
                      <a:pt x="0" y="775509"/>
                      <a:pt x="0" y="733425"/>
                    </a:cubicBezTo>
                    <a:lnTo>
                      <a:pt x="0" y="76200"/>
                    </a:lnTo>
                    <a:cubicBezTo>
                      <a:pt x="0" y="34116"/>
                      <a:pt x="34116" y="0"/>
                      <a:pt x="76200" y="0"/>
                    </a:cubicBezTo>
                    <a:close/>
                  </a:path>
                </a:pathLst>
              </a:custGeom>
              <a:solidFill>
                <a:srgbClr val="D97706">
                  <a:alpha val="10000"/>
                </a:srgbClr>
              </a:solidFill>
              <a:ln w="14288">
                <a:solidFill>
                  <a:srgbClr val="D97706"/>
                </a:solidFill>
              </a:ln>
            </p:spPr>
          </p:sp>
          <p:sp>
            <p:nvSpPr>
              <p:cNvPr id="8" name="TextBox 8"/>
              <p:cNvSpPr txBox="1"/>
              <p:nvPr/>
            </p:nvSpPr>
            <p:spPr>
              <a:xfrm>
                <a:off x="714461" y="1268730"/>
                <a:ext cx="761829" cy="426720"/>
              </a:xfrm>
              <a:prstGeom prst="rect">
                <a:avLst/>
              </a:prstGeom>
              <a:noFill/>
              <a:ln>
                <a:noFill/>
              </a:ln>
            </p:spPr>
            <p:txBody>
              <a:bodyPr wrap="none" lIns="0" tIns="0" rIns="0" bIns="0" anchor="t" anchorCtr="0">
                <a:spAutoFit/>
              </a:bodyPr>
              <a:lstStyle/>
              <a:p>
                <a:pPr algn="ctr"/>
                <a:r>
                  <a:rPr lang="zh-CN" sz="2100" b="1" dirty="0">
                    <a:solidFill>
                      <a:srgbClr val="D97706"/>
                    </a:solidFill>
                    <a:latin typeface="Arial"/>
                    <a:ea typeface="Microsoft YaHei"/>
                    <a:cs typeface="Arial"/>
                  </a:rPr>
                  <a:t>76.9</a:t>
                </a:r>
              </a:p>
            </p:txBody>
          </p:sp>
          <p:sp>
            <p:nvSpPr>
              <p:cNvPr id="9" name="TextBox 9"/>
              <p:cNvSpPr txBox="1"/>
              <p:nvPr/>
            </p:nvSpPr>
            <p:spPr>
              <a:xfrm>
                <a:off x="962358" y="1617345"/>
                <a:ext cx="266033" cy="182880"/>
              </a:xfrm>
              <a:prstGeom prst="rect">
                <a:avLst/>
              </a:prstGeom>
              <a:noFill/>
              <a:ln>
                <a:noFill/>
              </a:ln>
            </p:spPr>
            <p:txBody>
              <a:bodyPr wrap="none" lIns="0" tIns="0" rIns="0" bIns="0" anchor="t" anchorCtr="0">
                <a:spAutoFit/>
              </a:bodyPr>
              <a:lstStyle/>
              <a:p>
                <a:pPr algn="ctr"/>
                <a:r>
                  <a:rPr lang="zh-CN" sz="900" dirty="0">
                    <a:solidFill>
                      <a:srgbClr val="D97706"/>
                    </a:solidFill>
                    <a:latin typeface="Arial"/>
                    <a:ea typeface="Microsoft YaHei"/>
                    <a:cs typeface="Arial"/>
                  </a:rPr>
                  <a:t>SVM</a:t>
                </a:r>
              </a:p>
            </p:txBody>
          </p:sp>
          <p:sp>
            <p:nvSpPr>
              <p:cNvPr id="10" name="TextBox 10"/>
              <p:cNvSpPr txBox="1"/>
              <p:nvPr/>
            </p:nvSpPr>
            <p:spPr>
              <a:xfrm>
                <a:off x="1085850" y="1795462"/>
                <a:ext cx="566737" cy="152400"/>
              </a:xfrm>
              <a:prstGeom prst="rect">
                <a:avLst/>
              </a:prstGeom>
              <a:noFill/>
              <a:ln>
                <a:noFill/>
              </a:ln>
            </p:spPr>
            <p:txBody>
              <a:bodyPr wrap="none" lIns="0" tIns="0" rIns="0" bIns="0" anchor="t" anchorCtr="0">
                <a:spAutoFit/>
              </a:bodyPr>
              <a:lstStyle/>
              <a:p>
                <a:pPr algn="l"/>
                <a:r>
                  <a:rPr lang="zh-CN" sz="750" dirty="0">
                    <a:solidFill>
                      <a:srgbClr val="92400E"/>
                    </a:solidFill>
                    <a:latin typeface="Arial"/>
                    <a:ea typeface="Microsoft YaHei"/>
                    <a:cs typeface="Arial"/>
                  </a:rPr>
                  <a:t>支持向量机</a:t>
                </a:r>
              </a:p>
            </p:txBody>
          </p:sp>
        </p:grpSp>
        <p:grpSp>
          <p:nvGrpSpPr>
            <p:cNvPr id="16" name="Group 16"/>
            <p:cNvGrpSpPr/>
            <p:nvPr/>
          </p:nvGrpSpPr>
          <p:grpSpPr>
            <a:xfrm>
              <a:off x="1762125" y="1190625"/>
              <a:ext cx="1047750" cy="809625"/>
              <a:chOff x="1762125" y="1190625"/>
              <a:chExt cx="1047750" cy="809625"/>
            </a:xfrm>
          </p:grpSpPr>
          <p:sp>
            <p:nvSpPr>
              <p:cNvPr id="12" name="Freeform 12"/>
              <p:cNvSpPr/>
              <p:nvPr/>
            </p:nvSpPr>
            <p:spPr>
              <a:xfrm>
                <a:off x="1762125" y="1190625"/>
                <a:ext cx="1047750" cy="809625"/>
              </a:xfrm>
              <a:custGeom>
                <a:avLst/>
                <a:gdLst/>
                <a:ahLst/>
                <a:cxnLst/>
                <a:rect l="l" t="t" r="r" b="b"/>
                <a:pathLst>
                  <a:path w="1047750" h="809625">
                    <a:moveTo>
                      <a:pt x="76200" y="0"/>
                    </a:moveTo>
                    <a:lnTo>
                      <a:pt x="971550" y="0"/>
                    </a:lnTo>
                    <a:cubicBezTo>
                      <a:pt x="1013634" y="0"/>
                      <a:pt x="1047750" y="34116"/>
                      <a:pt x="1047750" y="76200"/>
                    </a:cubicBezTo>
                    <a:lnTo>
                      <a:pt x="1047750" y="733425"/>
                    </a:lnTo>
                    <a:cubicBezTo>
                      <a:pt x="1047750" y="775509"/>
                      <a:pt x="1013634" y="809625"/>
                      <a:pt x="971550" y="809625"/>
                    </a:cubicBezTo>
                    <a:lnTo>
                      <a:pt x="76200" y="809625"/>
                    </a:lnTo>
                    <a:cubicBezTo>
                      <a:pt x="34116" y="809625"/>
                      <a:pt x="0" y="775509"/>
                      <a:pt x="0" y="733425"/>
                    </a:cubicBezTo>
                    <a:lnTo>
                      <a:pt x="0" y="76200"/>
                    </a:lnTo>
                    <a:cubicBezTo>
                      <a:pt x="0" y="34116"/>
                      <a:pt x="34116" y="0"/>
                      <a:pt x="76200" y="0"/>
                    </a:cubicBezTo>
                    <a:close/>
                  </a:path>
                </a:pathLst>
              </a:custGeom>
              <a:solidFill>
                <a:srgbClr val="16A34A">
                  <a:alpha val="10000"/>
                </a:srgbClr>
              </a:solidFill>
              <a:ln w="14288">
                <a:solidFill>
                  <a:srgbClr val="16A34A"/>
                </a:solidFill>
              </a:ln>
            </p:spPr>
          </p:sp>
          <p:sp>
            <p:nvSpPr>
              <p:cNvPr id="13" name="TextBox 13"/>
              <p:cNvSpPr txBox="1"/>
              <p:nvPr/>
            </p:nvSpPr>
            <p:spPr>
              <a:xfrm>
                <a:off x="1945341" y="1268730"/>
                <a:ext cx="681318" cy="426720"/>
              </a:xfrm>
              <a:prstGeom prst="rect">
                <a:avLst/>
              </a:prstGeom>
              <a:noFill/>
              <a:ln>
                <a:noFill/>
              </a:ln>
            </p:spPr>
            <p:txBody>
              <a:bodyPr wrap="none" lIns="0" tIns="0" rIns="0" bIns="0" anchor="t" anchorCtr="0">
                <a:spAutoFit/>
              </a:bodyPr>
              <a:lstStyle/>
              <a:p>
                <a:pPr algn="ctr"/>
                <a:r>
                  <a:rPr lang="zh-CN" sz="2100" b="1" dirty="0">
                    <a:solidFill>
                      <a:srgbClr val="16A34A"/>
                    </a:solidFill>
                    <a:latin typeface="Arial"/>
                    <a:ea typeface="Microsoft YaHei"/>
                    <a:cs typeface="Arial"/>
                  </a:rPr>
                  <a:t>98.1</a:t>
                </a:r>
              </a:p>
            </p:txBody>
          </p:sp>
          <p:sp>
            <p:nvSpPr>
              <p:cNvPr id="14" name="TextBox 14"/>
              <p:cNvSpPr txBox="1"/>
              <p:nvPr/>
            </p:nvSpPr>
            <p:spPr>
              <a:xfrm>
                <a:off x="2202275" y="1617345"/>
                <a:ext cx="167449" cy="182880"/>
              </a:xfrm>
              <a:prstGeom prst="rect">
                <a:avLst/>
              </a:prstGeom>
              <a:noFill/>
              <a:ln>
                <a:noFill/>
              </a:ln>
            </p:spPr>
            <p:txBody>
              <a:bodyPr wrap="none" lIns="0" tIns="0" rIns="0" bIns="0" anchor="t" anchorCtr="0">
                <a:spAutoFit/>
              </a:bodyPr>
              <a:lstStyle/>
              <a:p>
                <a:pPr algn="ctr"/>
                <a:r>
                  <a:rPr lang="zh-CN" sz="900" dirty="0">
                    <a:solidFill>
                      <a:srgbClr val="16A34A"/>
                    </a:solidFill>
                    <a:latin typeface="Arial"/>
                    <a:ea typeface="Microsoft YaHei"/>
                    <a:cs typeface="Arial"/>
                  </a:rPr>
                  <a:t>RF</a:t>
                </a:r>
              </a:p>
            </p:txBody>
          </p:sp>
          <p:sp>
            <p:nvSpPr>
              <p:cNvPr id="15" name="TextBox 15"/>
              <p:cNvSpPr txBox="1"/>
              <p:nvPr/>
            </p:nvSpPr>
            <p:spPr>
              <a:xfrm>
                <a:off x="2276475" y="1795462"/>
                <a:ext cx="457200" cy="152400"/>
              </a:xfrm>
              <a:prstGeom prst="rect">
                <a:avLst/>
              </a:prstGeom>
              <a:noFill/>
              <a:ln>
                <a:noFill/>
              </a:ln>
            </p:spPr>
            <p:txBody>
              <a:bodyPr wrap="none" lIns="0" tIns="0" rIns="0" bIns="0" anchor="t" anchorCtr="0">
                <a:spAutoFit/>
              </a:bodyPr>
              <a:lstStyle/>
              <a:p>
                <a:pPr algn="l"/>
                <a:r>
                  <a:rPr lang="zh-CN" sz="750" dirty="0">
                    <a:solidFill>
                      <a:srgbClr val="166534"/>
                    </a:solidFill>
                    <a:latin typeface="Arial"/>
                    <a:ea typeface="Microsoft YaHei"/>
                    <a:cs typeface="Arial"/>
                  </a:rPr>
                  <a:t>随机森林</a:t>
                </a:r>
              </a:p>
            </p:txBody>
          </p:sp>
        </p:grpSp>
        <p:grpSp>
          <p:nvGrpSpPr>
            <p:cNvPr id="21" name="Group 21"/>
            <p:cNvGrpSpPr/>
            <p:nvPr/>
          </p:nvGrpSpPr>
          <p:grpSpPr>
            <a:xfrm>
              <a:off x="571500" y="2143125"/>
              <a:ext cx="1081087" cy="809625"/>
              <a:chOff x="571500" y="2143125"/>
              <a:chExt cx="1081087" cy="809625"/>
            </a:xfrm>
          </p:grpSpPr>
          <p:sp>
            <p:nvSpPr>
              <p:cNvPr id="17" name="Freeform 17"/>
              <p:cNvSpPr/>
              <p:nvPr/>
            </p:nvSpPr>
            <p:spPr>
              <a:xfrm>
                <a:off x="571500" y="2143125"/>
                <a:ext cx="1047750" cy="809625"/>
              </a:xfrm>
              <a:custGeom>
                <a:avLst/>
                <a:gdLst/>
                <a:ahLst/>
                <a:cxnLst/>
                <a:rect l="l" t="t" r="r" b="b"/>
                <a:pathLst>
                  <a:path w="1047750" h="809625">
                    <a:moveTo>
                      <a:pt x="76200" y="0"/>
                    </a:moveTo>
                    <a:lnTo>
                      <a:pt x="971550" y="0"/>
                    </a:lnTo>
                    <a:cubicBezTo>
                      <a:pt x="1013634" y="0"/>
                      <a:pt x="1047750" y="34116"/>
                      <a:pt x="1047750" y="76200"/>
                    </a:cubicBezTo>
                    <a:lnTo>
                      <a:pt x="1047750" y="733425"/>
                    </a:lnTo>
                    <a:cubicBezTo>
                      <a:pt x="1047750" y="775509"/>
                      <a:pt x="1013634" y="809625"/>
                      <a:pt x="971550" y="809625"/>
                    </a:cubicBezTo>
                    <a:lnTo>
                      <a:pt x="76200" y="809625"/>
                    </a:lnTo>
                    <a:cubicBezTo>
                      <a:pt x="34116" y="809625"/>
                      <a:pt x="0" y="775509"/>
                      <a:pt x="0" y="733425"/>
                    </a:cubicBezTo>
                    <a:lnTo>
                      <a:pt x="0" y="76200"/>
                    </a:lnTo>
                    <a:cubicBezTo>
                      <a:pt x="0" y="34116"/>
                      <a:pt x="34116" y="0"/>
                      <a:pt x="76200" y="0"/>
                    </a:cubicBezTo>
                    <a:close/>
                  </a:path>
                </a:pathLst>
              </a:custGeom>
              <a:solidFill>
                <a:srgbClr val="2196F3">
                  <a:alpha val="10000"/>
                </a:srgbClr>
              </a:solidFill>
              <a:ln w="14288">
                <a:solidFill>
                  <a:srgbClr val="2196F3"/>
                </a:solidFill>
              </a:ln>
            </p:spPr>
          </p:sp>
          <p:sp>
            <p:nvSpPr>
              <p:cNvPr id="18" name="TextBox 18"/>
              <p:cNvSpPr txBox="1"/>
              <p:nvPr/>
            </p:nvSpPr>
            <p:spPr>
              <a:xfrm>
                <a:off x="714461" y="2221230"/>
                <a:ext cx="761829" cy="426720"/>
              </a:xfrm>
              <a:prstGeom prst="rect">
                <a:avLst/>
              </a:prstGeom>
              <a:noFill/>
              <a:ln>
                <a:noFill/>
              </a:ln>
            </p:spPr>
            <p:txBody>
              <a:bodyPr wrap="none" lIns="0" tIns="0" rIns="0" bIns="0" anchor="t" anchorCtr="0">
                <a:spAutoFit/>
              </a:bodyPr>
              <a:lstStyle/>
              <a:p>
                <a:pPr algn="ctr"/>
                <a:r>
                  <a:rPr lang="zh-CN" sz="2100" b="1" dirty="0">
                    <a:solidFill>
                      <a:srgbClr val="2196F3"/>
                    </a:solidFill>
                    <a:latin typeface="Arial"/>
                    <a:ea typeface="Microsoft YaHei"/>
                    <a:cs typeface="Arial"/>
                  </a:rPr>
                  <a:t>96.3</a:t>
                </a:r>
              </a:p>
            </p:txBody>
          </p:sp>
          <p:sp>
            <p:nvSpPr>
              <p:cNvPr id="19" name="TextBox 19"/>
              <p:cNvSpPr txBox="1"/>
              <p:nvPr/>
            </p:nvSpPr>
            <p:spPr>
              <a:xfrm>
                <a:off x="962358" y="2569845"/>
                <a:ext cx="266033" cy="182880"/>
              </a:xfrm>
              <a:prstGeom prst="rect">
                <a:avLst/>
              </a:prstGeom>
              <a:noFill/>
              <a:ln>
                <a:noFill/>
              </a:ln>
            </p:spPr>
            <p:txBody>
              <a:bodyPr wrap="none" lIns="0" tIns="0" rIns="0" bIns="0" anchor="t" anchorCtr="0">
                <a:spAutoFit/>
              </a:bodyPr>
              <a:lstStyle/>
              <a:p>
                <a:pPr algn="ctr"/>
                <a:r>
                  <a:rPr lang="zh-CN" sz="900" dirty="0">
                    <a:solidFill>
                      <a:srgbClr val="2196F3"/>
                    </a:solidFill>
                    <a:latin typeface="Arial"/>
                    <a:ea typeface="Microsoft YaHei"/>
                    <a:cs typeface="Arial"/>
                  </a:rPr>
                  <a:t>MLP</a:t>
                </a:r>
              </a:p>
            </p:txBody>
          </p:sp>
          <p:sp>
            <p:nvSpPr>
              <p:cNvPr id="20" name="TextBox 20"/>
              <p:cNvSpPr txBox="1"/>
              <p:nvPr/>
            </p:nvSpPr>
            <p:spPr>
              <a:xfrm>
                <a:off x="1085850" y="2747962"/>
                <a:ext cx="566737" cy="152400"/>
              </a:xfrm>
              <a:prstGeom prst="rect">
                <a:avLst/>
              </a:prstGeom>
              <a:noFill/>
              <a:ln>
                <a:noFill/>
              </a:ln>
            </p:spPr>
            <p:txBody>
              <a:bodyPr wrap="none" lIns="0" tIns="0" rIns="0" bIns="0" anchor="t" anchorCtr="0">
                <a:spAutoFit/>
              </a:bodyPr>
              <a:lstStyle/>
              <a:p>
                <a:pPr algn="l"/>
                <a:r>
                  <a:rPr lang="zh-CN" sz="750" dirty="0">
                    <a:solidFill>
                      <a:srgbClr val="1E40AF"/>
                    </a:solidFill>
                    <a:latin typeface="Arial"/>
                    <a:ea typeface="Microsoft YaHei"/>
                    <a:cs typeface="Arial"/>
                  </a:rPr>
                  <a:t>多层感知机</a:t>
                </a:r>
              </a:p>
            </p:txBody>
          </p:sp>
        </p:grpSp>
        <p:grpSp>
          <p:nvGrpSpPr>
            <p:cNvPr id="26" name="Group 26"/>
            <p:cNvGrpSpPr/>
            <p:nvPr/>
          </p:nvGrpSpPr>
          <p:grpSpPr>
            <a:xfrm>
              <a:off x="1762125" y="2143125"/>
              <a:ext cx="1190625" cy="809625"/>
              <a:chOff x="1762125" y="2143125"/>
              <a:chExt cx="1190625" cy="809625"/>
            </a:xfrm>
          </p:grpSpPr>
          <p:sp>
            <p:nvSpPr>
              <p:cNvPr id="22" name="Freeform 22"/>
              <p:cNvSpPr/>
              <p:nvPr/>
            </p:nvSpPr>
            <p:spPr>
              <a:xfrm>
                <a:off x="1762125" y="2143125"/>
                <a:ext cx="1047750" cy="809625"/>
              </a:xfrm>
              <a:custGeom>
                <a:avLst/>
                <a:gdLst/>
                <a:ahLst/>
                <a:cxnLst/>
                <a:rect l="l" t="t" r="r" b="b"/>
                <a:pathLst>
                  <a:path w="1047750" h="809625">
                    <a:moveTo>
                      <a:pt x="76200" y="0"/>
                    </a:moveTo>
                    <a:lnTo>
                      <a:pt x="971550" y="0"/>
                    </a:lnTo>
                    <a:cubicBezTo>
                      <a:pt x="1013634" y="0"/>
                      <a:pt x="1047750" y="34116"/>
                      <a:pt x="1047750" y="76200"/>
                    </a:cubicBezTo>
                    <a:lnTo>
                      <a:pt x="1047750" y="733425"/>
                    </a:lnTo>
                    <a:cubicBezTo>
                      <a:pt x="1047750" y="775509"/>
                      <a:pt x="1013634" y="809625"/>
                      <a:pt x="971550" y="809625"/>
                    </a:cubicBezTo>
                    <a:lnTo>
                      <a:pt x="76200" y="809625"/>
                    </a:lnTo>
                    <a:cubicBezTo>
                      <a:pt x="34116" y="809625"/>
                      <a:pt x="0" y="775509"/>
                      <a:pt x="0" y="733425"/>
                    </a:cubicBezTo>
                    <a:lnTo>
                      <a:pt x="0" y="76200"/>
                    </a:lnTo>
                    <a:cubicBezTo>
                      <a:pt x="0" y="34116"/>
                      <a:pt x="34116" y="0"/>
                      <a:pt x="76200" y="0"/>
                    </a:cubicBezTo>
                    <a:close/>
                  </a:path>
                </a:pathLst>
              </a:custGeom>
              <a:solidFill>
                <a:srgbClr val="4A90D9">
                  <a:alpha val="10000"/>
                </a:srgbClr>
              </a:solidFill>
              <a:ln w="14288">
                <a:solidFill>
                  <a:srgbClr val="4A90D9"/>
                </a:solidFill>
              </a:ln>
            </p:spPr>
          </p:sp>
          <p:sp>
            <p:nvSpPr>
              <p:cNvPr id="23" name="TextBox 23"/>
              <p:cNvSpPr txBox="1"/>
              <p:nvPr/>
            </p:nvSpPr>
            <p:spPr>
              <a:xfrm>
                <a:off x="1905086" y="2221230"/>
                <a:ext cx="761829" cy="426720"/>
              </a:xfrm>
              <a:prstGeom prst="rect">
                <a:avLst/>
              </a:prstGeom>
              <a:noFill/>
              <a:ln>
                <a:noFill/>
              </a:ln>
            </p:spPr>
            <p:txBody>
              <a:bodyPr wrap="none" lIns="0" tIns="0" rIns="0" bIns="0" anchor="t" anchorCtr="0">
                <a:spAutoFit/>
              </a:bodyPr>
              <a:lstStyle/>
              <a:p>
                <a:pPr algn="ctr"/>
                <a:r>
                  <a:rPr lang="zh-CN" sz="2100" b="1" dirty="0">
                    <a:solidFill>
                      <a:srgbClr val="4A90D9"/>
                    </a:solidFill>
                    <a:latin typeface="Arial"/>
                    <a:ea typeface="Microsoft YaHei"/>
                    <a:cs typeface="Arial"/>
                  </a:rPr>
                  <a:t>94.0</a:t>
                </a:r>
              </a:p>
            </p:txBody>
          </p:sp>
          <p:sp>
            <p:nvSpPr>
              <p:cNvPr id="24" name="TextBox 24"/>
              <p:cNvSpPr txBox="1"/>
              <p:nvPr/>
            </p:nvSpPr>
            <p:spPr>
              <a:xfrm>
                <a:off x="2110264" y="2569845"/>
                <a:ext cx="351472" cy="182880"/>
              </a:xfrm>
              <a:prstGeom prst="rect">
                <a:avLst/>
              </a:prstGeom>
              <a:noFill/>
              <a:ln>
                <a:noFill/>
              </a:ln>
            </p:spPr>
            <p:txBody>
              <a:bodyPr wrap="none" lIns="0" tIns="0" rIns="0" bIns="0" anchor="t" anchorCtr="0">
                <a:spAutoFit/>
              </a:bodyPr>
              <a:lstStyle/>
              <a:p>
                <a:pPr algn="ctr"/>
                <a:r>
                  <a:rPr lang="zh-CN" sz="900" dirty="0">
                    <a:solidFill>
                      <a:srgbClr val="4A90D9"/>
                    </a:solidFill>
                    <a:latin typeface="Arial"/>
                    <a:ea typeface="Microsoft YaHei"/>
                    <a:cs typeface="Arial"/>
                  </a:rPr>
                  <a:t>CNN1D</a:t>
                </a:r>
              </a:p>
            </p:txBody>
          </p:sp>
          <p:sp>
            <p:nvSpPr>
              <p:cNvPr id="25" name="TextBox 25"/>
              <p:cNvSpPr txBox="1"/>
              <p:nvPr/>
            </p:nvSpPr>
            <p:spPr>
              <a:xfrm>
                <a:off x="2276475" y="2747962"/>
                <a:ext cx="676275" cy="152400"/>
              </a:xfrm>
              <a:prstGeom prst="rect">
                <a:avLst/>
              </a:prstGeom>
              <a:noFill/>
              <a:ln>
                <a:noFill/>
              </a:ln>
            </p:spPr>
            <p:txBody>
              <a:bodyPr wrap="none" lIns="0" tIns="0" rIns="0" bIns="0" anchor="t" anchorCtr="0">
                <a:spAutoFit/>
              </a:bodyPr>
              <a:lstStyle/>
              <a:p>
                <a:pPr algn="l"/>
                <a:r>
                  <a:rPr lang="zh-CN" sz="750" dirty="0">
                    <a:solidFill>
                      <a:srgbClr val="1E3A8A"/>
                    </a:solidFill>
                    <a:latin typeface="Arial"/>
                    <a:ea typeface="Microsoft YaHei"/>
                    <a:cs typeface="Arial"/>
                  </a:rPr>
                  <a:t>一维卷积网络</a:t>
                </a:r>
              </a:p>
            </p:txBody>
          </p:sp>
        </p:grpSp>
        <p:sp>
          <p:nvSpPr>
            <p:cNvPr id="27" name="TextBox 27"/>
            <p:cNvSpPr txBox="1"/>
            <p:nvPr/>
          </p:nvSpPr>
          <p:spPr>
            <a:xfrm>
              <a:off x="559118" y="3180874"/>
              <a:ext cx="1901225" cy="198120"/>
            </a:xfrm>
            <a:prstGeom prst="rect">
              <a:avLst/>
            </a:prstGeom>
            <a:noFill/>
            <a:ln>
              <a:noFill/>
            </a:ln>
          </p:spPr>
          <p:txBody>
            <a:bodyPr wrap="none" lIns="0" tIns="0" rIns="0" bIns="0" anchor="t" anchorCtr="0">
              <a:spAutoFit/>
            </a:bodyPr>
            <a:lstStyle/>
            <a:p>
              <a:pPr algn="l"/>
              <a:r>
                <a:rPr lang="zh-CN" sz="975" b="1" dirty="0">
                  <a:solidFill>
                    <a:srgbClr val="15803D"/>
                  </a:solidFill>
                  <a:latin typeface="Arial"/>
                  <a:ea typeface="Microsoft YaHei"/>
                  <a:cs typeface="Arial"/>
                </a:rPr>
                <a:t>机械加工设施子数据集性能:</a:t>
              </a:r>
            </a:p>
          </p:txBody>
        </p:sp>
        <p:sp>
          <p:nvSpPr>
            <p:cNvPr id="28" name="Freeform 28"/>
            <p:cNvSpPr/>
            <p:nvPr/>
          </p:nvSpPr>
          <p:spPr>
            <a:xfrm>
              <a:off x="571500" y="3381375"/>
              <a:ext cx="2238375" cy="304800"/>
            </a:xfrm>
            <a:custGeom>
              <a:avLst/>
              <a:gdLst/>
              <a:ahLst/>
              <a:cxnLst/>
              <a:rect l="l" t="t" r="r" b="b"/>
              <a:pathLst>
                <a:path w="2238375" h="304800">
                  <a:moveTo>
                    <a:pt x="38100" y="0"/>
                  </a:moveTo>
                  <a:lnTo>
                    <a:pt x="2200275" y="0"/>
                  </a:lnTo>
                  <a:cubicBezTo>
                    <a:pt x="2221317" y="0"/>
                    <a:pt x="2238375" y="17058"/>
                    <a:pt x="2238375" y="38100"/>
                  </a:cubicBezTo>
                  <a:lnTo>
                    <a:pt x="2238375" y="266700"/>
                  </a:lnTo>
                  <a:cubicBezTo>
                    <a:pt x="2238375" y="287742"/>
                    <a:pt x="2221317" y="304800"/>
                    <a:pt x="2200275" y="304800"/>
                  </a:cubicBezTo>
                  <a:lnTo>
                    <a:pt x="38100" y="304800"/>
                  </a:lnTo>
                  <a:cubicBezTo>
                    <a:pt x="17058" y="304800"/>
                    <a:pt x="0" y="287742"/>
                    <a:pt x="0" y="266700"/>
                  </a:cubicBezTo>
                  <a:lnTo>
                    <a:pt x="0" y="38100"/>
                  </a:lnTo>
                  <a:cubicBezTo>
                    <a:pt x="0" y="17058"/>
                    <a:pt x="17058" y="0"/>
                    <a:pt x="38100" y="0"/>
                  </a:cubicBezTo>
                  <a:close/>
                </a:path>
              </a:pathLst>
            </a:custGeom>
            <a:solidFill>
              <a:srgbClr val="15803D"/>
            </a:solidFill>
            <a:ln>
              <a:noFill/>
            </a:ln>
          </p:spPr>
        </p:sp>
        <p:sp>
          <p:nvSpPr>
            <p:cNvPr id="29" name="TextBox 29"/>
            <p:cNvSpPr txBox="1"/>
            <p:nvPr/>
          </p:nvSpPr>
          <p:spPr>
            <a:xfrm>
              <a:off x="656272" y="3482816"/>
              <a:ext cx="261937"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设施</a:t>
              </a:r>
            </a:p>
          </p:txBody>
        </p:sp>
        <p:sp>
          <p:nvSpPr>
            <p:cNvPr id="30" name="TextBox 30"/>
            <p:cNvSpPr txBox="1"/>
            <p:nvPr/>
          </p:nvSpPr>
          <p:spPr>
            <a:xfrm>
              <a:off x="1180148" y="3482816"/>
              <a:ext cx="2438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SVM</a:t>
              </a:r>
            </a:p>
          </p:txBody>
        </p:sp>
        <p:sp>
          <p:nvSpPr>
            <p:cNvPr id="31" name="TextBox 31"/>
            <p:cNvSpPr txBox="1"/>
            <p:nvPr/>
          </p:nvSpPr>
          <p:spPr>
            <a:xfrm>
              <a:off x="1608772" y="3482816"/>
              <a:ext cx="153495"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RF</a:t>
              </a:r>
            </a:p>
          </p:txBody>
        </p:sp>
        <p:sp>
          <p:nvSpPr>
            <p:cNvPr id="32" name="TextBox 32"/>
            <p:cNvSpPr txBox="1"/>
            <p:nvPr/>
          </p:nvSpPr>
          <p:spPr>
            <a:xfrm>
              <a:off x="1989772" y="3482816"/>
              <a:ext cx="2438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MLP</a:t>
              </a:r>
            </a:p>
          </p:txBody>
        </p:sp>
        <p:sp>
          <p:nvSpPr>
            <p:cNvPr id="33" name="TextBox 33"/>
            <p:cNvSpPr txBox="1"/>
            <p:nvPr/>
          </p:nvSpPr>
          <p:spPr>
            <a:xfrm>
              <a:off x="2323148" y="3482816"/>
              <a:ext cx="261937"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集成</a:t>
              </a:r>
            </a:p>
          </p:txBody>
        </p:sp>
        <p:sp>
          <p:nvSpPr>
            <p:cNvPr id="34" name="Rectangle 34"/>
            <p:cNvSpPr/>
            <p:nvPr/>
          </p:nvSpPr>
          <p:spPr>
            <a:xfrm>
              <a:off x="571500" y="3686175"/>
              <a:ext cx="2238375" cy="476250"/>
            </a:xfrm>
            <a:prstGeom prst="rect">
              <a:avLst/>
            </a:prstGeom>
            <a:solidFill>
              <a:srgbClr val="F0FDF4"/>
            </a:solidFill>
            <a:ln w="14288">
              <a:solidFill>
                <a:srgbClr val="16A34A"/>
              </a:solidFill>
            </a:ln>
          </p:spPr>
        </p:sp>
        <p:sp>
          <p:nvSpPr>
            <p:cNvPr id="35" name="TextBox 35"/>
            <p:cNvSpPr txBox="1"/>
            <p:nvPr/>
          </p:nvSpPr>
          <p:spPr>
            <a:xfrm>
              <a:off x="656272" y="3797141"/>
              <a:ext cx="912891" cy="167640"/>
            </a:xfrm>
            <a:prstGeom prst="rect">
              <a:avLst/>
            </a:prstGeom>
            <a:noFill/>
            <a:ln>
              <a:noFill/>
            </a:ln>
          </p:spPr>
          <p:txBody>
            <a:bodyPr wrap="none" lIns="0" tIns="0" rIns="0" bIns="0" anchor="t" anchorCtr="0">
              <a:spAutoFit/>
            </a:bodyPr>
            <a:lstStyle/>
            <a:p>
              <a:pPr algn="l"/>
              <a:r>
                <a:rPr lang="zh-CN" sz="825" b="1" dirty="0">
                  <a:solidFill>
                    <a:srgbClr val="1A1A2E"/>
                  </a:solidFill>
                  <a:latin typeface="Arial"/>
                  <a:ea typeface="Microsoft YaHei"/>
                  <a:cs typeface="Arial"/>
                </a:rPr>
                <a:t>Machinery Mfg</a:t>
              </a:r>
            </a:p>
          </p:txBody>
        </p:sp>
        <p:sp>
          <p:nvSpPr>
            <p:cNvPr id="36" name="TextBox 36"/>
            <p:cNvSpPr txBox="1"/>
            <p:nvPr/>
          </p:nvSpPr>
          <p:spPr>
            <a:xfrm>
              <a:off x="1179195" y="3789045"/>
              <a:ext cx="384334" cy="182880"/>
            </a:xfrm>
            <a:prstGeom prst="rect">
              <a:avLst/>
            </a:prstGeom>
            <a:noFill/>
            <a:ln>
              <a:noFill/>
            </a:ln>
          </p:spPr>
          <p:txBody>
            <a:bodyPr wrap="none" lIns="0" tIns="0" rIns="0" bIns="0" anchor="t" anchorCtr="0">
              <a:spAutoFit/>
            </a:bodyPr>
            <a:lstStyle/>
            <a:p>
              <a:pPr algn="l"/>
              <a:r>
                <a:rPr lang="zh-CN" sz="900" dirty="0">
                  <a:solidFill>
                    <a:srgbClr val="D97706"/>
                  </a:solidFill>
                  <a:latin typeface="Arial"/>
                  <a:ea typeface="Microsoft YaHei"/>
                  <a:cs typeface="Arial"/>
                </a:rPr>
                <a:t>86.6%</a:t>
              </a:r>
            </a:p>
          </p:txBody>
        </p:sp>
        <p:sp>
          <p:nvSpPr>
            <p:cNvPr id="37" name="TextBox 37"/>
            <p:cNvSpPr txBox="1"/>
            <p:nvPr/>
          </p:nvSpPr>
          <p:spPr>
            <a:xfrm>
              <a:off x="1607820" y="3789045"/>
              <a:ext cx="443813" cy="182880"/>
            </a:xfrm>
            <a:prstGeom prst="rect">
              <a:avLst/>
            </a:prstGeom>
            <a:noFill/>
            <a:ln>
              <a:noFill/>
            </a:ln>
          </p:spPr>
          <p:txBody>
            <a:bodyPr wrap="none" lIns="0" tIns="0" rIns="0" bIns="0" anchor="t" anchorCtr="0">
              <a:spAutoFit/>
            </a:bodyPr>
            <a:lstStyle/>
            <a:p>
              <a:pPr algn="l"/>
              <a:r>
                <a:rPr lang="zh-CN" sz="900" b="1" dirty="0">
                  <a:solidFill>
                    <a:srgbClr val="16A34A"/>
                  </a:solidFill>
                  <a:latin typeface="Arial"/>
                  <a:ea typeface="Microsoft YaHei"/>
                  <a:cs typeface="Arial"/>
                </a:rPr>
                <a:t>100.0%</a:t>
              </a:r>
            </a:p>
          </p:txBody>
        </p:sp>
        <p:sp>
          <p:nvSpPr>
            <p:cNvPr id="38" name="TextBox 38"/>
            <p:cNvSpPr txBox="1"/>
            <p:nvPr/>
          </p:nvSpPr>
          <p:spPr>
            <a:xfrm>
              <a:off x="1988820" y="3789045"/>
              <a:ext cx="384334" cy="182880"/>
            </a:xfrm>
            <a:prstGeom prst="rect">
              <a:avLst/>
            </a:prstGeom>
            <a:noFill/>
            <a:ln>
              <a:noFill/>
            </a:ln>
          </p:spPr>
          <p:txBody>
            <a:bodyPr wrap="none" lIns="0" tIns="0" rIns="0" bIns="0" anchor="t" anchorCtr="0">
              <a:spAutoFit/>
            </a:bodyPr>
            <a:lstStyle/>
            <a:p>
              <a:pPr algn="l"/>
              <a:r>
                <a:rPr lang="zh-CN" sz="900" dirty="0">
                  <a:solidFill>
                    <a:srgbClr val="2196F3"/>
                  </a:solidFill>
                  <a:latin typeface="Arial"/>
                  <a:ea typeface="Microsoft YaHei"/>
                  <a:cs typeface="Arial"/>
                </a:rPr>
                <a:t>99.6%</a:t>
              </a:r>
            </a:p>
          </p:txBody>
        </p:sp>
        <p:sp>
          <p:nvSpPr>
            <p:cNvPr id="39" name="TextBox 39"/>
            <p:cNvSpPr txBox="1"/>
            <p:nvPr/>
          </p:nvSpPr>
          <p:spPr>
            <a:xfrm>
              <a:off x="2322195" y="3789045"/>
              <a:ext cx="402407" cy="182880"/>
            </a:xfrm>
            <a:prstGeom prst="rect">
              <a:avLst/>
            </a:prstGeom>
            <a:noFill/>
            <a:ln>
              <a:noFill/>
            </a:ln>
          </p:spPr>
          <p:txBody>
            <a:bodyPr wrap="none" lIns="0" tIns="0" rIns="0" bIns="0" anchor="t" anchorCtr="0">
              <a:spAutoFit/>
            </a:bodyPr>
            <a:lstStyle/>
            <a:p>
              <a:pPr algn="l"/>
              <a:r>
                <a:rPr lang="zh-CN" sz="900" b="1" dirty="0">
                  <a:solidFill>
                    <a:srgbClr val="16A34A"/>
                  </a:solidFill>
                  <a:latin typeface="Arial"/>
                  <a:ea typeface="Microsoft YaHei"/>
                  <a:cs typeface="Arial"/>
                </a:rPr>
                <a:t>99.6%</a:t>
              </a:r>
            </a:p>
          </p:txBody>
        </p:sp>
        <p:sp>
          <p:nvSpPr>
            <p:cNvPr id="40" name="TextBox 40"/>
            <p:cNvSpPr txBox="1"/>
            <p:nvPr/>
          </p:nvSpPr>
          <p:spPr>
            <a:xfrm>
              <a:off x="657225" y="3995738"/>
              <a:ext cx="692706"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测试集约121条</a:t>
              </a:r>
            </a:p>
          </p:txBody>
        </p:sp>
        <p:sp>
          <p:nvSpPr>
            <p:cNvPr id="41" name="Freeform 41"/>
            <p:cNvSpPr/>
            <p:nvPr/>
          </p:nvSpPr>
          <p:spPr>
            <a:xfrm>
              <a:off x="571500" y="4333875"/>
              <a:ext cx="2238375" cy="714375"/>
            </a:xfrm>
            <a:custGeom>
              <a:avLst/>
              <a:gdLst/>
              <a:ahLst/>
              <a:cxnLst/>
              <a:rect l="l" t="t" r="r" b="b"/>
              <a:pathLst>
                <a:path w="2238375" h="714375">
                  <a:moveTo>
                    <a:pt x="76200" y="0"/>
                  </a:moveTo>
                  <a:lnTo>
                    <a:pt x="2162175" y="0"/>
                  </a:lnTo>
                  <a:cubicBezTo>
                    <a:pt x="2204259" y="0"/>
                    <a:pt x="2238375" y="34116"/>
                    <a:pt x="2238375" y="76200"/>
                  </a:cubicBezTo>
                  <a:lnTo>
                    <a:pt x="2238375" y="638175"/>
                  </a:lnTo>
                  <a:cubicBezTo>
                    <a:pt x="2238375" y="680259"/>
                    <a:pt x="2204259" y="714375"/>
                    <a:pt x="2162175" y="714375"/>
                  </a:cubicBezTo>
                  <a:lnTo>
                    <a:pt x="76200" y="714375"/>
                  </a:lnTo>
                  <a:cubicBezTo>
                    <a:pt x="34116" y="714375"/>
                    <a:pt x="0" y="680259"/>
                    <a:pt x="0" y="638175"/>
                  </a:cubicBezTo>
                  <a:lnTo>
                    <a:pt x="0" y="76200"/>
                  </a:lnTo>
                  <a:cubicBezTo>
                    <a:pt x="0" y="34116"/>
                    <a:pt x="34116" y="0"/>
                    <a:pt x="76200" y="0"/>
                  </a:cubicBezTo>
                  <a:close/>
                </a:path>
              </a:pathLst>
            </a:custGeom>
            <a:solidFill>
              <a:srgbClr val="DCFCE7"/>
            </a:solidFill>
            <a:ln w="14288">
              <a:solidFill>
                <a:srgbClr val="16A34A"/>
              </a:solidFill>
            </a:ln>
          </p:spPr>
        </p:sp>
        <p:sp>
          <p:nvSpPr>
            <p:cNvPr id="42" name="TextBox 42"/>
            <p:cNvSpPr txBox="1"/>
            <p:nvPr/>
          </p:nvSpPr>
          <p:spPr>
            <a:xfrm>
              <a:off x="702945" y="4474845"/>
              <a:ext cx="1175304" cy="182880"/>
            </a:xfrm>
            <a:prstGeom prst="rect">
              <a:avLst/>
            </a:prstGeom>
            <a:noFill/>
            <a:ln>
              <a:noFill/>
            </a:ln>
          </p:spPr>
          <p:txBody>
            <a:bodyPr wrap="none" lIns="0" tIns="0" rIns="0" bIns="0" anchor="t" anchorCtr="0">
              <a:spAutoFit/>
            </a:bodyPr>
            <a:lstStyle/>
            <a:p>
              <a:pPr algn="l"/>
              <a:r>
                <a:rPr lang="zh-CN" sz="900" b="1" dirty="0">
                  <a:solidFill>
                    <a:srgbClr val="166534"/>
                  </a:solidFill>
                  <a:latin typeface="Arial"/>
                  <a:ea typeface="Microsoft YaHei"/>
                  <a:cs typeface="Arial"/>
                </a:rPr>
                <a:t>RF &amp; MLP 接近100%</a:t>
              </a:r>
            </a:p>
          </p:txBody>
        </p:sp>
        <p:sp>
          <p:nvSpPr>
            <p:cNvPr id="43" name="TextBox 43"/>
            <p:cNvSpPr txBox="1"/>
            <p:nvPr/>
          </p:nvSpPr>
          <p:spPr>
            <a:xfrm>
              <a:off x="703898" y="4673441"/>
              <a:ext cx="1105376" cy="167640"/>
            </a:xfrm>
            <a:prstGeom prst="rect">
              <a:avLst/>
            </a:prstGeom>
            <a:noFill/>
            <a:ln>
              <a:noFill/>
            </a:ln>
          </p:spPr>
          <p:txBody>
            <a:bodyPr wrap="none" lIns="0" tIns="0" rIns="0" bIns="0" anchor="t" anchorCtr="0">
              <a:spAutoFit/>
            </a:bodyPr>
            <a:lstStyle/>
            <a:p>
              <a:pPr algn="l"/>
              <a:r>
                <a:rPr lang="zh-CN" sz="825" dirty="0">
                  <a:solidFill>
                    <a:srgbClr val="166534"/>
                  </a:solidFill>
                  <a:latin typeface="Arial"/>
                  <a:ea typeface="Microsoft YaHei"/>
                  <a:cs typeface="Arial"/>
                </a:rPr>
                <a:t>子目标特征差异平滑</a:t>
              </a:r>
            </a:p>
          </p:txBody>
        </p:sp>
        <p:sp>
          <p:nvSpPr>
            <p:cNvPr id="44" name="TextBox 44"/>
            <p:cNvSpPr txBox="1"/>
            <p:nvPr/>
          </p:nvSpPr>
          <p:spPr>
            <a:xfrm>
              <a:off x="703898" y="4863941"/>
              <a:ext cx="2394633"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几何参数相近 · 可燃物以工业油/化工类为主</a:t>
              </a:r>
            </a:p>
          </p:txBody>
        </p:sp>
        <p:sp>
          <p:nvSpPr>
            <p:cNvPr id="45" name="TextBox 45"/>
            <p:cNvSpPr txBox="1"/>
            <p:nvPr/>
          </p:nvSpPr>
          <p:spPr>
            <a:xfrm>
              <a:off x="559118" y="5181124"/>
              <a:ext cx="1004112" cy="198120"/>
            </a:xfrm>
            <a:prstGeom prst="rect">
              <a:avLst/>
            </a:prstGeom>
            <a:noFill/>
            <a:ln>
              <a:noFill/>
            </a:ln>
          </p:spPr>
          <p:txBody>
            <a:bodyPr wrap="none" lIns="0" tIns="0" rIns="0" bIns="0" anchor="t" anchorCtr="0">
              <a:spAutoFit/>
            </a:bodyPr>
            <a:lstStyle/>
            <a:p>
              <a:pPr algn="l"/>
              <a:r>
                <a:rPr lang="zh-CN" sz="975" b="1" dirty="0">
                  <a:solidFill>
                    <a:srgbClr val="15803D"/>
                  </a:solidFill>
                  <a:latin typeface="Arial"/>
                  <a:ea typeface="Microsoft YaHei"/>
                  <a:cs typeface="Arial"/>
                </a:rPr>
                <a:t>毁伤等级分布:</a:t>
              </a:r>
            </a:p>
          </p:txBody>
        </p:sp>
        <p:pic>
          <p:nvPicPr>
            <p:cNvPr id="46" name="Image 46"/>
            <p:cNvPicPr>
              <a:picLocks noChangeAspect="1"/>
            </p:cNvPicPr>
            <p:nvPr/>
          </p:nvPicPr>
          <p:blipFill>
            <a:blip r:embed="rId2"/>
            <a:stretch>
              <a:fillRect/>
            </a:stretch>
          </p:blipFill>
          <p:spPr>
            <a:xfrm>
              <a:off x="571500" y="5381625"/>
              <a:ext cx="2238375" cy="1666875"/>
            </a:xfrm>
            <a:prstGeom prst="rect">
              <a:avLst/>
            </a:prstGeom>
          </p:spPr>
        </p:pic>
      </p:grpSp>
      <p:grpSp>
        <p:nvGrpSpPr>
          <p:cNvPr id="91" name="Group 91"/>
          <p:cNvGrpSpPr/>
          <p:nvPr/>
        </p:nvGrpSpPr>
        <p:grpSpPr>
          <a:xfrm>
            <a:off x="3223260" y="870585"/>
            <a:ext cx="8206740" cy="5796915"/>
            <a:chOff x="3223260" y="870585"/>
            <a:chExt cx="8206740" cy="5796915"/>
          </a:xfrm>
        </p:grpSpPr>
        <p:sp>
          <p:nvSpPr>
            <p:cNvPr id="48" name="TextBox 48"/>
            <p:cNvSpPr txBox="1"/>
            <p:nvPr/>
          </p:nvSpPr>
          <p:spPr>
            <a:xfrm>
              <a:off x="3223260" y="870585"/>
              <a:ext cx="2422779" cy="243840"/>
            </a:xfrm>
            <a:prstGeom prst="rect">
              <a:avLst/>
            </a:prstGeom>
            <a:noFill/>
            <a:ln>
              <a:noFill/>
            </a:ln>
          </p:spPr>
          <p:txBody>
            <a:bodyPr wrap="none" lIns="0" tIns="0" rIns="0" bIns="0" anchor="t" anchorCtr="0">
              <a:spAutoFit/>
            </a:bodyPr>
            <a:lstStyle/>
            <a:p>
              <a:pPr algn="l"/>
              <a:r>
                <a:rPr lang="zh-CN" sz="1200" b="1" dirty="0">
                  <a:solidFill>
                    <a:srgbClr val="15803D"/>
                  </a:solidFill>
                  <a:latin typeface="Arial"/>
                  <a:ea typeface="Microsoft YaHei"/>
                  <a:cs typeface="Arial"/>
                </a:rPr>
                <a:t>各模型整体测试集准确率对比</a:t>
              </a:r>
            </a:p>
          </p:txBody>
        </p:sp>
        <p:sp>
          <p:nvSpPr>
            <p:cNvPr id="49" name="TextBox 49"/>
            <p:cNvSpPr txBox="1"/>
            <p:nvPr/>
          </p:nvSpPr>
          <p:spPr>
            <a:xfrm>
              <a:off x="3227070" y="1112520"/>
              <a:ext cx="180394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四类设施混合数据集 · 单位: %</a:t>
              </a:r>
            </a:p>
          </p:txBody>
        </p:sp>
        <p:sp>
          <p:nvSpPr>
            <p:cNvPr id="50" name="Line 50"/>
            <p:cNvSpPr/>
            <p:nvPr/>
          </p:nvSpPr>
          <p:spPr>
            <a:xfrm>
              <a:off x="3810000" y="1524000"/>
              <a:ext cx="9525" cy="3762375"/>
            </a:xfrm>
            <a:custGeom>
              <a:avLst/>
              <a:gdLst/>
              <a:ahLst/>
              <a:cxnLst/>
              <a:rect l="l" t="t" r="r" b="b"/>
              <a:pathLst>
                <a:path w="9525" h="3762375">
                  <a:moveTo>
                    <a:pt x="0" y="0"/>
                  </a:moveTo>
                  <a:lnTo>
                    <a:pt x="0" y="3762375"/>
                  </a:lnTo>
                </a:path>
              </a:pathLst>
            </a:custGeom>
            <a:noFill/>
            <a:ln w="19050">
              <a:solidFill>
                <a:srgbClr val="95A5A6"/>
              </a:solidFill>
            </a:ln>
          </p:spPr>
        </p:sp>
        <p:sp>
          <p:nvSpPr>
            <p:cNvPr id="51" name="Line 51"/>
            <p:cNvSpPr/>
            <p:nvPr/>
          </p:nvSpPr>
          <p:spPr>
            <a:xfrm>
              <a:off x="3810000" y="5286375"/>
              <a:ext cx="7620000" cy="9525"/>
            </a:xfrm>
            <a:custGeom>
              <a:avLst/>
              <a:gdLst/>
              <a:ahLst/>
              <a:cxnLst/>
              <a:rect l="l" t="t" r="r" b="b"/>
              <a:pathLst>
                <a:path w="7620000" h="9525">
                  <a:moveTo>
                    <a:pt x="0" y="0"/>
                  </a:moveTo>
                  <a:lnTo>
                    <a:pt x="7620000" y="0"/>
                  </a:lnTo>
                </a:path>
              </a:pathLst>
            </a:custGeom>
            <a:noFill/>
            <a:ln w="19050">
              <a:solidFill>
                <a:srgbClr val="95A5A6"/>
              </a:solidFill>
            </a:ln>
          </p:spPr>
        </p:sp>
        <p:sp>
          <p:nvSpPr>
            <p:cNvPr id="52" name="TextBox 52"/>
            <p:cNvSpPr txBox="1"/>
            <p:nvPr/>
          </p:nvSpPr>
          <p:spPr>
            <a:xfrm>
              <a:off x="3519297" y="1464945"/>
              <a:ext cx="206883"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100</a:t>
              </a:r>
            </a:p>
          </p:txBody>
        </p:sp>
        <p:sp>
          <p:nvSpPr>
            <p:cNvPr id="53" name="Line 53"/>
            <p:cNvSpPr/>
            <p:nvPr/>
          </p:nvSpPr>
          <p:spPr>
            <a:xfrm>
              <a:off x="3810000" y="1524000"/>
              <a:ext cx="7620000" cy="9525"/>
            </a:xfrm>
            <a:custGeom>
              <a:avLst/>
              <a:gdLst/>
              <a:ahLst/>
              <a:cxnLst/>
              <a:rect l="l" t="t" r="r" b="b"/>
              <a:pathLst>
                <a:path w="7620000" h="9525">
                  <a:moveTo>
                    <a:pt x="0" y="0"/>
                  </a:moveTo>
                  <a:lnTo>
                    <a:pt x="7620000" y="0"/>
                  </a:lnTo>
                </a:path>
              </a:pathLst>
            </a:custGeom>
            <a:noFill/>
            <a:ln w="9525">
              <a:solidFill>
                <a:srgbClr val="E0E0E0"/>
              </a:solidFill>
              <a:prstDash val="dash"/>
            </a:ln>
          </p:spPr>
        </p:sp>
        <p:sp>
          <p:nvSpPr>
            <p:cNvPr id="54" name="TextBox 54"/>
            <p:cNvSpPr txBox="1"/>
            <p:nvPr/>
          </p:nvSpPr>
          <p:spPr>
            <a:xfrm>
              <a:off x="3558730" y="2369820"/>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80</a:t>
              </a:r>
            </a:p>
          </p:txBody>
        </p:sp>
        <p:sp>
          <p:nvSpPr>
            <p:cNvPr id="55" name="Line 55"/>
            <p:cNvSpPr/>
            <p:nvPr/>
          </p:nvSpPr>
          <p:spPr>
            <a:xfrm>
              <a:off x="3810000" y="2428875"/>
              <a:ext cx="7620000" cy="9525"/>
            </a:xfrm>
            <a:custGeom>
              <a:avLst/>
              <a:gdLst/>
              <a:ahLst/>
              <a:cxnLst/>
              <a:rect l="l" t="t" r="r" b="b"/>
              <a:pathLst>
                <a:path w="7620000" h="9525">
                  <a:moveTo>
                    <a:pt x="0" y="0"/>
                  </a:moveTo>
                  <a:lnTo>
                    <a:pt x="7620000" y="0"/>
                  </a:lnTo>
                </a:path>
              </a:pathLst>
            </a:custGeom>
            <a:noFill/>
            <a:ln w="9525">
              <a:solidFill>
                <a:srgbClr val="E0E0E0"/>
              </a:solidFill>
              <a:prstDash val="dash"/>
            </a:ln>
          </p:spPr>
        </p:sp>
        <p:sp>
          <p:nvSpPr>
            <p:cNvPr id="56" name="TextBox 56"/>
            <p:cNvSpPr txBox="1"/>
            <p:nvPr/>
          </p:nvSpPr>
          <p:spPr>
            <a:xfrm>
              <a:off x="3558730" y="3274695"/>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60</a:t>
              </a:r>
            </a:p>
          </p:txBody>
        </p:sp>
        <p:sp>
          <p:nvSpPr>
            <p:cNvPr id="57" name="Line 57"/>
            <p:cNvSpPr/>
            <p:nvPr/>
          </p:nvSpPr>
          <p:spPr>
            <a:xfrm>
              <a:off x="3810000" y="3333750"/>
              <a:ext cx="7620000" cy="9525"/>
            </a:xfrm>
            <a:custGeom>
              <a:avLst/>
              <a:gdLst/>
              <a:ahLst/>
              <a:cxnLst/>
              <a:rect l="l" t="t" r="r" b="b"/>
              <a:pathLst>
                <a:path w="7620000" h="9525">
                  <a:moveTo>
                    <a:pt x="0" y="0"/>
                  </a:moveTo>
                  <a:lnTo>
                    <a:pt x="7620000" y="0"/>
                  </a:lnTo>
                </a:path>
              </a:pathLst>
            </a:custGeom>
            <a:noFill/>
            <a:ln w="9525">
              <a:solidFill>
                <a:srgbClr val="E0E0E0"/>
              </a:solidFill>
              <a:prstDash val="dash"/>
            </a:ln>
          </p:spPr>
        </p:sp>
        <p:sp>
          <p:nvSpPr>
            <p:cNvPr id="58" name="TextBox 58"/>
            <p:cNvSpPr txBox="1"/>
            <p:nvPr/>
          </p:nvSpPr>
          <p:spPr>
            <a:xfrm>
              <a:off x="3558730" y="4179570"/>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40</a:t>
              </a:r>
            </a:p>
          </p:txBody>
        </p:sp>
        <p:sp>
          <p:nvSpPr>
            <p:cNvPr id="59" name="Line 59"/>
            <p:cNvSpPr/>
            <p:nvPr/>
          </p:nvSpPr>
          <p:spPr>
            <a:xfrm>
              <a:off x="3810000" y="4238625"/>
              <a:ext cx="7620000" cy="9525"/>
            </a:xfrm>
            <a:custGeom>
              <a:avLst/>
              <a:gdLst/>
              <a:ahLst/>
              <a:cxnLst/>
              <a:rect l="l" t="t" r="r" b="b"/>
              <a:pathLst>
                <a:path w="7620000" h="9525">
                  <a:moveTo>
                    <a:pt x="0" y="0"/>
                  </a:moveTo>
                  <a:lnTo>
                    <a:pt x="7620000" y="0"/>
                  </a:lnTo>
                </a:path>
              </a:pathLst>
            </a:custGeom>
            <a:noFill/>
            <a:ln w="9525">
              <a:solidFill>
                <a:srgbClr val="E0E0E0"/>
              </a:solidFill>
              <a:prstDash val="dash"/>
            </a:ln>
          </p:spPr>
        </p:sp>
        <p:sp>
          <p:nvSpPr>
            <p:cNvPr id="60" name="TextBox 60"/>
            <p:cNvSpPr txBox="1"/>
            <p:nvPr/>
          </p:nvSpPr>
          <p:spPr>
            <a:xfrm>
              <a:off x="3631025" y="5227320"/>
              <a:ext cx="95155"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a:t>
              </a:r>
            </a:p>
          </p:txBody>
        </p:sp>
        <p:sp>
          <p:nvSpPr>
            <p:cNvPr id="61" name="Freeform 61"/>
            <p:cNvSpPr/>
            <p:nvPr/>
          </p:nvSpPr>
          <p:spPr>
            <a:xfrm>
              <a:off x="4191000" y="2390775"/>
              <a:ext cx="523875" cy="2895600"/>
            </a:xfrm>
            <a:custGeom>
              <a:avLst/>
              <a:gdLst/>
              <a:ahLst/>
              <a:cxnLst/>
              <a:rect l="l" t="t" r="r" b="b"/>
              <a:pathLst>
                <a:path w="523875" h="2895600">
                  <a:moveTo>
                    <a:pt x="38100" y="0"/>
                  </a:moveTo>
                  <a:lnTo>
                    <a:pt x="485775" y="0"/>
                  </a:lnTo>
                  <a:cubicBezTo>
                    <a:pt x="506817" y="0"/>
                    <a:pt x="523875" y="17058"/>
                    <a:pt x="523875" y="38100"/>
                  </a:cubicBezTo>
                  <a:lnTo>
                    <a:pt x="523875" y="2857500"/>
                  </a:lnTo>
                  <a:cubicBezTo>
                    <a:pt x="523875" y="2878542"/>
                    <a:pt x="506817" y="2895600"/>
                    <a:pt x="485775" y="2895600"/>
                  </a:cubicBezTo>
                  <a:lnTo>
                    <a:pt x="38100" y="2895600"/>
                  </a:lnTo>
                  <a:cubicBezTo>
                    <a:pt x="17058" y="2895600"/>
                    <a:pt x="0" y="2878542"/>
                    <a:pt x="0" y="2857500"/>
                  </a:cubicBezTo>
                  <a:lnTo>
                    <a:pt x="0" y="38100"/>
                  </a:lnTo>
                  <a:cubicBezTo>
                    <a:pt x="0" y="17058"/>
                    <a:pt x="17058" y="0"/>
                    <a:pt x="38100" y="0"/>
                  </a:cubicBezTo>
                  <a:close/>
                </a:path>
              </a:pathLst>
            </a:custGeom>
            <a:gradFill>
              <a:gsLst>
                <a:gs pos="0">
                  <a:srgbClr val="D97706"/>
                </a:gs>
                <a:gs pos="100000">
                  <a:srgbClr val="B45309"/>
                </a:gs>
              </a:gsLst>
              <a:lin ang="5400000" scaled="1"/>
            </a:gradFill>
            <a:ln>
              <a:noFill/>
            </a:ln>
          </p:spPr>
        </p:sp>
        <p:sp>
          <p:nvSpPr>
            <p:cNvPr id="62" name="TextBox 62"/>
            <p:cNvSpPr txBox="1"/>
            <p:nvPr/>
          </p:nvSpPr>
          <p:spPr>
            <a:xfrm>
              <a:off x="4239729" y="2209324"/>
              <a:ext cx="435941" cy="198120"/>
            </a:xfrm>
            <a:prstGeom prst="rect">
              <a:avLst/>
            </a:prstGeom>
            <a:noFill/>
            <a:ln>
              <a:noFill/>
            </a:ln>
          </p:spPr>
          <p:txBody>
            <a:bodyPr wrap="none" lIns="0" tIns="0" rIns="0" bIns="0" anchor="t" anchorCtr="0">
              <a:spAutoFit/>
            </a:bodyPr>
            <a:lstStyle/>
            <a:p>
              <a:pPr algn="ctr"/>
              <a:r>
                <a:rPr lang="zh-CN" sz="975" b="1" dirty="0">
                  <a:solidFill>
                    <a:srgbClr val="D97706"/>
                  </a:solidFill>
                  <a:latin typeface="Arial"/>
                  <a:ea typeface="Microsoft YaHei"/>
                  <a:cs typeface="Arial"/>
                </a:rPr>
                <a:t>76.9%</a:t>
              </a:r>
            </a:p>
          </p:txBody>
        </p:sp>
        <p:sp>
          <p:nvSpPr>
            <p:cNvPr id="63" name="TextBox 63"/>
            <p:cNvSpPr txBox="1"/>
            <p:nvPr/>
          </p:nvSpPr>
          <p:spPr>
            <a:xfrm>
              <a:off x="4313599" y="5419249"/>
              <a:ext cx="288203" cy="198120"/>
            </a:xfrm>
            <a:prstGeom prst="rect">
              <a:avLst/>
            </a:prstGeom>
            <a:noFill/>
            <a:ln>
              <a:noFill/>
            </a:ln>
          </p:spPr>
          <p:txBody>
            <a:bodyPr wrap="none" lIns="0" tIns="0" rIns="0" bIns="0" anchor="t" anchorCtr="0">
              <a:spAutoFit/>
            </a:bodyPr>
            <a:lstStyle/>
            <a:p>
              <a:pPr algn="ctr"/>
              <a:r>
                <a:rPr lang="zh-CN" sz="975" dirty="0">
                  <a:solidFill>
                    <a:srgbClr val="6B7280"/>
                  </a:solidFill>
                  <a:latin typeface="Arial"/>
                  <a:ea typeface="Microsoft YaHei"/>
                  <a:cs typeface="Arial"/>
                </a:rPr>
                <a:t>SVM</a:t>
              </a:r>
            </a:p>
          </p:txBody>
        </p:sp>
        <p:sp>
          <p:nvSpPr>
            <p:cNvPr id="64" name="Freeform 64"/>
            <p:cNvSpPr/>
            <p:nvPr/>
          </p:nvSpPr>
          <p:spPr>
            <a:xfrm>
              <a:off x="5762625" y="1590675"/>
              <a:ext cx="523875" cy="3695700"/>
            </a:xfrm>
            <a:custGeom>
              <a:avLst/>
              <a:gdLst/>
              <a:ahLst/>
              <a:cxnLst/>
              <a:rect l="l" t="t" r="r" b="b"/>
              <a:pathLst>
                <a:path w="523875" h="3695700">
                  <a:moveTo>
                    <a:pt x="38100" y="0"/>
                  </a:moveTo>
                  <a:lnTo>
                    <a:pt x="485775" y="0"/>
                  </a:lnTo>
                  <a:cubicBezTo>
                    <a:pt x="506817" y="0"/>
                    <a:pt x="523875" y="17058"/>
                    <a:pt x="523875" y="38100"/>
                  </a:cubicBezTo>
                  <a:lnTo>
                    <a:pt x="523875" y="3657600"/>
                  </a:lnTo>
                  <a:cubicBezTo>
                    <a:pt x="523875" y="3678642"/>
                    <a:pt x="506817" y="3695700"/>
                    <a:pt x="485775" y="3695700"/>
                  </a:cubicBezTo>
                  <a:lnTo>
                    <a:pt x="38100" y="3695700"/>
                  </a:lnTo>
                  <a:cubicBezTo>
                    <a:pt x="17058" y="3695700"/>
                    <a:pt x="0" y="3678642"/>
                    <a:pt x="0" y="3657600"/>
                  </a:cubicBezTo>
                  <a:lnTo>
                    <a:pt x="0" y="38100"/>
                  </a:lnTo>
                  <a:cubicBezTo>
                    <a:pt x="0" y="17058"/>
                    <a:pt x="17058" y="0"/>
                    <a:pt x="38100" y="0"/>
                  </a:cubicBezTo>
                  <a:close/>
                </a:path>
              </a:pathLst>
            </a:custGeom>
            <a:gradFill>
              <a:gsLst>
                <a:gs pos="0">
                  <a:srgbClr val="16A34A"/>
                </a:gs>
                <a:gs pos="100000">
                  <a:srgbClr val="15803D"/>
                </a:gs>
              </a:gsLst>
              <a:lin ang="5400000" scaled="1"/>
            </a:gradFill>
            <a:ln>
              <a:noFill/>
            </a:ln>
          </p:spPr>
        </p:sp>
        <p:sp>
          <p:nvSpPr>
            <p:cNvPr id="65" name="TextBox 65"/>
            <p:cNvSpPr txBox="1"/>
            <p:nvPr/>
          </p:nvSpPr>
          <p:spPr>
            <a:xfrm>
              <a:off x="5830044" y="1409224"/>
              <a:ext cx="398562" cy="198120"/>
            </a:xfrm>
            <a:prstGeom prst="rect">
              <a:avLst/>
            </a:prstGeom>
            <a:noFill/>
            <a:ln>
              <a:noFill/>
            </a:ln>
          </p:spPr>
          <p:txBody>
            <a:bodyPr wrap="none" lIns="0" tIns="0" rIns="0" bIns="0" anchor="t" anchorCtr="0">
              <a:spAutoFit/>
            </a:bodyPr>
            <a:lstStyle/>
            <a:p>
              <a:pPr algn="ctr"/>
              <a:r>
                <a:rPr lang="zh-CN" sz="975" b="1" dirty="0">
                  <a:solidFill>
                    <a:srgbClr val="16A34A"/>
                  </a:solidFill>
                  <a:latin typeface="Arial"/>
                  <a:ea typeface="Microsoft YaHei"/>
                  <a:cs typeface="Arial"/>
                </a:rPr>
                <a:t>98.1%</a:t>
              </a:r>
            </a:p>
          </p:txBody>
        </p:sp>
        <p:sp>
          <p:nvSpPr>
            <p:cNvPr id="66" name="TextBox 66"/>
            <p:cNvSpPr txBox="1"/>
            <p:nvPr/>
          </p:nvSpPr>
          <p:spPr>
            <a:xfrm>
              <a:off x="5938623" y="5419249"/>
              <a:ext cx="181404" cy="198120"/>
            </a:xfrm>
            <a:prstGeom prst="rect">
              <a:avLst/>
            </a:prstGeom>
            <a:noFill/>
            <a:ln>
              <a:noFill/>
            </a:ln>
          </p:spPr>
          <p:txBody>
            <a:bodyPr wrap="none" lIns="0" tIns="0" rIns="0" bIns="0" anchor="t" anchorCtr="0">
              <a:spAutoFit/>
            </a:bodyPr>
            <a:lstStyle/>
            <a:p>
              <a:pPr algn="ctr"/>
              <a:r>
                <a:rPr lang="zh-CN" sz="975" dirty="0">
                  <a:solidFill>
                    <a:srgbClr val="6B7280"/>
                  </a:solidFill>
                  <a:latin typeface="Arial"/>
                  <a:ea typeface="Microsoft YaHei"/>
                  <a:cs typeface="Arial"/>
                </a:rPr>
                <a:t>RF</a:t>
              </a:r>
            </a:p>
          </p:txBody>
        </p:sp>
        <p:sp>
          <p:nvSpPr>
            <p:cNvPr id="67" name="Freeform 67"/>
            <p:cNvSpPr/>
            <p:nvPr/>
          </p:nvSpPr>
          <p:spPr>
            <a:xfrm>
              <a:off x="7334250" y="1666875"/>
              <a:ext cx="523875" cy="3619500"/>
            </a:xfrm>
            <a:custGeom>
              <a:avLst/>
              <a:gdLst/>
              <a:ahLst/>
              <a:cxnLst/>
              <a:rect l="l" t="t" r="r" b="b"/>
              <a:pathLst>
                <a:path w="523875" h="3619500">
                  <a:moveTo>
                    <a:pt x="38100" y="0"/>
                  </a:moveTo>
                  <a:lnTo>
                    <a:pt x="485775" y="0"/>
                  </a:lnTo>
                  <a:cubicBezTo>
                    <a:pt x="506817" y="0"/>
                    <a:pt x="523875" y="17058"/>
                    <a:pt x="523875" y="38100"/>
                  </a:cubicBezTo>
                  <a:lnTo>
                    <a:pt x="523875" y="3581400"/>
                  </a:lnTo>
                  <a:cubicBezTo>
                    <a:pt x="523875" y="3602442"/>
                    <a:pt x="506817" y="3619500"/>
                    <a:pt x="485775" y="3619500"/>
                  </a:cubicBezTo>
                  <a:lnTo>
                    <a:pt x="38100" y="3619500"/>
                  </a:lnTo>
                  <a:cubicBezTo>
                    <a:pt x="17058" y="3619500"/>
                    <a:pt x="0" y="3602442"/>
                    <a:pt x="0" y="3581400"/>
                  </a:cubicBezTo>
                  <a:lnTo>
                    <a:pt x="0" y="38100"/>
                  </a:lnTo>
                  <a:cubicBezTo>
                    <a:pt x="0" y="17058"/>
                    <a:pt x="17058" y="0"/>
                    <a:pt x="38100" y="0"/>
                  </a:cubicBezTo>
                  <a:close/>
                </a:path>
              </a:pathLst>
            </a:custGeom>
            <a:gradFill>
              <a:gsLst>
                <a:gs pos="0">
                  <a:srgbClr val="2196F3"/>
                </a:gs>
                <a:gs pos="100000">
                  <a:srgbClr val="1565C0"/>
                </a:gs>
              </a:gsLst>
              <a:lin ang="5400000" scaled="1"/>
            </a:gradFill>
            <a:ln>
              <a:noFill/>
            </a:ln>
          </p:spPr>
        </p:sp>
        <p:sp>
          <p:nvSpPr>
            <p:cNvPr id="68" name="TextBox 68"/>
            <p:cNvSpPr txBox="1"/>
            <p:nvPr/>
          </p:nvSpPr>
          <p:spPr>
            <a:xfrm>
              <a:off x="7382979" y="1485424"/>
              <a:ext cx="435941" cy="198120"/>
            </a:xfrm>
            <a:prstGeom prst="rect">
              <a:avLst/>
            </a:prstGeom>
            <a:noFill/>
            <a:ln>
              <a:noFill/>
            </a:ln>
          </p:spPr>
          <p:txBody>
            <a:bodyPr wrap="none" lIns="0" tIns="0" rIns="0" bIns="0" anchor="t" anchorCtr="0">
              <a:spAutoFit/>
            </a:bodyPr>
            <a:lstStyle/>
            <a:p>
              <a:pPr algn="ctr"/>
              <a:r>
                <a:rPr lang="zh-CN" sz="975" b="1" dirty="0">
                  <a:solidFill>
                    <a:srgbClr val="2196F3"/>
                  </a:solidFill>
                  <a:latin typeface="Arial"/>
                  <a:ea typeface="Microsoft YaHei"/>
                  <a:cs typeface="Arial"/>
                </a:rPr>
                <a:t>96.3%</a:t>
              </a:r>
            </a:p>
          </p:txBody>
        </p:sp>
        <p:sp>
          <p:nvSpPr>
            <p:cNvPr id="69" name="TextBox 69"/>
            <p:cNvSpPr txBox="1"/>
            <p:nvPr/>
          </p:nvSpPr>
          <p:spPr>
            <a:xfrm>
              <a:off x="7456849" y="5419249"/>
              <a:ext cx="288203" cy="198120"/>
            </a:xfrm>
            <a:prstGeom prst="rect">
              <a:avLst/>
            </a:prstGeom>
            <a:noFill/>
            <a:ln>
              <a:noFill/>
            </a:ln>
          </p:spPr>
          <p:txBody>
            <a:bodyPr wrap="none" lIns="0" tIns="0" rIns="0" bIns="0" anchor="t" anchorCtr="0">
              <a:spAutoFit/>
            </a:bodyPr>
            <a:lstStyle/>
            <a:p>
              <a:pPr algn="ctr"/>
              <a:r>
                <a:rPr lang="zh-CN" sz="975" dirty="0">
                  <a:solidFill>
                    <a:srgbClr val="6B7280"/>
                  </a:solidFill>
                  <a:latin typeface="Arial"/>
                  <a:ea typeface="Microsoft YaHei"/>
                  <a:cs typeface="Arial"/>
                </a:rPr>
                <a:t>MLP</a:t>
              </a:r>
            </a:p>
          </p:txBody>
        </p:sp>
        <p:sp>
          <p:nvSpPr>
            <p:cNvPr id="70" name="Freeform 70"/>
            <p:cNvSpPr/>
            <p:nvPr/>
          </p:nvSpPr>
          <p:spPr>
            <a:xfrm>
              <a:off x="8905875" y="1752600"/>
              <a:ext cx="523875" cy="3533775"/>
            </a:xfrm>
            <a:custGeom>
              <a:avLst/>
              <a:gdLst/>
              <a:ahLst/>
              <a:cxnLst/>
              <a:rect l="l" t="t" r="r" b="b"/>
              <a:pathLst>
                <a:path w="523875" h="3533775">
                  <a:moveTo>
                    <a:pt x="38100" y="0"/>
                  </a:moveTo>
                  <a:lnTo>
                    <a:pt x="485775" y="0"/>
                  </a:lnTo>
                  <a:cubicBezTo>
                    <a:pt x="506817" y="0"/>
                    <a:pt x="523875" y="17058"/>
                    <a:pt x="523875" y="38100"/>
                  </a:cubicBezTo>
                  <a:lnTo>
                    <a:pt x="523875" y="3495675"/>
                  </a:lnTo>
                  <a:cubicBezTo>
                    <a:pt x="523875" y="3516717"/>
                    <a:pt x="506817" y="3533775"/>
                    <a:pt x="485775" y="3533775"/>
                  </a:cubicBezTo>
                  <a:lnTo>
                    <a:pt x="38100" y="3533775"/>
                  </a:lnTo>
                  <a:cubicBezTo>
                    <a:pt x="17058" y="3533775"/>
                    <a:pt x="0" y="3516717"/>
                    <a:pt x="0" y="3495675"/>
                  </a:cubicBezTo>
                  <a:lnTo>
                    <a:pt x="0" y="38100"/>
                  </a:lnTo>
                  <a:cubicBezTo>
                    <a:pt x="0" y="17058"/>
                    <a:pt x="17058" y="0"/>
                    <a:pt x="38100" y="0"/>
                  </a:cubicBezTo>
                  <a:close/>
                </a:path>
              </a:pathLst>
            </a:custGeom>
            <a:gradFill>
              <a:gsLst>
                <a:gs pos="0">
                  <a:srgbClr val="4A90D9"/>
                </a:gs>
                <a:gs pos="100000">
                  <a:srgbClr val="1E5AA8"/>
                </a:gs>
              </a:gsLst>
              <a:lin ang="5400000" scaled="1"/>
            </a:gradFill>
            <a:ln>
              <a:noFill/>
            </a:ln>
          </p:spPr>
        </p:sp>
        <p:sp>
          <p:nvSpPr>
            <p:cNvPr id="71" name="TextBox 71"/>
            <p:cNvSpPr txBox="1"/>
            <p:nvPr/>
          </p:nvSpPr>
          <p:spPr>
            <a:xfrm>
              <a:off x="8954604" y="1571149"/>
              <a:ext cx="435941"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94.0%</a:t>
              </a:r>
            </a:p>
          </p:txBody>
        </p:sp>
        <p:sp>
          <p:nvSpPr>
            <p:cNvPr id="72" name="TextBox 72"/>
            <p:cNvSpPr txBox="1"/>
            <p:nvPr/>
          </p:nvSpPr>
          <p:spPr>
            <a:xfrm>
              <a:off x="8982194" y="5419249"/>
              <a:ext cx="380762" cy="198120"/>
            </a:xfrm>
            <a:prstGeom prst="rect">
              <a:avLst/>
            </a:prstGeom>
            <a:noFill/>
            <a:ln>
              <a:noFill/>
            </a:ln>
          </p:spPr>
          <p:txBody>
            <a:bodyPr wrap="none" lIns="0" tIns="0" rIns="0" bIns="0" anchor="t" anchorCtr="0">
              <a:spAutoFit/>
            </a:bodyPr>
            <a:lstStyle/>
            <a:p>
              <a:pPr algn="ctr"/>
              <a:r>
                <a:rPr lang="zh-CN" sz="975" dirty="0">
                  <a:solidFill>
                    <a:srgbClr val="6B7280"/>
                  </a:solidFill>
                  <a:latin typeface="Arial"/>
                  <a:ea typeface="Microsoft YaHei"/>
                  <a:cs typeface="Arial"/>
                </a:rPr>
                <a:t>CNN1D</a:t>
              </a:r>
            </a:p>
          </p:txBody>
        </p:sp>
        <p:sp>
          <p:nvSpPr>
            <p:cNvPr id="73" name="Freeform 73"/>
            <p:cNvSpPr/>
            <p:nvPr/>
          </p:nvSpPr>
          <p:spPr>
            <a:xfrm>
              <a:off x="10477500" y="1524000"/>
              <a:ext cx="523875" cy="3762375"/>
            </a:xfrm>
            <a:custGeom>
              <a:avLst/>
              <a:gdLst/>
              <a:ahLst/>
              <a:cxnLst/>
              <a:rect l="l" t="t" r="r" b="b"/>
              <a:pathLst>
                <a:path w="523875" h="3762375">
                  <a:moveTo>
                    <a:pt x="38100" y="0"/>
                  </a:moveTo>
                  <a:lnTo>
                    <a:pt x="485775" y="0"/>
                  </a:lnTo>
                  <a:cubicBezTo>
                    <a:pt x="506817" y="0"/>
                    <a:pt x="523875" y="17058"/>
                    <a:pt x="523875" y="38100"/>
                  </a:cubicBezTo>
                  <a:lnTo>
                    <a:pt x="523875" y="3724275"/>
                  </a:lnTo>
                  <a:cubicBezTo>
                    <a:pt x="523875" y="3745317"/>
                    <a:pt x="506817" y="3762375"/>
                    <a:pt x="485775" y="3762375"/>
                  </a:cubicBezTo>
                  <a:lnTo>
                    <a:pt x="38100" y="3762375"/>
                  </a:lnTo>
                  <a:cubicBezTo>
                    <a:pt x="17058" y="3762375"/>
                    <a:pt x="0" y="3745317"/>
                    <a:pt x="0" y="3724275"/>
                  </a:cubicBezTo>
                  <a:lnTo>
                    <a:pt x="0" y="38100"/>
                  </a:lnTo>
                  <a:cubicBezTo>
                    <a:pt x="0" y="17058"/>
                    <a:pt x="17058" y="0"/>
                    <a:pt x="38100" y="0"/>
                  </a:cubicBezTo>
                  <a:close/>
                </a:path>
              </a:pathLst>
            </a:custGeom>
            <a:solidFill>
              <a:srgbClr val="15803D"/>
            </a:solidFill>
            <a:ln>
              <a:noFill/>
            </a:ln>
          </p:spPr>
        </p:sp>
        <p:sp>
          <p:nvSpPr>
            <p:cNvPr id="74" name="TextBox 74"/>
            <p:cNvSpPr txBox="1"/>
            <p:nvPr/>
          </p:nvSpPr>
          <p:spPr>
            <a:xfrm>
              <a:off x="10586037" y="1342549"/>
              <a:ext cx="316326" cy="198120"/>
            </a:xfrm>
            <a:prstGeom prst="rect">
              <a:avLst/>
            </a:prstGeom>
            <a:noFill/>
            <a:ln>
              <a:noFill/>
            </a:ln>
          </p:spPr>
          <p:txBody>
            <a:bodyPr wrap="none" lIns="0" tIns="0" rIns="0" bIns="0" anchor="t" anchorCtr="0">
              <a:spAutoFit/>
            </a:bodyPr>
            <a:lstStyle/>
            <a:p>
              <a:pPr algn="ctr"/>
              <a:r>
                <a:rPr lang="zh-CN" sz="975" b="1" dirty="0">
                  <a:solidFill>
                    <a:srgbClr val="15803D"/>
                  </a:solidFill>
                  <a:latin typeface="Arial"/>
                  <a:ea typeface="Microsoft YaHei"/>
                  <a:cs typeface="Arial"/>
                </a:rPr>
                <a:t>100%</a:t>
              </a:r>
            </a:p>
          </p:txBody>
        </p:sp>
        <p:sp>
          <p:nvSpPr>
            <p:cNvPr id="75" name="TextBox 75"/>
            <p:cNvSpPr txBox="1"/>
            <p:nvPr/>
          </p:nvSpPr>
          <p:spPr>
            <a:xfrm>
              <a:off x="10555998" y="5435441"/>
              <a:ext cx="376404" cy="167640"/>
            </a:xfrm>
            <a:prstGeom prst="rect">
              <a:avLst/>
            </a:prstGeom>
            <a:noFill/>
            <a:ln>
              <a:noFill/>
            </a:ln>
          </p:spPr>
          <p:txBody>
            <a:bodyPr wrap="none" lIns="0" tIns="0" rIns="0" bIns="0" anchor="t" anchorCtr="0">
              <a:spAutoFit/>
            </a:bodyPr>
            <a:lstStyle/>
            <a:p>
              <a:pPr algn="ctr"/>
              <a:r>
                <a:rPr lang="zh-CN" sz="825" dirty="0">
                  <a:solidFill>
                    <a:srgbClr val="15803D"/>
                  </a:solidFill>
                  <a:latin typeface="Arial"/>
                  <a:ea typeface="Microsoft YaHei"/>
                  <a:cs typeface="Arial"/>
                </a:rPr>
                <a:t>Mach.</a:t>
              </a:r>
            </a:p>
          </p:txBody>
        </p:sp>
        <p:sp>
          <p:nvSpPr>
            <p:cNvPr id="76" name="TextBox 76"/>
            <p:cNvSpPr txBox="1"/>
            <p:nvPr/>
          </p:nvSpPr>
          <p:spPr>
            <a:xfrm>
              <a:off x="10667452" y="5559266"/>
              <a:ext cx="153495" cy="167640"/>
            </a:xfrm>
            <a:prstGeom prst="rect">
              <a:avLst/>
            </a:prstGeom>
            <a:noFill/>
            <a:ln>
              <a:noFill/>
            </a:ln>
          </p:spPr>
          <p:txBody>
            <a:bodyPr wrap="none" lIns="0" tIns="0" rIns="0" bIns="0" anchor="t" anchorCtr="0">
              <a:spAutoFit/>
            </a:bodyPr>
            <a:lstStyle/>
            <a:p>
              <a:pPr algn="ctr"/>
              <a:r>
                <a:rPr lang="zh-CN" sz="825" dirty="0">
                  <a:solidFill>
                    <a:srgbClr val="15803D"/>
                  </a:solidFill>
                  <a:latin typeface="Arial"/>
                  <a:ea typeface="Microsoft YaHei"/>
                  <a:cs typeface="Arial"/>
                </a:rPr>
                <a:t>RF</a:t>
              </a:r>
            </a:p>
          </p:txBody>
        </p:sp>
        <p:grpSp>
          <p:nvGrpSpPr>
            <p:cNvPr id="87" name="Group 87"/>
            <p:cNvGrpSpPr/>
            <p:nvPr/>
          </p:nvGrpSpPr>
          <p:grpSpPr>
            <a:xfrm>
              <a:off x="3810000" y="5857875"/>
              <a:ext cx="4151042" cy="192881"/>
              <a:chOff x="3810000" y="5857875"/>
              <a:chExt cx="4151042" cy="192881"/>
            </a:xfrm>
          </p:grpSpPr>
          <p:sp>
            <p:nvSpPr>
              <p:cNvPr id="77" name="Freeform 77"/>
              <p:cNvSpPr/>
              <p:nvPr/>
            </p:nvSpPr>
            <p:spPr>
              <a:xfrm>
                <a:off x="381000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D97706"/>
                  </a:gs>
                  <a:gs pos="100000">
                    <a:srgbClr val="B45309"/>
                  </a:gs>
                </a:gsLst>
                <a:lin ang="5400000" scaled="1"/>
              </a:gradFill>
              <a:ln>
                <a:noFill/>
              </a:ln>
            </p:spPr>
          </p:sp>
          <p:sp>
            <p:nvSpPr>
              <p:cNvPr id="78" name="TextBox 78"/>
              <p:cNvSpPr txBox="1"/>
              <p:nvPr/>
            </p:nvSpPr>
            <p:spPr>
              <a:xfrm>
                <a:off x="4009072" y="5883116"/>
                <a:ext cx="24386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SVM</a:t>
                </a:r>
              </a:p>
            </p:txBody>
          </p:sp>
          <p:sp>
            <p:nvSpPr>
              <p:cNvPr id="79" name="Freeform 79"/>
              <p:cNvSpPr/>
              <p:nvPr/>
            </p:nvSpPr>
            <p:spPr>
              <a:xfrm>
                <a:off x="447675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16A34A"/>
                  </a:gs>
                  <a:gs pos="100000">
                    <a:srgbClr val="15803D"/>
                  </a:gs>
                </a:gsLst>
                <a:lin ang="5400000" scaled="1"/>
              </a:gradFill>
              <a:ln>
                <a:noFill/>
              </a:ln>
            </p:spPr>
          </p:sp>
          <p:sp>
            <p:nvSpPr>
              <p:cNvPr id="80" name="TextBox 80"/>
              <p:cNvSpPr txBox="1"/>
              <p:nvPr/>
            </p:nvSpPr>
            <p:spPr>
              <a:xfrm>
                <a:off x="4675822" y="5883116"/>
                <a:ext cx="15349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RF</a:t>
                </a:r>
              </a:p>
            </p:txBody>
          </p:sp>
          <p:sp>
            <p:nvSpPr>
              <p:cNvPr id="81" name="Freeform 81"/>
              <p:cNvSpPr/>
              <p:nvPr/>
            </p:nvSpPr>
            <p:spPr>
              <a:xfrm>
                <a:off x="504825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2196F3"/>
                  </a:gs>
                  <a:gs pos="100000">
                    <a:srgbClr val="1565C0"/>
                  </a:gs>
                </a:gsLst>
                <a:lin ang="5400000" scaled="1"/>
              </a:gradFill>
              <a:ln>
                <a:noFill/>
              </a:ln>
            </p:spPr>
          </p:sp>
          <p:sp>
            <p:nvSpPr>
              <p:cNvPr id="82" name="TextBox 82"/>
              <p:cNvSpPr txBox="1"/>
              <p:nvPr/>
            </p:nvSpPr>
            <p:spPr>
              <a:xfrm>
                <a:off x="5247322" y="5883116"/>
                <a:ext cx="24386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MLP</a:t>
                </a:r>
              </a:p>
            </p:txBody>
          </p:sp>
          <p:sp>
            <p:nvSpPr>
              <p:cNvPr id="83" name="Freeform 83"/>
              <p:cNvSpPr/>
              <p:nvPr/>
            </p:nvSpPr>
            <p:spPr>
              <a:xfrm>
                <a:off x="571500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4A90D9"/>
                  </a:gs>
                  <a:gs pos="100000">
                    <a:srgbClr val="1E5AA8"/>
                  </a:gs>
                </a:gsLst>
                <a:lin ang="5400000" scaled="1"/>
              </a:gradFill>
              <a:ln>
                <a:noFill/>
              </a:ln>
            </p:spPr>
          </p:sp>
          <p:sp>
            <p:nvSpPr>
              <p:cNvPr id="84" name="TextBox 84"/>
              <p:cNvSpPr txBox="1"/>
              <p:nvPr/>
            </p:nvSpPr>
            <p:spPr>
              <a:xfrm>
                <a:off x="5914072" y="5883116"/>
                <a:ext cx="322183"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CNN1D</a:t>
                </a:r>
              </a:p>
            </p:txBody>
          </p:sp>
          <p:sp>
            <p:nvSpPr>
              <p:cNvPr id="85" name="Freeform 85"/>
              <p:cNvSpPr/>
              <p:nvPr/>
            </p:nvSpPr>
            <p:spPr>
              <a:xfrm>
                <a:off x="657225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solidFill>
                <a:srgbClr val="15803D"/>
              </a:solidFill>
              <a:ln>
                <a:noFill/>
              </a:ln>
            </p:spPr>
          </p:sp>
          <p:sp>
            <p:nvSpPr>
              <p:cNvPr id="86" name="TextBox 86"/>
              <p:cNvSpPr txBox="1"/>
              <p:nvPr/>
            </p:nvSpPr>
            <p:spPr>
              <a:xfrm>
                <a:off x="6771322" y="5883116"/>
                <a:ext cx="118972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Machinery RF (子集)</a:t>
                </a:r>
              </a:p>
            </p:txBody>
          </p:sp>
        </p:grpSp>
        <p:sp>
          <p:nvSpPr>
            <p:cNvPr id="88" name="Freeform 88"/>
            <p:cNvSpPr/>
            <p:nvPr/>
          </p:nvSpPr>
          <p:spPr>
            <a:xfrm>
              <a:off x="3810000" y="6143625"/>
              <a:ext cx="7239000" cy="523875"/>
            </a:xfrm>
            <a:custGeom>
              <a:avLst/>
              <a:gdLst/>
              <a:ahLst/>
              <a:cxnLst/>
              <a:rect l="l" t="t" r="r" b="b"/>
              <a:pathLst>
                <a:path w="7239000" h="523875">
                  <a:moveTo>
                    <a:pt x="76200" y="0"/>
                  </a:moveTo>
                  <a:lnTo>
                    <a:pt x="7162800" y="0"/>
                  </a:lnTo>
                  <a:cubicBezTo>
                    <a:pt x="7204884" y="0"/>
                    <a:pt x="7239000" y="34116"/>
                    <a:pt x="7239000" y="76200"/>
                  </a:cubicBezTo>
                  <a:lnTo>
                    <a:pt x="7239000" y="447675"/>
                  </a:lnTo>
                  <a:cubicBezTo>
                    <a:pt x="7239000" y="489759"/>
                    <a:pt x="7204884" y="523875"/>
                    <a:pt x="7162800" y="523875"/>
                  </a:cubicBezTo>
                  <a:lnTo>
                    <a:pt x="76200" y="523875"/>
                  </a:lnTo>
                  <a:cubicBezTo>
                    <a:pt x="34116" y="523875"/>
                    <a:pt x="0" y="489759"/>
                    <a:pt x="0" y="447675"/>
                  </a:cubicBezTo>
                  <a:lnTo>
                    <a:pt x="0" y="76200"/>
                  </a:lnTo>
                  <a:cubicBezTo>
                    <a:pt x="0" y="34116"/>
                    <a:pt x="34116" y="0"/>
                    <a:pt x="76200" y="0"/>
                  </a:cubicBezTo>
                  <a:close/>
                </a:path>
              </a:pathLst>
            </a:custGeom>
            <a:solidFill>
              <a:srgbClr val="F8FAFC"/>
            </a:solidFill>
            <a:ln w="9525">
              <a:solidFill>
                <a:srgbClr val="E5E7EB"/>
              </a:solidFill>
            </a:ln>
          </p:spPr>
        </p:sp>
        <p:sp>
          <p:nvSpPr>
            <p:cNvPr id="89" name="TextBox 89"/>
            <p:cNvSpPr txBox="1"/>
            <p:nvPr/>
          </p:nvSpPr>
          <p:spPr>
            <a:xfrm>
              <a:off x="3988118" y="6276499"/>
              <a:ext cx="3463695" cy="198120"/>
            </a:xfrm>
            <a:prstGeom prst="rect">
              <a:avLst/>
            </a:prstGeom>
            <a:noFill/>
            <a:ln>
              <a:noFill/>
            </a:ln>
          </p:spPr>
          <p:txBody>
            <a:bodyPr wrap="none" lIns="0" tIns="0" rIns="0" bIns="0" anchor="t" anchorCtr="0">
              <a:spAutoFit/>
            </a:bodyPr>
            <a:lstStyle/>
            <a:p>
              <a:pPr algn="l"/>
              <a:r>
                <a:rPr lang="zh-CN" sz="975" b="1" dirty="0">
                  <a:solidFill>
                    <a:srgbClr val="15803D"/>
                  </a:solidFill>
                  <a:latin typeface="Arial"/>
                  <a:ea typeface="Microsoft YaHei"/>
                  <a:cs typeface="Arial"/>
                </a:rPr>
                <a:t>注：整体指标为统一模型在全类型数据上的综合表现</a:t>
              </a:r>
            </a:p>
          </p:txBody>
        </p:sp>
        <p:sp>
          <p:nvSpPr>
            <p:cNvPr id="90" name="TextBox 90"/>
            <p:cNvSpPr txBox="1"/>
            <p:nvPr/>
          </p:nvSpPr>
          <p:spPr>
            <a:xfrm>
              <a:off x="3989070" y="6475095"/>
              <a:ext cx="462343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四个基础模型采用统一的特征工程和模型架构，并非每个报告对应一个独立模型</a:t>
              </a:r>
            </a:p>
          </p:txBody>
        </p:sp>
      </p:grpSp>
      <p:sp>
        <p:nvSpPr>
          <p:cNvPr id="92" name="TextBox 92"/>
          <p:cNvSpPr txBox="1"/>
          <p:nvPr/>
        </p:nvSpPr>
        <p:spPr>
          <a:xfrm>
            <a:off x="560070" y="6570345"/>
            <a:ext cx="43034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09 / 16</a:t>
            </a:r>
          </a:p>
        </p:txBody>
      </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92400E"/>
              </a:gs>
              <a:gs pos="100000">
                <a:srgbClr val="6B2A06"/>
              </a:gs>
            </a:gsLst>
            <a:lin ang="5400000" scaled="1"/>
          </a:gradFill>
          <a:ln>
            <a:noFill/>
          </a:ln>
        </p:spPr>
      </p:sp>
      <p:sp>
        <p:nvSpPr>
          <p:cNvPr id="3" name="TextBox 3"/>
          <p:cNvSpPr txBox="1"/>
          <p:nvPr/>
        </p:nvSpPr>
        <p:spPr>
          <a:xfrm>
            <a:off x="1009650" y="2200275"/>
            <a:ext cx="2037921" cy="2133600"/>
          </a:xfrm>
          <a:prstGeom prst="rect">
            <a:avLst/>
          </a:prstGeom>
          <a:noFill/>
          <a:ln>
            <a:noFill/>
          </a:ln>
        </p:spPr>
        <p:txBody>
          <a:bodyPr wrap="none" lIns="0" tIns="0" rIns="0" bIns="0" anchor="t" anchorCtr="0">
            <a:spAutoFit/>
          </a:bodyPr>
          <a:lstStyle/>
          <a:p>
            <a:pPr algn="l"/>
            <a:r>
              <a:rPr lang="zh-CN" sz="10500" b="1" dirty="0">
                <a:solidFill>
                  <a:srgbClr val="FFFFFF">
                    <a:alpha val="8000"/>
                  </a:srgbClr>
                </a:solidFill>
                <a:latin typeface="Arial"/>
                <a:ea typeface="Microsoft YaHei"/>
                <a:cs typeface="Arial"/>
              </a:rPr>
              <a:t>03</a:t>
            </a:r>
          </a:p>
        </p:txBody>
      </p:sp>
      <p:sp>
        <p:nvSpPr>
          <p:cNvPr id="4" name="Freeform 4"/>
          <p:cNvSpPr/>
          <p:nvPr/>
        </p:nvSpPr>
        <p:spPr>
          <a:xfrm>
            <a:off x="762000" y="2095500"/>
            <a:ext cx="57150" cy="1905000"/>
          </a:xfrm>
          <a:custGeom>
            <a:avLst/>
            <a:gdLst/>
            <a:ahLst/>
            <a:cxnLst/>
            <a:rect l="l" t="t" r="r" b="b"/>
            <a:pathLst>
              <a:path w="57150" h="1905000">
                <a:moveTo>
                  <a:pt x="28575" y="0"/>
                </a:moveTo>
                <a:lnTo>
                  <a:pt x="28575" y="0"/>
                </a:lnTo>
                <a:cubicBezTo>
                  <a:pt x="44357" y="0"/>
                  <a:pt x="57150" y="12793"/>
                  <a:pt x="57150" y="28575"/>
                </a:cubicBezTo>
                <a:lnTo>
                  <a:pt x="57150" y="1876425"/>
                </a:lnTo>
                <a:cubicBezTo>
                  <a:pt x="57150" y="1892207"/>
                  <a:pt x="44357" y="1905000"/>
                  <a:pt x="28575" y="1905000"/>
                </a:cubicBezTo>
                <a:lnTo>
                  <a:pt x="28575" y="1905000"/>
                </a:lnTo>
                <a:cubicBezTo>
                  <a:pt x="12793" y="1905000"/>
                  <a:pt x="0" y="1892207"/>
                  <a:pt x="0" y="1876425"/>
                </a:cubicBezTo>
                <a:lnTo>
                  <a:pt x="0" y="28575"/>
                </a:lnTo>
                <a:cubicBezTo>
                  <a:pt x="0" y="12793"/>
                  <a:pt x="12793" y="0"/>
                  <a:pt x="28575" y="0"/>
                </a:cubicBezTo>
                <a:close/>
              </a:path>
            </a:pathLst>
          </a:custGeom>
          <a:solidFill>
            <a:srgbClr val="D97706"/>
          </a:solidFill>
          <a:ln>
            <a:noFill/>
          </a:ln>
        </p:spPr>
      </p:sp>
      <p:sp>
        <p:nvSpPr>
          <p:cNvPr id="5" name="TextBox 5"/>
          <p:cNvSpPr txBox="1"/>
          <p:nvPr/>
        </p:nvSpPr>
        <p:spPr>
          <a:xfrm>
            <a:off x="1104900" y="2724150"/>
            <a:ext cx="5136832"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冶金设施热毁伤代理模型</a:t>
            </a:r>
          </a:p>
        </p:txBody>
      </p:sp>
      <p:sp>
        <p:nvSpPr>
          <p:cNvPr id="6" name="TextBox 6"/>
          <p:cNvSpPr txBox="1"/>
          <p:nvPr/>
        </p:nvSpPr>
        <p:spPr>
          <a:xfrm>
            <a:off x="1123950" y="3362325"/>
            <a:ext cx="2480786" cy="304800"/>
          </a:xfrm>
          <a:prstGeom prst="rect">
            <a:avLst/>
          </a:prstGeom>
          <a:noFill/>
          <a:ln>
            <a:noFill/>
          </a:ln>
        </p:spPr>
        <p:txBody>
          <a:bodyPr wrap="none" lIns="0" tIns="0" rIns="0" bIns="0" anchor="t" anchorCtr="0">
            <a:spAutoFit/>
          </a:bodyPr>
          <a:lstStyle/>
          <a:p>
            <a:pPr algn="l"/>
            <a:r>
              <a:rPr lang="zh-CN" sz="1500" dirty="0">
                <a:solidFill>
                  <a:srgbClr val="FCD34D"/>
                </a:solidFill>
                <a:latin typeface="Arial"/>
                <a:ea typeface="Microsoft YaHei"/>
                <a:cs typeface="Arial"/>
              </a:rPr>
              <a:t>Metallurgical Facilities</a:t>
            </a:r>
          </a:p>
        </p:txBody>
      </p:sp>
      <p:sp>
        <p:nvSpPr>
          <p:cNvPr id="7" name="Freeform 7"/>
          <p:cNvSpPr/>
          <p:nvPr/>
        </p:nvSpPr>
        <p:spPr>
          <a:xfrm>
            <a:off x="1143000" y="3762375"/>
            <a:ext cx="2857500" cy="19050"/>
          </a:xfrm>
          <a:custGeom>
            <a:avLst/>
            <a:gdLst/>
            <a:ahLst/>
            <a:cxnLst/>
            <a:rect l="l" t="t" r="r" b="b"/>
            <a:pathLst>
              <a:path w="2857500" h="19050">
                <a:moveTo>
                  <a:pt x="9525" y="0"/>
                </a:moveTo>
                <a:lnTo>
                  <a:pt x="2847975" y="0"/>
                </a:lnTo>
                <a:cubicBezTo>
                  <a:pt x="2853236" y="0"/>
                  <a:pt x="2857500" y="4264"/>
                  <a:pt x="2857500" y="9525"/>
                </a:cubicBezTo>
                <a:lnTo>
                  <a:pt x="2857500" y="9525"/>
                </a:lnTo>
                <a:cubicBezTo>
                  <a:pt x="2857500" y="14786"/>
                  <a:pt x="2853236" y="19050"/>
                  <a:pt x="2847975" y="19050"/>
                </a:cubicBezTo>
                <a:lnTo>
                  <a:pt x="9525" y="19050"/>
                </a:lnTo>
                <a:cubicBezTo>
                  <a:pt x="4264" y="19050"/>
                  <a:pt x="0" y="14786"/>
                  <a:pt x="0" y="9525"/>
                </a:cubicBezTo>
                <a:lnTo>
                  <a:pt x="0" y="9525"/>
                </a:lnTo>
                <a:cubicBezTo>
                  <a:pt x="0" y="4264"/>
                  <a:pt x="4264" y="0"/>
                  <a:pt x="9525" y="0"/>
                </a:cubicBezTo>
                <a:close/>
              </a:path>
            </a:pathLst>
          </a:custGeom>
          <a:solidFill>
            <a:srgbClr val="D97706">
              <a:alpha val="40000"/>
            </a:srgbClr>
          </a:solidFill>
          <a:ln>
            <a:noFill/>
          </a:ln>
        </p:spPr>
      </p:sp>
      <p:sp>
        <p:nvSpPr>
          <p:cNvPr id="8" name="TextBox 8"/>
          <p:cNvSpPr txBox="1"/>
          <p:nvPr/>
        </p:nvSpPr>
        <p:spPr>
          <a:xfrm>
            <a:off x="1127760" y="3966210"/>
            <a:ext cx="4166616" cy="243840"/>
          </a:xfrm>
          <a:prstGeom prst="rect">
            <a:avLst/>
          </a:prstGeom>
          <a:noFill/>
          <a:ln>
            <a:noFill/>
          </a:ln>
        </p:spPr>
        <p:txBody>
          <a:bodyPr wrap="none" lIns="0" tIns="0" rIns="0" bIns="0" anchor="t" anchorCtr="0">
            <a:spAutoFit/>
          </a:bodyPr>
          <a:lstStyle/>
          <a:p>
            <a:pPr algn="l"/>
            <a:r>
              <a:rPr lang="zh-CN" sz="1200" dirty="0">
                <a:solidFill>
                  <a:srgbClr val="6B7280"/>
                </a:solidFill>
                <a:latin typeface="Arial"/>
                <a:ea typeface="Microsoft YaHei"/>
                <a:cs typeface="Arial"/>
              </a:rPr>
              <a:t>电解工厂 · 专用电厂 · 钢铁厂 · 钽精炼厂 · 金精炼厂</a:t>
            </a:r>
          </a:p>
        </p:txBody>
      </p:sp>
      <p:grpSp>
        <p:nvGrpSpPr>
          <p:cNvPr id="12" name="Group 12"/>
          <p:cNvGrpSpPr/>
          <p:nvPr/>
        </p:nvGrpSpPr>
        <p:grpSpPr>
          <a:xfrm>
            <a:off x="8763000" y="2095500"/>
            <a:ext cx="1524000" cy="1524000"/>
            <a:chOff x="8763000" y="2095500"/>
            <a:chExt cx="1524000" cy="1524000"/>
          </a:xfrm>
        </p:grpSpPr>
        <p:sp>
          <p:nvSpPr>
            <p:cNvPr id="9" name="Ellipse 9"/>
            <p:cNvSpPr/>
            <p:nvPr/>
          </p:nvSpPr>
          <p:spPr>
            <a:xfrm>
              <a:off x="8763000" y="2095500"/>
              <a:ext cx="1524000" cy="1524000"/>
            </a:xfrm>
            <a:prstGeom prst="ellipse">
              <a:avLst/>
            </a:prstGeom>
            <a:solidFill>
              <a:srgbClr val="D97706">
                <a:alpha val="5000"/>
              </a:srgbClr>
            </a:solidFill>
            <a:ln>
              <a:noFill/>
            </a:ln>
          </p:spPr>
        </p:sp>
        <p:sp>
          <p:nvSpPr>
            <p:cNvPr id="10" name="Ellipse 10"/>
            <p:cNvSpPr/>
            <p:nvPr/>
          </p:nvSpPr>
          <p:spPr>
            <a:xfrm>
              <a:off x="9048750" y="2381250"/>
              <a:ext cx="952500" cy="952500"/>
            </a:xfrm>
            <a:prstGeom prst="ellipse">
              <a:avLst/>
            </a:prstGeom>
            <a:solidFill>
              <a:srgbClr val="D97706">
                <a:alpha val="8000"/>
              </a:srgbClr>
            </a:solidFill>
            <a:ln>
              <a:noFill/>
            </a:ln>
          </p:spPr>
        </p:sp>
        <p:sp>
          <p:nvSpPr>
            <p:cNvPr id="11" name="Ellipse 11"/>
            <p:cNvSpPr/>
            <p:nvPr/>
          </p:nvSpPr>
          <p:spPr>
            <a:xfrm>
              <a:off x="9286875" y="2619375"/>
              <a:ext cx="476250" cy="476250"/>
            </a:xfrm>
            <a:prstGeom prst="ellipse">
              <a:avLst/>
            </a:prstGeom>
            <a:solidFill>
              <a:srgbClr val="D97706">
                <a:alpha val="15000"/>
              </a:srgbClr>
            </a:solidFill>
            <a:ln>
              <a:noFill/>
            </a:ln>
          </p:spPr>
        </p:sp>
      </p:grpSp>
      <p:sp>
        <p:nvSpPr>
          <p:cNvPr id="13" name="TextBox 13"/>
          <p:cNvSpPr txBox="1"/>
          <p:nvPr/>
        </p:nvSpPr>
        <p:spPr>
          <a:xfrm>
            <a:off x="11170110" y="6506528"/>
            <a:ext cx="463725" cy="213360"/>
          </a:xfrm>
          <a:prstGeom prst="rect">
            <a:avLst/>
          </a:prstGeom>
          <a:noFill/>
          <a:ln>
            <a:noFill/>
          </a:ln>
        </p:spPr>
        <p:txBody>
          <a:bodyPr wrap="none" lIns="0" tIns="0" rIns="0" bIns="0" anchor="t" anchorCtr="0">
            <a:spAutoFit/>
          </a:bodyPr>
          <a:lstStyle/>
          <a:p>
            <a:pPr algn="r"/>
            <a:r>
              <a:rPr lang="zh-CN" sz="1050" dirty="0">
                <a:solidFill>
                  <a:srgbClr val="FCD34D">
                    <a:alpha val="60000"/>
                  </a:srgbClr>
                </a:solidFill>
                <a:latin typeface="Arial"/>
                <a:ea typeface="Microsoft YaHei"/>
                <a:cs typeface="Arial"/>
              </a:rPr>
              <a:t>10 / 16</a:t>
            </a:r>
          </a:p>
        </p:txBody>
      </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92400E"/>
          </a:solidFill>
          <a:ln>
            <a:noFill/>
          </a:ln>
        </p:spPr>
      </p:sp>
      <p:sp>
        <p:nvSpPr>
          <p:cNvPr id="4" name="TextBox 4"/>
          <p:cNvSpPr txBox="1"/>
          <p:nvPr/>
        </p:nvSpPr>
        <p:spPr>
          <a:xfrm>
            <a:off x="550545" y="183832"/>
            <a:ext cx="1990254"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3.1 数据体系建设</a:t>
            </a:r>
          </a:p>
        </p:txBody>
      </p:sp>
      <p:sp>
        <p:nvSpPr>
          <p:cNvPr id="5" name="TextBox 5"/>
          <p:cNvSpPr txBox="1"/>
          <p:nvPr/>
        </p:nvSpPr>
        <p:spPr>
          <a:xfrm>
            <a:off x="10993755" y="248602"/>
            <a:ext cx="640080" cy="213360"/>
          </a:xfrm>
          <a:prstGeom prst="rect">
            <a:avLst/>
          </a:prstGeom>
          <a:noFill/>
          <a:ln>
            <a:noFill/>
          </a:ln>
        </p:spPr>
        <p:txBody>
          <a:bodyPr wrap="none" lIns="0" tIns="0" rIns="0" bIns="0" anchor="t" anchorCtr="0">
            <a:spAutoFit/>
          </a:bodyPr>
          <a:lstStyle/>
          <a:p>
            <a:pPr algn="r"/>
            <a:r>
              <a:rPr lang="zh-CN" sz="1050" dirty="0">
                <a:solidFill>
                  <a:srgbClr val="FDE68A"/>
                </a:solidFill>
                <a:latin typeface="Arial"/>
                <a:ea typeface="Microsoft YaHei"/>
                <a:cs typeface="Arial"/>
              </a:rPr>
              <a:t>冶金设施</a:t>
            </a:r>
          </a:p>
        </p:txBody>
      </p:sp>
      <p:grpSp>
        <p:nvGrpSpPr>
          <p:cNvPr id="37" name="Group 37"/>
          <p:cNvGrpSpPr/>
          <p:nvPr/>
        </p:nvGrpSpPr>
        <p:grpSpPr>
          <a:xfrm>
            <a:off x="558165" y="809625"/>
            <a:ext cx="3751135" cy="6153150"/>
            <a:chOff x="558165" y="809625"/>
            <a:chExt cx="3751135" cy="6153150"/>
          </a:xfrm>
        </p:grpSpPr>
        <p:sp>
          <p:nvSpPr>
            <p:cNvPr id="6" name="Freeform 6"/>
            <p:cNvSpPr/>
            <p:nvPr/>
          </p:nvSpPr>
          <p:spPr>
            <a:xfrm>
              <a:off x="571500" y="809625"/>
              <a:ext cx="3429000" cy="952500"/>
            </a:xfrm>
            <a:custGeom>
              <a:avLst/>
              <a:gdLst/>
              <a:ahLst/>
              <a:cxnLst/>
              <a:rect l="l" t="t" r="r" b="b"/>
              <a:pathLst>
                <a:path w="3429000" h="952500">
                  <a:moveTo>
                    <a:pt x="76200" y="0"/>
                  </a:moveTo>
                  <a:lnTo>
                    <a:pt x="3352800" y="0"/>
                  </a:lnTo>
                  <a:cubicBezTo>
                    <a:pt x="3394884" y="0"/>
                    <a:pt x="3429000" y="34116"/>
                    <a:pt x="3429000" y="76200"/>
                  </a:cubicBezTo>
                  <a:lnTo>
                    <a:pt x="3429000" y="876300"/>
                  </a:lnTo>
                  <a:cubicBezTo>
                    <a:pt x="3429000" y="918384"/>
                    <a:pt x="3394884" y="952500"/>
                    <a:pt x="3352800" y="952500"/>
                  </a:cubicBezTo>
                  <a:lnTo>
                    <a:pt x="76200" y="952500"/>
                  </a:lnTo>
                  <a:cubicBezTo>
                    <a:pt x="34116" y="952500"/>
                    <a:pt x="0" y="918384"/>
                    <a:pt x="0" y="876300"/>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7" name="TextBox 7"/>
            <p:cNvSpPr txBox="1"/>
            <p:nvPr/>
          </p:nvSpPr>
          <p:spPr>
            <a:xfrm>
              <a:off x="748665" y="962978"/>
              <a:ext cx="670750"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设施配置</a:t>
              </a:r>
            </a:p>
          </p:txBody>
        </p:sp>
        <p:sp>
          <p:nvSpPr>
            <p:cNvPr id="8" name="TextBox 8"/>
            <p:cNvSpPr txBox="1"/>
            <p:nvPr/>
          </p:nvSpPr>
          <p:spPr>
            <a:xfrm>
              <a:off x="749618" y="1209199"/>
              <a:ext cx="2004108"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metallurgical_facilities.json</a:t>
              </a:r>
            </a:p>
          </p:txBody>
        </p:sp>
        <p:sp>
          <p:nvSpPr>
            <p:cNvPr id="9" name="TextBox 9"/>
            <p:cNvSpPr txBox="1"/>
            <p:nvPr/>
          </p:nvSpPr>
          <p:spPr>
            <a:xfrm>
              <a:off x="750570" y="1426845"/>
              <a:ext cx="355873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5类子目标 · 电解工厂/专用电厂/钢铁厂/钽精炼厂/金精炼厂</a:t>
              </a:r>
            </a:p>
          </p:txBody>
        </p:sp>
        <p:sp>
          <p:nvSpPr>
            <p:cNvPr id="10" name="Freeform 10"/>
            <p:cNvSpPr/>
            <p:nvPr/>
          </p:nvSpPr>
          <p:spPr>
            <a:xfrm>
              <a:off x="571500" y="1905000"/>
              <a:ext cx="3429000" cy="857250"/>
            </a:xfrm>
            <a:custGeom>
              <a:avLst/>
              <a:gdLst/>
              <a:ahLst/>
              <a:cxnLst/>
              <a:rect l="l" t="t" r="r" b="b"/>
              <a:pathLst>
                <a:path w="3429000" h="857250">
                  <a:moveTo>
                    <a:pt x="76200" y="0"/>
                  </a:moveTo>
                  <a:lnTo>
                    <a:pt x="3352800" y="0"/>
                  </a:lnTo>
                  <a:cubicBezTo>
                    <a:pt x="3394884" y="0"/>
                    <a:pt x="3429000" y="34116"/>
                    <a:pt x="3429000" y="76200"/>
                  </a:cubicBezTo>
                  <a:lnTo>
                    <a:pt x="3429000" y="781050"/>
                  </a:lnTo>
                  <a:cubicBezTo>
                    <a:pt x="3429000" y="823134"/>
                    <a:pt x="3394884" y="857250"/>
                    <a:pt x="3352800" y="857250"/>
                  </a:cubicBezTo>
                  <a:lnTo>
                    <a:pt x="76200" y="857250"/>
                  </a:lnTo>
                  <a:cubicBezTo>
                    <a:pt x="34116" y="857250"/>
                    <a:pt x="0" y="823134"/>
                    <a:pt x="0" y="781050"/>
                  </a:cubicBezTo>
                  <a:lnTo>
                    <a:pt x="0" y="76200"/>
                  </a:lnTo>
                  <a:cubicBezTo>
                    <a:pt x="0" y="34116"/>
                    <a:pt x="34116" y="0"/>
                    <a:pt x="76200" y="0"/>
                  </a:cubicBezTo>
                  <a:close/>
                </a:path>
              </a:pathLst>
            </a:custGeom>
            <a:solidFill>
              <a:srgbClr val="FEF3C7"/>
            </a:solidFill>
            <a:ln w="14288">
              <a:solidFill>
                <a:srgbClr val="D97706"/>
              </a:solidFill>
            </a:ln>
          </p:spPr>
        </p:sp>
        <p:sp>
          <p:nvSpPr>
            <p:cNvPr id="11" name="TextBox 11"/>
            <p:cNvSpPr txBox="1"/>
            <p:nvPr/>
          </p:nvSpPr>
          <p:spPr>
            <a:xfrm>
              <a:off x="749618" y="2085499"/>
              <a:ext cx="1071396"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场景复杂度最高</a:t>
              </a:r>
            </a:p>
          </p:txBody>
        </p:sp>
        <p:sp>
          <p:nvSpPr>
            <p:cNvPr id="12" name="TextBox 12"/>
            <p:cNvSpPr txBox="1"/>
            <p:nvPr/>
          </p:nvSpPr>
          <p:spPr>
            <a:xfrm>
              <a:off x="750570" y="2303145"/>
              <a:ext cx="3440430" cy="182880"/>
            </a:xfrm>
            <a:prstGeom prst="rect">
              <a:avLst/>
            </a:prstGeom>
            <a:noFill/>
            <a:ln>
              <a:noFill/>
            </a:ln>
          </p:spPr>
          <p:txBody>
            <a:bodyPr wrap="none" lIns="0" tIns="0" rIns="0" bIns="0" anchor="t" anchorCtr="0">
              <a:spAutoFit/>
            </a:bodyPr>
            <a:lstStyle/>
            <a:p>
              <a:pPr algn="l"/>
              <a:r>
                <a:rPr lang="zh-CN" sz="900" dirty="0">
                  <a:solidFill>
                    <a:srgbClr val="78350F"/>
                  </a:solidFill>
                  <a:latin typeface="Arial"/>
                  <a:ea typeface="Microsoft YaHei"/>
                  <a:cs typeface="Arial"/>
                </a:rPr>
                <a:t>涵盖电解工厂、专用电厂、钢铁厂、精炼厂等多种工艺建筑</a:t>
              </a:r>
            </a:p>
          </p:txBody>
        </p:sp>
        <p:sp>
          <p:nvSpPr>
            <p:cNvPr id="13" name="TextBox 13"/>
            <p:cNvSpPr txBox="1"/>
            <p:nvPr/>
          </p:nvSpPr>
          <p:spPr>
            <a:xfrm>
              <a:off x="750570" y="2493645"/>
              <a:ext cx="2520315" cy="182880"/>
            </a:xfrm>
            <a:prstGeom prst="rect">
              <a:avLst/>
            </a:prstGeom>
            <a:noFill/>
            <a:ln>
              <a:noFill/>
            </a:ln>
          </p:spPr>
          <p:txBody>
            <a:bodyPr wrap="none" lIns="0" tIns="0" rIns="0" bIns="0" anchor="t" anchorCtr="0">
              <a:spAutoFit/>
            </a:bodyPr>
            <a:lstStyle/>
            <a:p>
              <a:pPr algn="l"/>
              <a:r>
                <a:rPr lang="zh-CN" sz="900" dirty="0">
                  <a:solidFill>
                    <a:srgbClr val="78350F"/>
                  </a:solidFill>
                  <a:latin typeface="Arial"/>
                  <a:ea typeface="Microsoft YaHei"/>
                  <a:cs typeface="Arial"/>
                </a:rPr>
                <a:t>子目标之间建筑规模、可燃物差异最为显著</a:t>
              </a:r>
            </a:p>
          </p:txBody>
        </p:sp>
        <p:sp>
          <p:nvSpPr>
            <p:cNvPr id="14" name="Freeform 14"/>
            <p:cNvSpPr/>
            <p:nvPr/>
          </p:nvSpPr>
          <p:spPr>
            <a:xfrm>
              <a:off x="571500" y="2905125"/>
              <a:ext cx="3429000" cy="904875"/>
            </a:xfrm>
            <a:custGeom>
              <a:avLst/>
              <a:gdLst/>
              <a:ahLst/>
              <a:cxnLst/>
              <a:rect l="l" t="t" r="r" b="b"/>
              <a:pathLst>
                <a:path w="3429000" h="904875">
                  <a:moveTo>
                    <a:pt x="76200" y="0"/>
                  </a:moveTo>
                  <a:lnTo>
                    <a:pt x="3352800" y="0"/>
                  </a:lnTo>
                  <a:cubicBezTo>
                    <a:pt x="3394884" y="0"/>
                    <a:pt x="3429000" y="34116"/>
                    <a:pt x="3429000" y="76200"/>
                  </a:cubicBezTo>
                  <a:lnTo>
                    <a:pt x="3429000" y="828675"/>
                  </a:lnTo>
                  <a:cubicBezTo>
                    <a:pt x="3429000" y="870759"/>
                    <a:pt x="3394884" y="904875"/>
                    <a:pt x="3352800" y="904875"/>
                  </a:cubicBezTo>
                  <a:lnTo>
                    <a:pt x="76200" y="904875"/>
                  </a:lnTo>
                  <a:cubicBezTo>
                    <a:pt x="34116" y="904875"/>
                    <a:pt x="0" y="870759"/>
                    <a:pt x="0" y="828675"/>
                  </a:cubicBezTo>
                  <a:lnTo>
                    <a:pt x="0" y="76200"/>
                  </a:lnTo>
                  <a:cubicBezTo>
                    <a:pt x="0" y="34116"/>
                    <a:pt x="34116" y="0"/>
                    <a:pt x="76200" y="0"/>
                  </a:cubicBezTo>
                  <a:close/>
                </a:path>
              </a:pathLst>
            </a:custGeom>
            <a:gradFill>
              <a:gsLst>
                <a:gs pos="0">
                  <a:srgbClr val="F8FAFC"/>
                </a:gs>
                <a:gs pos="100000">
                  <a:srgbClr val="FFFFFF"/>
                </a:gs>
              </a:gsLst>
              <a:lin ang="5400000" scaled="1"/>
            </a:gradFill>
            <a:ln w="9525">
              <a:solidFill>
                <a:srgbClr val="E5E7EB"/>
              </a:solidFill>
            </a:ln>
          </p:spPr>
        </p:sp>
        <p:sp>
          <p:nvSpPr>
            <p:cNvPr id="15" name="TextBox 15"/>
            <p:cNvSpPr txBox="1"/>
            <p:nvPr/>
          </p:nvSpPr>
          <p:spPr>
            <a:xfrm>
              <a:off x="748665" y="3058478"/>
              <a:ext cx="831771"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数据集规模</a:t>
              </a:r>
            </a:p>
          </p:txBody>
        </p:sp>
        <p:sp>
          <p:nvSpPr>
            <p:cNvPr id="16" name="TextBox 16"/>
            <p:cNvSpPr txBox="1"/>
            <p:nvPr/>
          </p:nvSpPr>
          <p:spPr>
            <a:xfrm>
              <a:off x="737235" y="3237548"/>
              <a:ext cx="871883" cy="396240"/>
            </a:xfrm>
            <a:prstGeom prst="rect">
              <a:avLst/>
            </a:prstGeom>
            <a:noFill/>
            <a:ln>
              <a:noFill/>
            </a:ln>
          </p:spPr>
          <p:txBody>
            <a:bodyPr wrap="none" lIns="0" tIns="0" rIns="0" bIns="0" anchor="t" anchorCtr="0">
              <a:spAutoFit/>
            </a:bodyPr>
            <a:lstStyle/>
            <a:p>
              <a:pPr algn="l"/>
              <a:r>
                <a:rPr lang="zh-CN" sz="1950" b="1" dirty="0">
                  <a:solidFill>
                    <a:srgbClr val="D97706"/>
                  </a:solidFill>
                  <a:latin typeface="Arial"/>
                  <a:ea typeface="Microsoft YaHei"/>
                  <a:cs typeface="Arial"/>
                </a:rPr>
                <a:t>7,000</a:t>
              </a:r>
            </a:p>
          </p:txBody>
        </p:sp>
        <p:sp>
          <p:nvSpPr>
            <p:cNvPr id="17" name="TextBox 17"/>
            <p:cNvSpPr txBox="1"/>
            <p:nvPr/>
          </p:nvSpPr>
          <p:spPr>
            <a:xfrm>
              <a:off x="1654492" y="3342799"/>
              <a:ext cx="233162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条（训练5000/验证1000/测试1000）</a:t>
              </a:r>
            </a:p>
          </p:txBody>
        </p:sp>
        <p:sp>
          <p:nvSpPr>
            <p:cNvPr id="18" name="TextBox 18"/>
            <p:cNvSpPr txBox="1"/>
            <p:nvPr/>
          </p:nvSpPr>
          <p:spPr>
            <a:xfrm>
              <a:off x="750570" y="3569970"/>
              <a:ext cx="2356009"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Metallurgical约502条，占测试集50.2%</a:t>
              </a:r>
            </a:p>
          </p:txBody>
        </p:sp>
        <p:sp>
          <p:nvSpPr>
            <p:cNvPr id="19" name="Freeform 19"/>
            <p:cNvSpPr/>
            <p:nvPr/>
          </p:nvSpPr>
          <p:spPr>
            <a:xfrm>
              <a:off x="571500" y="3952875"/>
              <a:ext cx="3429000" cy="904875"/>
            </a:xfrm>
            <a:custGeom>
              <a:avLst/>
              <a:gdLst/>
              <a:ahLst/>
              <a:cxnLst/>
              <a:rect l="l" t="t" r="r" b="b"/>
              <a:pathLst>
                <a:path w="3429000" h="904875">
                  <a:moveTo>
                    <a:pt x="76200" y="0"/>
                  </a:moveTo>
                  <a:lnTo>
                    <a:pt x="3352800" y="0"/>
                  </a:lnTo>
                  <a:cubicBezTo>
                    <a:pt x="3394884" y="0"/>
                    <a:pt x="3429000" y="34116"/>
                    <a:pt x="3429000" y="76200"/>
                  </a:cubicBezTo>
                  <a:lnTo>
                    <a:pt x="3429000" y="828675"/>
                  </a:lnTo>
                  <a:cubicBezTo>
                    <a:pt x="3429000" y="870759"/>
                    <a:pt x="3394884" y="904875"/>
                    <a:pt x="3352800" y="904875"/>
                  </a:cubicBezTo>
                  <a:lnTo>
                    <a:pt x="76200" y="904875"/>
                  </a:lnTo>
                  <a:cubicBezTo>
                    <a:pt x="34116" y="904875"/>
                    <a:pt x="0" y="870759"/>
                    <a:pt x="0" y="828675"/>
                  </a:cubicBezTo>
                  <a:lnTo>
                    <a:pt x="0" y="76200"/>
                  </a:lnTo>
                  <a:cubicBezTo>
                    <a:pt x="0" y="34116"/>
                    <a:pt x="34116" y="0"/>
                    <a:pt x="76200" y="0"/>
                  </a:cubicBezTo>
                  <a:close/>
                </a:path>
              </a:pathLst>
            </a:custGeom>
            <a:solidFill>
              <a:srgbClr val="FEF3C7"/>
            </a:solidFill>
            <a:ln w="9525">
              <a:solidFill>
                <a:srgbClr val="D97706"/>
              </a:solidFill>
            </a:ln>
          </p:spPr>
        </p:sp>
        <p:sp>
          <p:nvSpPr>
            <p:cNvPr id="20" name="TextBox 20"/>
            <p:cNvSpPr txBox="1"/>
            <p:nvPr/>
          </p:nvSpPr>
          <p:spPr>
            <a:xfrm>
              <a:off x="749618" y="4114324"/>
              <a:ext cx="1669471"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专用电厂高度差异化处理</a:t>
              </a:r>
            </a:p>
          </p:txBody>
        </p:sp>
        <p:sp>
          <p:nvSpPr>
            <p:cNvPr id="21" name="TextBox 21"/>
            <p:cNvSpPr txBox="1"/>
            <p:nvPr/>
          </p:nvSpPr>
          <p:spPr>
            <a:xfrm>
              <a:off x="750570" y="4331970"/>
              <a:ext cx="1639633" cy="182880"/>
            </a:xfrm>
            <a:prstGeom prst="rect">
              <a:avLst/>
            </a:prstGeom>
            <a:noFill/>
            <a:ln>
              <a:noFill/>
            </a:ln>
          </p:spPr>
          <p:txBody>
            <a:bodyPr wrap="none" lIns="0" tIns="0" rIns="0" bIns="0" anchor="t" anchorCtr="0">
              <a:spAutoFit/>
            </a:bodyPr>
            <a:lstStyle/>
            <a:p>
              <a:pPr algn="l"/>
              <a:r>
                <a:rPr lang="zh-CN" sz="900" dirty="0">
                  <a:solidFill>
                    <a:srgbClr val="78350F"/>
                  </a:solidFill>
                  <a:latin typeface="Arial"/>
                  <a:ea typeface="Microsoft YaHei"/>
                  <a:cs typeface="Arial"/>
                </a:rPr>
                <a:t>实际调研：高度范围 8-110m</a:t>
              </a:r>
            </a:p>
          </p:txBody>
        </p:sp>
        <p:sp>
          <p:nvSpPr>
            <p:cNvPr id="22" name="TextBox 22"/>
            <p:cNvSpPr txBox="1"/>
            <p:nvPr/>
          </p:nvSpPr>
          <p:spPr>
            <a:xfrm>
              <a:off x="750570" y="4503420"/>
              <a:ext cx="1488472" cy="182880"/>
            </a:xfrm>
            <a:prstGeom prst="rect">
              <a:avLst/>
            </a:prstGeom>
            <a:noFill/>
            <a:ln>
              <a:noFill/>
            </a:ln>
          </p:spPr>
          <p:txBody>
            <a:bodyPr wrap="none" lIns="0" tIns="0" rIns="0" bIns="0" anchor="t" anchorCtr="0">
              <a:spAutoFit/>
            </a:bodyPr>
            <a:lstStyle/>
            <a:p>
              <a:pPr algn="l"/>
              <a:r>
                <a:rPr lang="zh-CN" sz="900" dirty="0">
                  <a:solidFill>
                    <a:srgbClr val="78350F"/>
                  </a:solidFill>
                  <a:latin typeface="Arial"/>
                  <a:ea typeface="Microsoft YaHei"/>
                  <a:cs typeface="Arial"/>
                </a:rPr>
                <a:t>等效模型：取中位数 25m</a:t>
              </a:r>
            </a:p>
          </p:txBody>
        </p:sp>
        <p:sp>
          <p:nvSpPr>
            <p:cNvPr id="23" name="TextBox 23"/>
            <p:cNvSpPr txBox="1"/>
            <p:nvPr/>
          </p:nvSpPr>
          <p:spPr>
            <a:xfrm>
              <a:off x="751522" y="4682966"/>
              <a:ext cx="2437407" cy="167640"/>
            </a:xfrm>
            <a:prstGeom prst="rect">
              <a:avLst/>
            </a:prstGeom>
            <a:noFill/>
            <a:ln>
              <a:noFill/>
            </a:ln>
          </p:spPr>
          <p:txBody>
            <a:bodyPr wrap="none" lIns="0" tIns="0" rIns="0" bIns="0" anchor="t" anchorCtr="0">
              <a:spAutoFit/>
            </a:bodyPr>
            <a:lstStyle/>
            <a:p>
              <a:pPr algn="l"/>
              <a:r>
                <a:rPr lang="zh-CN" sz="825" b="1" dirty="0">
                  <a:solidFill>
                    <a:srgbClr val="92400E"/>
                  </a:solidFill>
                  <a:latin typeface="Arial"/>
                  <a:ea typeface="Microsoft YaHei"/>
                  <a:cs typeface="Arial"/>
                </a:rPr>
                <a:t>后续：大型/中型/小型分别建立差异化模型</a:t>
              </a:r>
            </a:p>
          </p:txBody>
        </p:sp>
        <p:sp>
          <p:nvSpPr>
            <p:cNvPr id="24" name="TextBox 24"/>
            <p:cNvSpPr txBox="1"/>
            <p:nvPr/>
          </p:nvSpPr>
          <p:spPr>
            <a:xfrm>
              <a:off x="558165" y="4982528"/>
              <a:ext cx="1564412"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各子目标可燃物特色:</a:t>
              </a:r>
            </a:p>
          </p:txBody>
        </p:sp>
        <p:grpSp>
          <p:nvGrpSpPr>
            <p:cNvPr id="28" name="Group 28"/>
            <p:cNvGrpSpPr/>
            <p:nvPr/>
          </p:nvGrpSpPr>
          <p:grpSpPr>
            <a:xfrm>
              <a:off x="571500" y="5238750"/>
              <a:ext cx="3429000" cy="523875"/>
              <a:chOff x="571500" y="5238750"/>
              <a:chExt cx="3429000" cy="523875"/>
            </a:xfrm>
          </p:grpSpPr>
          <p:sp>
            <p:nvSpPr>
              <p:cNvPr id="25" name="Freeform 25"/>
              <p:cNvSpPr/>
              <p:nvPr/>
            </p:nvSpPr>
            <p:spPr>
              <a:xfrm>
                <a:off x="571500" y="5238750"/>
                <a:ext cx="3429000" cy="523875"/>
              </a:xfrm>
              <a:custGeom>
                <a:avLst/>
                <a:gdLst/>
                <a:ahLst/>
                <a:cxnLst/>
                <a:rect l="l" t="t" r="r" b="b"/>
                <a:pathLst>
                  <a:path w="3429000" h="523875">
                    <a:moveTo>
                      <a:pt x="57150" y="0"/>
                    </a:moveTo>
                    <a:lnTo>
                      <a:pt x="3371850" y="0"/>
                    </a:lnTo>
                    <a:cubicBezTo>
                      <a:pt x="3403413" y="0"/>
                      <a:pt x="3429000" y="25587"/>
                      <a:pt x="3429000" y="57150"/>
                    </a:cubicBezTo>
                    <a:lnTo>
                      <a:pt x="3429000" y="466725"/>
                    </a:lnTo>
                    <a:cubicBezTo>
                      <a:pt x="3429000" y="498288"/>
                      <a:pt x="3403413" y="523875"/>
                      <a:pt x="3371850" y="523875"/>
                    </a:cubicBezTo>
                    <a:lnTo>
                      <a:pt x="57150" y="523875"/>
                    </a:lnTo>
                    <a:cubicBezTo>
                      <a:pt x="25587" y="523875"/>
                      <a:pt x="0" y="498288"/>
                      <a:pt x="0" y="466725"/>
                    </a:cubicBezTo>
                    <a:lnTo>
                      <a:pt x="0" y="57150"/>
                    </a:lnTo>
                    <a:cubicBezTo>
                      <a:pt x="0" y="25587"/>
                      <a:pt x="25587" y="0"/>
                      <a:pt x="57150" y="0"/>
                    </a:cubicBezTo>
                    <a:close/>
                  </a:path>
                </a:pathLst>
              </a:custGeom>
              <a:solidFill>
                <a:srgbClr val="FFFBEB"/>
              </a:solidFill>
              <a:ln w="9525">
                <a:solidFill>
                  <a:srgbClr val="D97706"/>
                </a:solidFill>
              </a:ln>
            </p:spPr>
          </p:sp>
          <p:sp>
            <p:nvSpPr>
              <p:cNvPr id="26" name="TextBox 26"/>
              <p:cNvSpPr txBox="1"/>
              <p:nvPr/>
            </p:nvSpPr>
            <p:spPr>
              <a:xfrm>
                <a:off x="675322" y="5340191"/>
                <a:ext cx="527018" cy="167640"/>
              </a:xfrm>
              <a:prstGeom prst="rect">
                <a:avLst/>
              </a:prstGeom>
              <a:noFill/>
              <a:ln>
                <a:noFill/>
              </a:ln>
            </p:spPr>
            <p:txBody>
              <a:bodyPr wrap="none" lIns="0" tIns="0" rIns="0" bIns="0" anchor="t" anchorCtr="0">
                <a:spAutoFit/>
              </a:bodyPr>
              <a:lstStyle/>
              <a:p>
                <a:pPr algn="l"/>
                <a:r>
                  <a:rPr lang="zh-CN" sz="825" b="1" dirty="0">
                    <a:solidFill>
                      <a:srgbClr val="92400E"/>
                    </a:solidFill>
                    <a:latin typeface="Arial"/>
                    <a:ea typeface="Microsoft YaHei"/>
                    <a:cs typeface="Arial"/>
                  </a:rPr>
                  <a:t>电解工厂</a:t>
                </a:r>
              </a:p>
            </p:txBody>
          </p:sp>
          <p:sp>
            <p:nvSpPr>
              <p:cNvPr id="27" name="TextBox 27"/>
              <p:cNvSpPr txBox="1"/>
              <p:nvPr/>
            </p:nvSpPr>
            <p:spPr>
              <a:xfrm>
                <a:off x="676275" y="5538788"/>
                <a:ext cx="2313861" cy="152400"/>
              </a:xfrm>
              <a:prstGeom prst="rect">
                <a:avLst/>
              </a:prstGeom>
              <a:noFill/>
              <a:ln>
                <a:noFill/>
              </a:ln>
            </p:spPr>
            <p:txBody>
              <a:bodyPr wrap="none" lIns="0" tIns="0" rIns="0" bIns="0" anchor="t" anchorCtr="0">
                <a:spAutoFit/>
              </a:bodyPr>
              <a:lstStyle/>
              <a:p>
                <a:pPr algn="l"/>
                <a:r>
                  <a:rPr lang="zh-CN" sz="750" dirty="0">
                    <a:solidFill>
                      <a:srgbClr val="78350F"/>
                    </a:solidFill>
                    <a:latin typeface="Arial"/>
                    <a:ea typeface="Microsoft YaHei"/>
                    <a:cs typeface="Arial"/>
                  </a:rPr>
                  <a:t>碳材料堆垛(6)、高分子材料(3)、工业油桶(3)</a:t>
                </a:r>
              </a:p>
            </p:txBody>
          </p:sp>
        </p:grpSp>
        <p:grpSp>
          <p:nvGrpSpPr>
            <p:cNvPr id="32" name="Group 32"/>
            <p:cNvGrpSpPr/>
            <p:nvPr/>
          </p:nvGrpSpPr>
          <p:grpSpPr>
            <a:xfrm>
              <a:off x="571500" y="5838825"/>
              <a:ext cx="3429000" cy="523875"/>
              <a:chOff x="571500" y="5838825"/>
              <a:chExt cx="3429000" cy="523875"/>
            </a:xfrm>
          </p:grpSpPr>
          <p:sp>
            <p:nvSpPr>
              <p:cNvPr id="29" name="Freeform 29"/>
              <p:cNvSpPr/>
              <p:nvPr/>
            </p:nvSpPr>
            <p:spPr>
              <a:xfrm>
                <a:off x="571500" y="5838825"/>
                <a:ext cx="3429000" cy="523875"/>
              </a:xfrm>
              <a:custGeom>
                <a:avLst/>
                <a:gdLst/>
                <a:ahLst/>
                <a:cxnLst/>
                <a:rect l="l" t="t" r="r" b="b"/>
                <a:pathLst>
                  <a:path w="3429000" h="523875">
                    <a:moveTo>
                      <a:pt x="57150" y="0"/>
                    </a:moveTo>
                    <a:lnTo>
                      <a:pt x="3371850" y="0"/>
                    </a:lnTo>
                    <a:cubicBezTo>
                      <a:pt x="3403413" y="0"/>
                      <a:pt x="3429000" y="25587"/>
                      <a:pt x="3429000" y="57150"/>
                    </a:cubicBezTo>
                    <a:lnTo>
                      <a:pt x="3429000" y="466725"/>
                    </a:lnTo>
                    <a:cubicBezTo>
                      <a:pt x="3429000" y="498288"/>
                      <a:pt x="3403413" y="523875"/>
                      <a:pt x="3371850" y="523875"/>
                    </a:cubicBezTo>
                    <a:lnTo>
                      <a:pt x="57150" y="523875"/>
                    </a:lnTo>
                    <a:cubicBezTo>
                      <a:pt x="25587" y="523875"/>
                      <a:pt x="0" y="498288"/>
                      <a:pt x="0" y="466725"/>
                    </a:cubicBezTo>
                    <a:lnTo>
                      <a:pt x="0" y="57150"/>
                    </a:lnTo>
                    <a:cubicBezTo>
                      <a:pt x="0" y="25587"/>
                      <a:pt x="25587" y="0"/>
                      <a:pt x="57150" y="0"/>
                    </a:cubicBezTo>
                    <a:close/>
                  </a:path>
                </a:pathLst>
              </a:custGeom>
              <a:solidFill>
                <a:srgbClr val="FFFBEB"/>
              </a:solidFill>
              <a:ln w="9525">
                <a:solidFill>
                  <a:srgbClr val="D97706"/>
                </a:solidFill>
              </a:ln>
            </p:spPr>
          </p:sp>
          <p:sp>
            <p:nvSpPr>
              <p:cNvPr id="30" name="TextBox 30"/>
              <p:cNvSpPr txBox="1"/>
              <p:nvPr/>
            </p:nvSpPr>
            <p:spPr>
              <a:xfrm>
                <a:off x="675322" y="5940266"/>
                <a:ext cx="527018" cy="167640"/>
              </a:xfrm>
              <a:prstGeom prst="rect">
                <a:avLst/>
              </a:prstGeom>
              <a:noFill/>
              <a:ln>
                <a:noFill/>
              </a:ln>
            </p:spPr>
            <p:txBody>
              <a:bodyPr wrap="none" lIns="0" tIns="0" rIns="0" bIns="0" anchor="t" anchorCtr="0">
                <a:spAutoFit/>
              </a:bodyPr>
              <a:lstStyle/>
              <a:p>
                <a:pPr algn="l"/>
                <a:r>
                  <a:rPr lang="zh-CN" sz="825" b="1" dirty="0">
                    <a:solidFill>
                      <a:srgbClr val="92400E"/>
                    </a:solidFill>
                    <a:latin typeface="Arial"/>
                    <a:ea typeface="Microsoft YaHei"/>
                    <a:cs typeface="Arial"/>
                  </a:rPr>
                  <a:t>专用电厂</a:t>
                </a:r>
              </a:p>
            </p:txBody>
          </p:sp>
          <p:sp>
            <p:nvSpPr>
              <p:cNvPr id="31" name="TextBox 31"/>
              <p:cNvSpPr txBox="1"/>
              <p:nvPr/>
            </p:nvSpPr>
            <p:spPr>
              <a:xfrm>
                <a:off x="676275" y="6138862"/>
                <a:ext cx="2204323" cy="152400"/>
              </a:xfrm>
              <a:prstGeom prst="rect">
                <a:avLst/>
              </a:prstGeom>
              <a:noFill/>
              <a:ln>
                <a:noFill/>
              </a:ln>
            </p:spPr>
            <p:txBody>
              <a:bodyPr wrap="none" lIns="0" tIns="0" rIns="0" bIns="0" anchor="t" anchorCtr="0">
                <a:spAutoFit/>
              </a:bodyPr>
              <a:lstStyle/>
              <a:p>
                <a:pPr algn="l"/>
                <a:r>
                  <a:rPr lang="zh-CN" sz="750" dirty="0">
                    <a:solidFill>
                      <a:srgbClr val="78350F"/>
                    </a:solidFill>
                    <a:latin typeface="Arial"/>
                    <a:ea typeface="Microsoft YaHei"/>
                    <a:cs typeface="Arial"/>
                  </a:rPr>
                  <a:t>可燃气体钢瓶(5)、燃煤堆(4)、燃料油桶(3)</a:t>
                </a:r>
              </a:p>
            </p:txBody>
          </p:sp>
        </p:grpSp>
        <p:grpSp>
          <p:nvGrpSpPr>
            <p:cNvPr id="36" name="Group 36"/>
            <p:cNvGrpSpPr/>
            <p:nvPr/>
          </p:nvGrpSpPr>
          <p:grpSpPr>
            <a:xfrm>
              <a:off x="571500" y="6438900"/>
              <a:ext cx="3429000" cy="523875"/>
              <a:chOff x="571500" y="6438900"/>
              <a:chExt cx="3429000" cy="523875"/>
            </a:xfrm>
          </p:grpSpPr>
          <p:sp>
            <p:nvSpPr>
              <p:cNvPr id="33" name="Freeform 33"/>
              <p:cNvSpPr/>
              <p:nvPr/>
            </p:nvSpPr>
            <p:spPr>
              <a:xfrm>
                <a:off x="571500" y="6438900"/>
                <a:ext cx="3429000" cy="523875"/>
              </a:xfrm>
              <a:custGeom>
                <a:avLst/>
                <a:gdLst/>
                <a:ahLst/>
                <a:cxnLst/>
                <a:rect l="l" t="t" r="r" b="b"/>
                <a:pathLst>
                  <a:path w="3429000" h="523875">
                    <a:moveTo>
                      <a:pt x="57150" y="0"/>
                    </a:moveTo>
                    <a:lnTo>
                      <a:pt x="3371850" y="0"/>
                    </a:lnTo>
                    <a:cubicBezTo>
                      <a:pt x="3403413" y="0"/>
                      <a:pt x="3429000" y="25587"/>
                      <a:pt x="3429000" y="57150"/>
                    </a:cubicBezTo>
                    <a:lnTo>
                      <a:pt x="3429000" y="466725"/>
                    </a:lnTo>
                    <a:cubicBezTo>
                      <a:pt x="3429000" y="498288"/>
                      <a:pt x="3403413" y="523875"/>
                      <a:pt x="3371850" y="523875"/>
                    </a:cubicBezTo>
                    <a:lnTo>
                      <a:pt x="57150" y="523875"/>
                    </a:lnTo>
                    <a:cubicBezTo>
                      <a:pt x="25587" y="523875"/>
                      <a:pt x="0" y="498288"/>
                      <a:pt x="0" y="466725"/>
                    </a:cubicBezTo>
                    <a:lnTo>
                      <a:pt x="0" y="57150"/>
                    </a:lnTo>
                    <a:cubicBezTo>
                      <a:pt x="0" y="25587"/>
                      <a:pt x="25587" y="0"/>
                      <a:pt x="57150" y="0"/>
                    </a:cubicBezTo>
                    <a:close/>
                  </a:path>
                </a:pathLst>
              </a:custGeom>
              <a:solidFill>
                <a:srgbClr val="FFFBEB"/>
              </a:solidFill>
              <a:ln w="9525">
                <a:solidFill>
                  <a:srgbClr val="D97706"/>
                </a:solidFill>
              </a:ln>
            </p:spPr>
          </p:sp>
          <p:sp>
            <p:nvSpPr>
              <p:cNvPr id="34" name="TextBox 34"/>
              <p:cNvSpPr txBox="1"/>
              <p:nvPr/>
            </p:nvSpPr>
            <p:spPr>
              <a:xfrm>
                <a:off x="675322" y="6540341"/>
                <a:ext cx="1551796" cy="167640"/>
              </a:xfrm>
              <a:prstGeom prst="rect">
                <a:avLst/>
              </a:prstGeom>
              <a:noFill/>
              <a:ln>
                <a:noFill/>
              </a:ln>
            </p:spPr>
            <p:txBody>
              <a:bodyPr wrap="none" lIns="0" tIns="0" rIns="0" bIns="0" anchor="t" anchorCtr="0">
                <a:spAutoFit/>
              </a:bodyPr>
              <a:lstStyle/>
              <a:p>
                <a:pPr algn="l"/>
                <a:r>
                  <a:rPr lang="zh-CN" sz="825" b="1" dirty="0">
                    <a:solidFill>
                      <a:srgbClr val="92400E"/>
                    </a:solidFill>
                    <a:latin typeface="Arial"/>
                    <a:ea typeface="Microsoft YaHei"/>
                    <a:cs typeface="Arial"/>
                  </a:rPr>
                  <a:t>钢铁厂/钽精炼厂/金精炼厂</a:t>
                </a:r>
              </a:p>
            </p:txBody>
          </p:sp>
          <p:sp>
            <p:nvSpPr>
              <p:cNvPr id="35" name="TextBox 35"/>
              <p:cNvSpPr txBox="1"/>
              <p:nvPr/>
            </p:nvSpPr>
            <p:spPr>
              <a:xfrm>
                <a:off x="676275" y="6738938"/>
                <a:ext cx="2204323" cy="152400"/>
              </a:xfrm>
              <a:prstGeom prst="rect">
                <a:avLst/>
              </a:prstGeom>
              <a:noFill/>
              <a:ln>
                <a:noFill/>
              </a:ln>
            </p:spPr>
            <p:txBody>
              <a:bodyPr wrap="none" lIns="0" tIns="0" rIns="0" bIns="0" anchor="t" anchorCtr="0">
                <a:spAutoFit/>
              </a:bodyPr>
              <a:lstStyle/>
              <a:p>
                <a:pPr algn="l"/>
                <a:r>
                  <a:rPr lang="zh-CN" sz="750" dirty="0">
                    <a:solidFill>
                      <a:srgbClr val="78350F"/>
                    </a:solidFill>
                    <a:latin typeface="Arial"/>
                    <a:ea typeface="Microsoft YaHei"/>
                    <a:cs typeface="Arial"/>
                  </a:rPr>
                  <a:t>工业油桶(7)、有机溶剂桶(6)、涂层剂桶(4)</a:t>
                </a:r>
              </a:p>
            </p:txBody>
          </p:sp>
        </p:grpSp>
      </p:grpSp>
      <p:grpSp>
        <p:nvGrpSpPr>
          <p:cNvPr id="89" name="Group 89"/>
          <p:cNvGrpSpPr/>
          <p:nvPr/>
        </p:nvGrpSpPr>
        <p:grpSpPr>
          <a:xfrm>
            <a:off x="4175760" y="870585"/>
            <a:ext cx="7444740" cy="5701665"/>
            <a:chOff x="4175760" y="870585"/>
            <a:chExt cx="7444740" cy="5701665"/>
          </a:xfrm>
        </p:grpSpPr>
        <p:sp>
          <p:nvSpPr>
            <p:cNvPr id="38" name="TextBox 38"/>
            <p:cNvSpPr txBox="1"/>
            <p:nvPr/>
          </p:nvSpPr>
          <p:spPr>
            <a:xfrm>
              <a:off x="4175760" y="870585"/>
              <a:ext cx="1318641" cy="243840"/>
            </a:xfrm>
            <a:prstGeom prst="rect">
              <a:avLst/>
            </a:prstGeom>
            <a:noFill/>
            <a:ln>
              <a:noFill/>
            </a:ln>
          </p:spPr>
          <p:txBody>
            <a:bodyPr wrap="none" lIns="0" tIns="0" rIns="0" bIns="0" anchor="t" anchorCtr="0">
              <a:spAutoFit/>
            </a:bodyPr>
            <a:lstStyle/>
            <a:p>
              <a:pPr algn="l"/>
              <a:r>
                <a:rPr lang="zh-CN" sz="1200" b="1" dirty="0">
                  <a:solidFill>
                    <a:srgbClr val="92400E"/>
                  </a:solidFill>
                  <a:latin typeface="Arial"/>
                  <a:ea typeface="Microsoft YaHei"/>
                  <a:cs typeface="Arial"/>
                </a:rPr>
                <a:t>子目标建筑参数</a:t>
              </a:r>
            </a:p>
          </p:txBody>
        </p:sp>
        <p:sp>
          <p:nvSpPr>
            <p:cNvPr id="39" name="Freeform 39"/>
            <p:cNvSpPr/>
            <p:nvPr/>
          </p:nvSpPr>
          <p:spPr>
            <a:xfrm>
              <a:off x="4191000" y="1143000"/>
              <a:ext cx="7429500" cy="342900"/>
            </a:xfrm>
            <a:custGeom>
              <a:avLst/>
              <a:gdLst/>
              <a:ahLst/>
              <a:cxnLst/>
              <a:rect l="l" t="t" r="r" b="b"/>
              <a:pathLst>
                <a:path w="7429500" h="342900">
                  <a:moveTo>
                    <a:pt x="38100" y="0"/>
                  </a:moveTo>
                  <a:lnTo>
                    <a:pt x="7391400" y="0"/>
                  </a:lnTo>
                  <a:cubicBezTo>
                    <a:pt x="7412442" y="0"/>
                    <a:pt x="7429500" y="17058"/>
                    <a:pt x="7429500" y="38100"/>
                  </a:cubicBezTo>
                  <a:lnTo>
                    <a:pt x="7429500" y="304800"/>
                  </a:lnTo>
                  <a:cubicBezTo>
                    <a:pt x="7429500" y="325842"/>
                    <a:pt x="7412442" y="342900"/>
                    <a:pt x="7391400" y="342900"/>
                  </a:cubicBezTo>
                  <a:lnTo>
                    <a:pt x="38100" y="342900"/>
                  </a:lnTo>
                  <a:cubicBezTo>
                    <a:pt x="17058" y="342900"/>
                    <a:pt x="0" y="325842"/>
                    <a:pt x="0" y="304800"/>
                  </a:cubicBezTo>
                  <a:lnTo>
                    <a:pt x="0" y="38100"/>
                  </a:lnTo>
                  <a:cubicBezTo>
                    <a:pt x="0" y="17058"/>
                    <a:pt x="17058" y="0"/>
                    <a:pt x="38100" y="0"/>
                  </a:cubicBezTo>
                  <a:close/>
                </a:path>
              </a:pathLst>
            </a:custGeom>
            <a:solidFill>
              <a:srgbClr val="92400E"/>
            </a:solidFill>
            <a:ln>
              <a:noFill/>
            </a:ln>
          </p:spPr>
        </p:sp>
        <p:sp>
          <p:nvSpPr>
            <p:cNvPr id="40" name="TextBox 40"/>
            <p:cNvSpPr txBox="1"/>
            <p:nvPr/>
          </p:nvSpPr>
          <p:spPr>
            <a:xfrm>
              <a:off x="4322445" y="1255395"/>
              <a:ext cx="436912"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子目标</a:t>
              </a:r>
            </a:p>
          </p:txBody>
        </p:sp>
        <p:sp>
          <p:nvSpPr>
            <p:cNvPr id="41" name="TextBox 41"/>
            <p:cNvSpPr txBox="1"/>
            <p:nvPr/>
          </p:nvSpPr>
          <p:spPr>
            <a:xfrm>
              <a:off x="5894070" y="1255395"/>
              <a:ext cx="416209"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长(m)</a:t>
              </a:r>
            </a:p>
          </p:txBody>
        </p:sp>
        <p:sp>
          <p:nvSpPr>
            <p:cNvPr id="42" name="TextBox 42"/>
            <p:cNvSpPr txBox="1"/>
            <p:nvPr/>
          </p:nvSpPr>
          <p:spPr>
            <a:xfrm>
              <a:off x="6560820" y="1255395"/>
              <a:ext cx="416209"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宽(m)</a:t>
              </a:r>
            </a:p>
          </p:txBody>
        </p:sp>
        <p:sp>
          <p:nvSpPr>
            <p:cNvPr id="43" name="TextBox 43"/>
            <p:cNvSpPr txBox="1"/>
            <p:nvPr/>
          </p:nvSpPr>
          <p:spPr>
            <a:xfrm>
              <a:off x="7227570" y="1255395"/>
              <a:ext cx="416209"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高(m)</a:t>
              </a:r>
            </a:p>
          </p:txBody>
        </p:sp>
        <p:sp>
          <p:nvSpPr>
            <p:cNvPr id="44" name="TextBox 44"/>
            <p:cNvSpPr txBox="1"/>
            <p:nvPr/>
          </p:nvSpPr>
          <p:spPr>
            <a:xfrm>
              <a:off x="7894320" y="1255395"/>
              <a:ext cx="298894"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楼层</a:t>
              </a:r>
            </a:p>
          </p:txBody>
        </p:sp>
        <p:sp>
          <p:nvSpPr>
            <p:cNvPr id="45" name="TextBox 45"/>
            <p:cNvSpPr txBox="1"/>
            <p:nvPr/>
          </p:nvSpPr>
          <p:spPr>
            <a:xfrm>
              <a:off x="8561070" y="1255395"/>
              <a:ext cx="298894"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门数</a:t>
              </a:r>
            </a:p>
          </p:txBody>
        </p:sp>
        <p:sp>
          <p:nvSpPr>
            <p:cNvPr id="46" name="TextBox 46"/>
            <p:cNvSpPr txBox="1"/>
            <p:nvPr/>
          </p:nvSpPr>
          <p:spPr>
            <a:xfrm>
              <a:off x="9132570" y="1255395"/>
              <a:ext cx="298894"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特征</a:t>
              </a:r>
            </a:p>
          </p:txBody>
        </p:sp>
        <p:sp>
          <p:nvSpPr>
            <p:cNvPr id="47" name="Rectangle 47"/>
            <p:cNvSpPr/>
            <p:nvPr/>
          </p:nvSpPr>
          <p:spPr>
            <a:xfrm>
              <a:off x="4191000" y="1485900"/>
              <a:ext cx="7429500" cy="523875"/>
            </a:xfrm>
            <a:prstGeom prst="rect">
              <a:avLst/>
            </a:prstGeom>
            <a:solidFill>
              <a:srgbClr val="F8FAFC"/>
            </a:solidFill>
            <a:ln>
              <a:noFill/>
            </a:ln>
          </p:spPr>
        </p:sp>
        <p:sp>
          <p:nvSpPr>
            <p:cNvPr id="48" name="TextBox 48"/>
            <p:cNvSpPr txBox="1"/>
            <p:nvPr/>
          </p:nvSpPr>
          <p:spPr>
            <a:xfrm>
              <a:off x="4322445" y="1588770"/>
              <a:ext cx="574929" cy="182880"/>
            </a:xfrm>
            <a:prstGeom prst="rect">
              <a:avLst/>
            </a:prstGeom>
            <a:noFill/>
            <a:ln>
              <a:noFill/>
            </a:ln>
          </p:spPr>
          <p:txBody>
            <a:bodyPr wrap="none" lIns="0" tIns="0" rIns="0" bIns="0" anchor="t" anchorCtr="0">
              <a:spAutoFit/>
            </a:bodyPr>
            <a:lstStyle/>
            <a:p>
              <a:pPr algn="l"/>
              <a:r>
                <a:rPr lang="zh-CN" sz="900" b="1" dirty="0">
                  <a:solidFill>
                    <a:srgbClr val="1A1A2E"/>
                  </a:solidFill>
                  <a:latin typeface="Arial"/>
                  <a:ea typeface="Microsoft YaHei"/>
                  <a:cs typeface="Arial"/>
                </a:rPr>
                <a:t>电解工厂</a:t>
              </a:r>
            </a:p>
          </p:txBody>
        </p:sp>
        <p:sp>
          <p:nvSpPr>
            <p:cNvPr id="49" name="TextBox 49"/>
            <p:cNvSpPr txBox="1"/>
            <p:nvPr/>
          </p:nvSpPr>
          <p:spPr>
            <a:xfrm>
              <a:off x="5894070" y="1588770"/>
              <a:ext cx="38433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220.0</a:t>
              </a:r>
            </a:p>
          </p:txBody>
        </p:sp>
        <p:sp>
          <p:nvSpPr>
            <p:cNvPr id="50" name="TextBox 50"/>
            <p:cNvSpPr txBox="1"/>
            <p:nvPr/>
          </p:nvSpPr>
          <p:spPr>
            <a:xfrm>
              <a:off x="6560820" y="158877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20.0</a:t>
              </a:r>
            </a:p>
          </p:txBody>
        </p:sp>
        <p:sp>
          <p:nvSpPr>
            <p:cNvPr id="51" name="TextBox 51"/>
            <p:cNvSpPr txBox="1"/>
            <p:nvPr/>
          </p:nvSpPr>
          <p:spPr>
            <a:xfrm>
              <a:off x="7227570" y="158877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14.0</a:t>
              </a:r>
            </a:p>
          </p:txBody>
        </p:sp>
        <p:sp>
          <p:nvSpPr>
            <p:cNvPr id="52" name="TextBox 52"/>
            <p:cNvSpPr txBox="1"/>
            <p:nvPr/>
          </p:nvSpPr>
          <p:spPr>
            <a:xfrm>
              <a:off x="7894320" y="158877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53" name="TextBox 53"/>
            <p:cNvSpPr txBox="1"/>
            <p:nvPr/>
          </p:nvSpPr>
          <p:spPr>
            <a:xfrm>
              <a:off x="8561070" y="1588770"/>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a:t>
              </a:r>
            </a:p>
          </p:txBody>
        </p:sp>
        <p:sp>
          <p:nvSpPr>
            <p:cNvPr id="54" name="TextBox 54"/>
            <p:cNvSpPr txBox="1"/>
            <p:nvPr/>
          </p:nvSpPr>
          <p:spPr>
            <a:xfrm>
              <a:off x="9134475" y="1604962"/>
              <a:ext cx="1645682"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长型(220x20m) · 碳材料/电解槽</a:t>
              </a:r>
            </a:p>
          </p:txBody>
        </p:sp>
        <p:sp>
          <p:nvSpPr>
            <p:cNvPr id="55" name="Rectangle 55"/>
            <p:cNvSpPr/>
            <p:nvPr/>
          </p:nvSpPr>
          <p:spPr>
            <a:xfrm>
              <a:off x="4191000" y="2009775"/>
              <a:ext cx="7429500" cy="523875"/>
            </a:xfrm>
            <a:prstGeom prst="rect">
              <a:avLst/>
            </a:prstGeom>
            <a:solidFill>
              <a:srgbClr val="FFFFFF"/>
            </a:solidFill>
            <a:ln>
              <a:noFill/>
            </a:ln>
          </p:spPr>
        </p:sp>
        <p:sp>
          <p:nvSpPr>
            <p:cNvPr id="56" name="TextBox 56"/>
            <p:cNvSpPr txBox="1"/>
            <p:nvPr/>
          </p:nvSpPr>
          <p:spPr>
            <a:xfrm>
              <a:off x="4322445" y="2112645"/>
              <a:ext cx="574929" cy="182880"/>
            </a:xfrm>
            <a:prstGeom prst="rect">
              <a:avLst/>
            </a:prstGeom>
            <a:noFill/>
            <a:ln>
              <a:noFill/>
            </a:ln>
          </p:spPr>
          <p:txBody>
            <a:bodyPr wrap="none" lIns="0" tIns="0" rIns="0" bIns="0" anchor="t" anchorCtr="0">
              <a:spAutoFit/>
            </a:bodyPr>
            <a:lstStyle/>
            <a:p>
              <a:pPr algn="l"/>
              <a:r>
                <a:rPr lang="zh-CN" sz="900" b="1" dirty="0">
                  <a:solidFill>
                    <a:srgbClr val="1A1A2E"/>
                  </a:solidFill>
                  <a:latin typeface="Arial"/>
                  <a:ea typeface="Microsoft YaHei"/>
                  <a:cs typeface="Arial"/>
                </a:rPr>
                <a:t>专用电厂</a:t>
              </a:r>
            </a:p>
          </p:txBody>
        </p:sp>
        <p:sp>
          <p:nvSpPr>
            <p:cNvPr id="57" name="TextBox 57"/>
            <p:cNvSpPr txBox="1"/>
            <p:nvPr/>
          </p:nvSpPr>
          <p:spPr>
            <a:xfrm>
              <a:off x="5894070" y="211264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40.0</a:t>
              </a:r>
            </a:p>
          </p:txBody>
        </p:sp>
        <p:sp>
          <p:nvSpPr>
            <p:cNvPr id="58" name="TextBox 58"/>
            <p:cNvSpPr txBox="1"/>
            <p:nvPr/>
          </p:nvSpPr>
          <p:spPr>
            <a:xfrm>
              <a:off x="6560820" y="211264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32.0</a:t>
              </a:r>
            </a:p>
          </p:txBody>
        </p:sp>
        <p:sp>
          <p:nvSpPr>
            <p:cNvPr id="59" name="TextBox 59"/>
            <p:cNvSpPr txBox="1"/>
            <p:nvPr/>
          </p:nvSpPr>
          <p:spPr>
            <a:xfrm>
              <a:off x="7227570" y="2112645"/>
              <a:ext cx="326498" cy="182880"/>
            </a:xfrm>
            <a:prstGeom prst="rect">
              <a:avLst/>
            </a:prstGeom>
            <a:noFill/>
            <a:ln>
              <a:noFill/>
            </a:ln>
          </p:spPr>
          <p:txBody>
            <a:bodyPr wrap="none" lIns="0" tIns="0" rIns="0" bIns="0" anchor="t" anchorCtr="0">
              <a:spAutoFit/>
            </a:bodyPr>
            <a:lstStyle/>
            <a:p>
              <a:pPr algn="l"/>
              <a:r>
                <a:rPr lang="zh-CN" sz="900" b="1" dirty="0">
                  <a:solidFill>
                    <a:srgbClr val="D97706"/>
                  </a:solidFill>
                  <a:latin typeface="Arial"/>
                  <a:ea typeface="Microsoft YaHei"/>
                  <a:cs typeface="Arial"/>
                </a:rPr>
                <a:t>25.0</a:t>
              </a:r>
            </a:p>
          </p:txBody>
        </p:sp>
        <p:sp>
          <p:nvSpPr>
            <p:cNvPr id="60" name="TextBox 60"/>
            <p:cNvSpPr txBox="1"/>
            <p:nvPr/>
          </p:nvSpPr>
          <p:spPr>
            <a:xfrm>
              <a:off x="7894320" y="2112645"/>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61" name="TextBox 61"/>
            <p:cNvSpPr txBox="1"/>
            <p:nvPr/>
          </p:nvSpPr>
          <p:spPr>
            <a:xfrm>
              <a:off x="8561070" y="2112645"/>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4</a:t>
              </a:r>
            </a:p>
          </p:txBody>
        </p:sp>
        <p:sp>
          <p:nvSpPr>
            <p:cNvPr id="62" name="TextBox 62"/>
            <p:cNvSpPr txBox="1"/>
            <p:nvPr/>
          </p:nvSpPr>
          <p:spPr>
            <a:xfrm>
              <a:off x="9134475" y="2128838"/>
              <a:ext cx="1114425"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等效25m · 实际8-110m</a:t>
              </a:r>
            </a:p>
          </p:txBody>
        </p:sp>
        <p:sp>
          <p:nvSpPr>
            <p:cNvPr id="63" name="Rectangle 63"/>
            <p:cNvSpPr/>
            <p:nvPr/>
          </p:nvSpPr>
          <p:spPr>
            <a:xfrm>
              <a:off x="4191000" y="2533650"/>
              <a:ext cx="7429500" cy="523875"/>
            </a:xfrm>
            <a:prstGeom prst="rect">
              <a:avLst/>
            </a:prstGeom>
            <a:solidFill>
              <a:srgbClr val="F8FAFC"/>
            </a:solidFill>
            <a:ln>
              <a:noFill/>
            </a:ln>
          </p:spPr>
        </p:sp>
        <p:sp>
          <p:nvSpPr>
            <p:cNvPr id="64" name="TextBox 64"/>
            <p:cNvSpPr txBox="1"/>
            <p:nvPr/>
          </p:nvSpPr>
          <p:spPr>
            <a:xfrm>
              <a:off x="4322445" y="2636520"/>
              <a:ext cx="436912" cy="182880"/>
            </a:xfrm>
            <a:prstGeom prst="rect">
              <a:avLst/>
            </a:prstGeom>
            <a:noFill/>
            <a:ln>
              <a:noFill/>
            </a:ln>
          </p:spPr>
          <p:txBody>
            <a:bodyPr wrap="none" lIns="0" tIns="0" rIns="0" bIns="0" anchor="t" anchorCtr="0">
              <a:spAutoFit/>
            </a:bodyPr>
            <a:lstStyle/>
            <a:p>
              <a:pPr algn="l"/>
              <a:r>
                <a:rPr lang="zh-CN" sz="900" b="1" dirty="0">
                  <a:solidFill>
                    <a:srgbClr val="1A1A2E"/>
                  </a:solidFill>
                  <a:latin typeface="Arial"/>
                  <a:ea typeface="Microsoft YaHei"/>
                  <a:cs typeface="Arial"/>
                </a:rPr>
                <a:t>钢铁厂</a:t>
              </a:r>
            </a:p>
          </p:txBody>
        </p:sp>
        <p:sp>
          <p:nvSpPr>
            <p:cNvPr id="65" name="TextBox 65"/>
            <p:cNvSpPr txBox="1"/>
            <p:nvPr/>
          </p:nvSpPr>
          <p:spPr>
            <a:xfrm>
              <a:off x="5894070" y="2636520"/>
              <a:ext cx="351472"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210.0</a:t>
              </a:r>
            </a:p>
          </p:txBody>
        </p:sp>
        <p:sp>
          <p:nvSpPr>
            <p:cNvPr id="66" name="TextBox 66"/>
            <p:cNvSpPr txBox="1"/>
            <p:nvPr/>
          </p:nvSpPr>
          <p:spPr>
            <a:xfrm>
              <a:off x="6560820" y="263652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33.0</a:t>
              </a:r>
            </a:p>
          </p:txBody>
        </p:sp>
        <p:sp>
          <p:nvSpPr>
            <p:cNvPr id="67" name="TextBox 67"/>
            <p:cNvSpPr txBox="1"/>
            <p:nvPr/>
          </p:nvSpPr>
          <p:spPr>
            <a:xfrm>
              <a:off x="7227570" y="263652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13.5</a:t>
              </a:r>
            </a:p>
          </p:txBody>
        </p:sp>
        <p:sp>
          <p:nvSpPr>
            <p:cNvPr id="68" name="TextBox 68"/>
            <p:cNvSpPr txBox="1"/>
            <p:nvPr/>
          </p:nvSpPr>
          <p:spPr>
            <a:xfrm>
              <a:off x="7894320" y="263652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69" name="TextBox 69"/>
            <p:cNvSpPr txBox="1"/>
            <p:nvPr/>
          </p:nvSpPr>
          <p:spPr>
            <a:xfrm>
              <a:off x="8561070" y="2636520"/>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a:t>
              </a:r>
            </a:p>
          </p:txBody>
        </p:sp>
        <p:sp>
          <p:nvSpPr>
            <p:cNvPr id="70" name="TextBox 70"/>
            <p:cNvSpPr txBox="1"/>
            <p:nvPr/>
          </p:nvSpPr>
          <p:spPr>
            <a:xfrm>
              <a:off x="9134475" y="2652712"/>
              <a:ext cx="785812"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高温熔炼作业区</a:t>
              </a:r>
            </a:p>
          </p:txBody>
        </p:sp>
        <p:sp>
          <p:nvSpPr>
            <p:cNvPr id="71" name="Rectangle 71"/>
            <p:cNvSpPr/>
            <p:nvPr/>
          </p:nvSpPr>
          <p:spPr>
            <a:xfrm>
              <a:off x="4191000" y="3057525"/>
              <a:ext cx="7429500" cy="523875"/>
            </a:xfrm>
            <a:prstGeom prst="rect">
              <a:avLst/>
            </a:prstGeom>
            <a:solidFill>
              <a:srgbClr val="FFFFFF"/>
            </a:solidFill>
            <a:ln>
              <a:noFill/>
            </a:ln>
          </p:spPr>
        </p:sp>
        <p:sp>
          <p:nvSpPr>
            <p:cNvPr id="72" name="TextBox 72"/>
            <p:cNvSpPr txBox="1"/>
            <p:nvPr/>
          </p:nvSpPr>
          <p:spPr>
            <a:xfrm>
              <a:off x="4322445" y="3160395"/>
              <a:ext cx="574929" cy="182880"/>
            </a:xfrm>
            <a:prstGeom prst="rect">
              <a:avLst/>
            </a:prstGeom>
            <a:noFill/>
            <a:ln>
              <a:noFill/>
            </a:ln>
          </p:spPr>
          <p:txBody>
            <a:bodyPr wrap="none" lIns="0" tIns="0" rIns="0" bIns="0" anchor="t" anchorCtr="0">
              <a:spAutoFit/>
            </a:bodyPr>
            <a:lstStyle/>
            <a:p>
              <a:pPr algn="l"/>
              <a:r>
                <a:rPr lang="zh-CN" sz="900" b="1" dirty="0">
                  <a:solidFill>
                    <a:srgbClr val="1A1A2E"/>
                  </a:solidFill>
                  <a:latin typeface="Arial"/>
                  <a:ea typeface="Microsoft YaHei"/>
                  <a:cs typeface="Arial"/>
                </a:rPr>
                <a:t>钽精炼厂</a:t>
              </a:r>
            </a:p>
          </p:txBody>
        </p:sp>
        <p:sp>
          <p:nvSpPr>
            <p:cNvPr id="73" name="TextBox 73"/>
            <p:cNvSpPr txBox="1"/>
            <p:nvPr/>
          </p:nvSpPr>
          <p:spPr>
            <a:xfrm>
              <a:off x="5894070" y="31603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55.0</a:t>
              </a:r>
            </a:p>
          </p:txBody>
        </p:sp>
        <p:sp>
          <p:nvSpPr>
            <p:cNvPr id="74" name="TextBox 74"/>
            <p:cNvSpPr txBox="1"/>
            <p:nvPr/>
          </p:nvSpPr>
          <p:spPr>
            <a:xfrm>
              <a:off x="6560820" y="3160395"/>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30.0</a:t>
              </a:r>
            </a:p>
          </p:txBody>
        </p:sp>
        <p:sp>
          <p:nvSpPr>
            <p:cNvPr id="75" name="TextBox 75"/>
            <p:cNvSpPr txBox="1"/>
            <p:nvPr/>
          </p:nvSpPr>
          <p:spPr>
            <a:xfrm>
              <a:off x="7227570" y="3160395"/>
              <a:ext cx="23974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5.0</a:t>
              </a:r>
            </a:p>
          </p:txBody>
        </p:sp>
        <p:sp>
          <p:nvSpPr>
            <p:cNvPr id="76" name="TextBox 76"/>
            <p:cNvSpPr txBox="1"/>
            <p:nvPr/>
          </p:nvSpPr>
          <p:spPr>
            <a:xfrm>
              <a:off x="7894320" y="3160395"/>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77" name="TextBox 77"/>
            <p:cNvSpPr txBox="1"/>
            <p:nvPr/>
          </p:nvSpPr>
          <p:spPr>
            <a:xfrm>
              <a:off x="8561070" y="3160395"/>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a:t>
              </a:r>
            </a:p>
          </p:txBody>
        </p:sp>
        <p:sp>
          <p:nvSpPr>
            <p:cNvPr id="78" name="TextBox 78"/>
            <p:cNvSpPr txBox="1"/>
            <p:nvPr/>
          </p:nvSpPr>
          <p:spPr>
            <a:xfrm>
              <a:off x="9134475" y="3176588"/>
              <a:ext cx="911781"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紧凑型 · 有机溶剂</a:t>
              </a:r>
            </a:p>
          </p:txBody>
        </p:sp>
        <p:sp>
          <p:nvSpPr>
            <p:cNvPr id="79" name="Rectangle 79"/>
            <p:cNvSpPr/>
            <p:nvPr/>
          </p:nvSpPr>
          <p:spPr>
            <a:xfrm>
              <a:off x="4191000" y="3581400"/>
              <a:ext cx="7429500" cy="523875"/>
            </a:xfrm>
            <a:prstGeom prst="rect">
              <a:avLst/>
            </a:prstGeom>
            <a:solidFill>
              <a:srgbClr val="F8FAFC"/>
            </a:solidFill>
            <a:ln>
              <a:noFill/>
            </a:ln>
          </p:spPr>
        </p:sp>
        <p:sp>
          <p:nvSpPr>
            <p:cNvPr id="80" name="TextBox 80"/>
            <p:cNvSpPr txBox="1"/>
            <p:nvPr/>
          </p:nvSpPr>
          <p:spPr>
            <a:xfrm>
              <a:off x="4322445" y="3684270"/>
              <a:ext cx="574929" cy="182880"/>
            </a:xfrm>
            <a:prstGeom prst="rect">
              <a:avLst/>
            </a:prstGeom>
            <a:noFill/>
            <a:ln>
              <a:noFill/>
            </a:ln>
          </p:spPr>
          <p:txBody>
            <a:bodyPr wrap="none" lIns="0" tIns="0" rIns="0" bIns="0" anchor="t" anchorCtr="0">
              <a:spAutoFit/>
            </a:bodyPr>
            <a:lstStyle/>
            <a:p>
              <a:pPr algn="l"/>
              <a:r>
                <a:rPr lang="zh-CN" sz="900" b="1" dirty="0">
                  <a:solidFill>
                    <a:srgbClr val="1A1A2E"/>
                  </a:solidFill>
                  <a:latin typeface="Arial"/>
                  <a:ea typeface="Microsoft YaHei"/>
                  <a:cs typeface="Arial"/>
                </a:rPr>
                <a:t>金精炼厂</a:t>
              </a:r>
            </a:p>
          </p:txBody>
        </p:sp>
        <p:sp>
          <p:nvSpPr>
            <p:cNvPr id="81" name="TextBox 81"/>
            <p:cNvSpPr txBox="1"/>
            <p:nvPr/>
          </p:nvSpPr>
          <p:spPr>
            <a:xfrm>
              <a:off x="5894070" y="3684270"/>
              <a:ext cx="312039"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38.0</a:t>
              </a:r>
            </a:p>
          </p:txBody>
        </p:sp>
        <p:sp>
          <p:nvSpPr>
            <p:cNvPr id="82" name="TextBox 82"/>
            <p:cNvSpPr txBox="1"/>
            <p:nvPr/>
          </p:nvSpPr>
          <p:spPr>
            <a:xfrm>
              <a:off x="6560820" y="368427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18.0</a:t>
              </a:r>
            </a:p>
          </p:txBody>
        </p:sp>
        <p:sp>
          <p:nvSpPr>
            <p:cNvPr id="83" name="TextBox 83"/>
            <p:cNvSpPr txBox="1"/>
            <p:nvPr/>
          </p:nvSpPr>
          <p:spPr>
            <a:xfrm>
              <a:off x="7227570" y="3684270"/>
              <a:ext cx="27917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10.0</a:t>
              </a:r>
            </a:p>
          </p:txBody>
        </p:sp>
        <p:sp>
          <p:nvSpPr>
            <p:cNvPr id="84" name="TextBox 84"/>
            <p:cNvSpPr txBox="1"/>
            <p:nvPr/>
          </p:nvSpPr>
          <p:spPr>
            <a:xfrm>
              <a:off x="7894320" y="3684270"/>
              <a:ext cx="62294"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1</a:t>
              </a:r>
            </a:p>
          </p:txBody>
        </p:sp>
        <p:sp>
          <p:nvSpPr>
            <p:cNvPr id="85" name="TextBox 85"/>
            <p:cNvSpPr txBox="1"/>
            <p:nvPr/>
          </p:nvSpPr>
          <p:spPr>
            <a:xfrm>
              <a:off x="8561070" y="3684270"/>
              <a:ext cx="95155"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4</a:t>
              </a:r>
            </a:p>
          </p:txBody>
        </p:sp>
        <p:sp>
          <p:nvSpPr>
            <p:cNvPr id="86" name="TextBox 86"/>
            <p:cNvSpPr txBox="1"/>
            <p:nvPr/>
          </p:nvSpPr>
          <p:spPr>
            <a:xfrm>
              <a:off x="9134475" y="3700462"/>
              <a:ext cx="1081564"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最小规模 · 门数量4个</a:t>
              </a:r>
            </a:p>
          </p:txBody>
        </p:sp>
        <p:sp>
          <p:nvSpPr>
            <p:cNvPr id="87" name="TextBox 87"/>
            <p:cNvSpPr txBox="1"/>
            <p:nvPr/>
          </p:nvSpPr>
          <p:spPr>
            <a:xfrm>
              <a:off x="4178618" y="4276249"/>
              <a:ext cx="1602187"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可燃物类别分布热力图:</a:t>
              </a:r>
            </a:p>
          </p:txBody>
        </p:sp>
        <p:pic>
          <p:nvPicPr>
            <p:cNvPr id="88" name="Image 88"/>
            <p:cNvPicPr>
              <a:picLocks noChangeAspect="1"/>
            </p:cNvPicPr>
            <p:nvPr/>
          </p:nvPicPr>
          <p:blipFill>
            <a:blip r:embed="rId2"/>
            <a:stretch>
              <a:fillRect/>
            </a:stretch>
          </p:blipFill>
          <p:spPr>
            <a:xfrm>
              <a:off x="6321742" y="4476750"/>
              <a:ext cx="3168015" cy="2095500"/>
            </a:xfrm>
            <a:prstGeom prst="rect">
              <a:avLst/>
            </a:prstGeom>
          </p:spPr>
        </p:pic>
      </p:grpSp>
      <p:sp>
        <p:nvSpPr>
          <p:cNvPr id="90" name="TextBox 90"/>
          <p:cNvSpPr txBox="1"/>
          <p:nvPr/>
        </p:nvSpPr>
        <p:spPr>
          <a:xfrm>
            <a:off x="560070" y="6570345"/>
            <a:ext cx="36461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11 / 16</a:t>
            </a:r>
          </a:p>
        </p:txBody>
      </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92400E"/>
          </a:solidFill>
          <a:ln>
            <a:noFill/>
          </a:ln>
        </p:spPr>
      </p:sp>
      <p:sp>
        <p:nvSpPr>
          <p:cNvPr id="4" name="TextBox 4"/>
          <p:cNvSpPr txBox="1"/>
          <p:nvPr/>
        </p:nvSpPr>
        <p:spPr>
          <a:xfrm>
            <a:off x="550545" y="183832"/>
            <a:ext cx="2053511"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3.2 模型性能对比</a:t>
            </a:r>
          </a:p>
        </p:txBody>
      </p:sp>
      <p:sp>
        <p:nvSpPr>
          <p:cNvPr id="5" name="TextBox 5"/>
          <p:cNvSpPr txBox="1"/>
          <p:nvPr/>
        </p:nvSpPr>
        <p:spPr>
          <a:xfrm>
            <a:off x="10993755" y="248602"/>
            <a:ext cx="640080" cy="213360"/>
          </a:xfrm>
          <a:prstGeom prst="rect">
            <a:avLst/>
          </a:prstGeom>
          <a:noFill/>
          <a:ln>
            <a:noFill/>
          </a:ln>
        </p:spPr>
        <p:txBody>
          <a:bodyPr wrap="none" lIns="0" tIns="0" rIns="0" bIns="0" anchor="t" anchorCtr="0">
            <a:spAutoFit/>
          </a:bodyPr>
          <a:lstStyle/>
          <a:p>
            <a:pPr algn="r"/>
            <a:r>
              <a:rPr lang="zh-CN" sz="1050" dirty="0">
                <a:solidFill>
                  <a:srgbClr val="FDE68A"/>
                </a:solidFill>
                <a:latin typeface="Arial"/>
                <a:ea typeface="Microsoft YaHei"/>
                <a:cs typeface="Arial"/>
              </a:rPr>
              <a:t>冶金设施</a:t>
            </a:r>
          </a:p>
        </p:txBody>
      </p:sp>
      <p:grpSp>
        <p:nvGrpSpPr>
          <p:cNvPr id="49" name="Group 49"/>
          <p:cNvGrpSpPr/>
          <p:nvPr/>
        </p:nvGrpSpPr>
        <p:grpSpPr>
          <a:xfrm>
            <a:off x="558165" y="886778"/>
            <a:ext cx="2318385" cy="6037897"/>
            <a:chOff x="558165" y="886778"/>
            <a:chExt cx="2318385" cy="6037897"/>
          </a:xfrm>
        </p:grpSpPr>
        <p:sp>
          <p:nvSpPr>
            <p:cNvPr id="6" name="TextBox 6"/>
            <p:cNvSpPr txBox="1"/>
            <p:nvPr/>
          </p:nvSpPr>
          <p:spPr>
            <a:xfrm>
              <a:off x="558165" y="886778"/>
              <a:ext cx="1636871"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各模型整体测试集指标</a:t>
              </a:r>
            </a:p>
          </p:txBody>
        </p:sp>
        <p:grpSp>
          <p:nvGrpSpPr>
            <p:cNvPr id="11" name="Group 11"/>
            <p:cNvGrpSpPr/>
            <p:nvPr/>
          </p:nvGrpSpPr>
          <p:grpSpPr>
            <a:xfrm>
              <a:off x="571500" y="1190625"/>
              <a:ext cx="1052512" cy="762000"/>
              <a:chOff x="571500" y="1190625"/>
              <a:chExt cx="1052512" cy="762000"/>
            </a:xfrm>
          </p:grpSpPr>
          <p:sp>
            <p:nvSpPr>
              <p:cNvPr id="7" name="Freeform 7"/>
              <p:cNvSpPr/>
              <p:nvPr/>
            </p:nvSpPr>
            <p:spPr>
              <a:xfrm>
                <a:off x="571500" y="1190625"/>
                <a:ext cx="1000125" cy="762000"/>
              </a:xfrm>
              <a:custGeom>
                <a:avLst/>
                <a:gdLst/>
                <a:ahLst/>
                <a:cxnLst/>
                <a:rect l="l" t="t" r="r" b="b"/>
                <a:pathLst>
                  <a:path w="1000125" h="762000">
                    <a:moveTo>
                      <a:pt x="76200" y="0"/>
                    </a:moveTo>
                    <a:lnTo>
                      <a:pt x="923925" y="0"/>
                    </a:lnTo>
                    <a:cubicBezTo>
                      <a:pt x="966009" y="0"/>
                      <a:pt x="1000125" y="34116"/>
                      <a:pt x="1000125" y="76200"/>
                    </a:cubicBezTo>
                    <a:lnTo>
                      <a:pt x="1000125" y="685800"/>
                    </a:lnTo>
                    <a:cubicBezTo>
                      <a:pt x="1000125" y="727884"/>
                      <a:pt x="966009" y="762000"/>
                      <a:pt x="923925" y="762000"/>
                    </a:cubicBezTo>
                    <a:lnTo>
                      <a:pt x="76200" y="762000"/>
                    </a:lnTo>
                    <a:cubicBezTo>
                      <a:pt x="34116" y="762000"/>
                      <a:pt x="0" y="727884"/>
                      <a:pt x="0" y="685800"/>
                    </a:cubicBezTo>
                    <a:lnTo>
                      <a:pt x="0" y="76200"/>
                    </a:lnTo>
                    <a:cubicBezTo>
                      <a:pt x="0" y="34116"/>
                      <a:pt x="34116" y="0"/>
                      <a:pt x="76200" y="0"/>
                    </a:cubicBezTo>
                    <a:close/>
                  </a:path>
                </a:pathLst>
              </a:custGeom>
              <a:solidFill>
                <a:srgbClr val="D97706">
                  <a:alpha val="10000"/>
                </a:srgbClr>
              </a:solidFill>
              <a:ln w="14288">
                <a:solidFill>
                  <a:srgbClr val="D97706"/>
                </a:solidFill>
              </a:ln>
            </p:spPr>
          </p:sp>
          <p:sp>
            <p:nvSpPr>
              <p:cNvPr id="8" name="TextBox 8"/>
              <p:cNvSpPr txBox="1"/>
              <p:nvPr/>
            </p:nvSpPr>
            <p:spPr>
              <a:xfrm>
                <a:off x="713094" y="1265872"/>
                <a:ext cx="707412" cy="396240"/>
              </a:xfrm>
              <a:prstGeom prst="rect">
                <a:avLst/>
              </a:prstGeom>
              <a:noFill/>
              <a:ln>
                <a:noFill/>
              </a:ln>
            </p:spPr>
            <p:txBody>
              <a:bodyPr wrap="none" lIns="0" tIns="0" rIns="0" bIns="0" anchor="t" anchorCtr="0">
                <a:spAutoFit/>
              </a:bodyPr>
              <a:lstStyle/>
              <a:p>
                <a:pPr algn="ctr"/>
                <a:r>
                  <a:rPr lang="zh-CN" sz="1950" b="1" dirty="0">
                    <a:solidFill>
                      <a:srgbClr val="D97706"/>
                    </a:solidFill>
                    <a:latin typeface="Arial"/>
                    <a:ea typeface="Microsoft YaHei"/>
                    <a:cs typeface="Arial"/>
                  </a:rPr>
                  <a:t>76.9</a:t>
                </a:r>
              </a:p>
            </p:txBody>
          </p:sp>
          <p:sp>
            <p:nvSpPr>
              <p:cNvPr id="9" name="TextBox 9"/>
              <p:cNvSpPr txBox="1"/>
              <p:nvPr/>
            </p:nvSpPr>
            <p:spPr>
              <a:xfrm>
                <a:off x="933783" y="1588770"/>
                <a:ext cx="266033" cy="182880"/>
              </a:xfrm>
              <a:prstGeom prst="rect">
                <a:avLst/>
              </a:prstGeom>
              <a:noFill/>
              <a:ln>
                <a:noFill/>
              </a:ln>
            </p:spPr>
            <p:txBody>
              <a:bodyPr wrap="none" lIns="0" tIns="0" rIns="0" bIns="0" anchor="t" anchorCtr="0">
                <a:spAutoFit/>
              </a:bodyPr>
              <a:lstStyle/>
              <a:p>
                <a:pPr algn="ctr"/>
                <a:r>
                  <a:rPr lang="zh-CN" sz="900" dirty="0">
                    <a:solidFill>
                      <a:srgbClr val="D97706"/>
                    </a:solidFill>
                    <a:latin typeface="Arial"/>
                    <a:ea typeface="Microsoft YaHei"/>
                    <a:cs typeface="Arial"/>
                  </a:rPr>
                  <a:t>SVM</a:t>
                </a:r>
              </a:p>
            </p:txBody>
          </p:sp>
          <p:sp>
            <p:nvSpPr>
              <p:cNvPr id="10" name="TextBox 10"/>
              <p:cNvSpPr txBox="1"/>
              <p:nvPr/>
            </p:nvSpPr>
            <p:spPr>
              <a:xfrm>
                <a:off x="1057275" y="1757362"/>
                <a:ext cx="566737" cy="152400"/>
              </a:xfrm>
              <a:prstGeom prst="rect">
                <a:avLst/>
              </a:prstGeom>
              <a:noFill/>
              <a:ln>
                <a:noFill/>
              </a:ln>
            </p:spPr>
            <p:txBody>
              <a:bodyPr wrap="none" lIns="0" tIns="0" rIns="0" bIns="0" anchor="t" anchorCtr="0">
                <a:spAutoFit/>
              </a:bodyPr>
              <a:lstStyle/>
              <a:p>
                <a:pPr algn="l"/>
                <a:r>
                  <a:rPr lang="zh-CN" sz="750" dirty="0">
                    <a:solidFill>
                      <a:srgbClr val="92400E"/>
                    </a:solidFill>
                    <a:latin typeface="Arial"/>
                    <a:ea typeface="Microsoft YaHei"/>
                    <a:cs typeface="Arial"/>
                  </a:rPr>
                  <a:t>支持向量机</a:t>
                </a:r>
              </a:p>
            </p:txBody>
          </p:sp>
        </p:grpSp>
        <p:grpSp>
          <p:nvGrpSpPr>
            <p:cNvPr id="16" name="Group 16"/>
            <p:cNvGrpSpPr/>
            <p:nvPr/>
          </p:nvGrpSpPr>
          <p:grpSpPr>
            <a:xfrm>
              <a:off x="1714500" y="1190625"/>
              <a:ext cx="1000125" cy="762000"/>
              <a:chOff x="1714500" y="1190625"/>
              <a:chExt cx="1000125" cy="762000"/>
            </a:xfrm>
          </p:grpSpPr>
          <p:sp>
            <p:nvSpPr>
              <p:cNvPr id="12" name="Freeform 12"/>
              <p:cNvSpPr/>
              <p:nvPr/>
            </p:nvSpPr>
            <p:spPr>
              <a:xfrm>
                <a:off x="1714500" y="1190625"/>
                <a:ext cx="1000125" cy="762000"/>
              </a:xfrm>
              <a:custGeom>
                <a:avLst/>
                <a:gdLst/>
                <a:ahLst/>
                <a:cxnLst/>
                <a:rect l="l" t="t" r="r" b="b"/>
                <a:pathLst>
                  <a:path w="1000125" h="762000">
                    <a:moveTo>
                      <a:pt x="76200" y="0"/>
                    </a:moveTo>
                    <a:lnTo>
                      <a:pt x="923925" y="0"/>
                    </a:lnTo>
                    <a:cubicBezTo>
                      <a:pt x="966009" y="0"/>
                      <a:pt x="1000125" y="34116"/>
                      <a:pt x="1000125" y="76200"/>
                    </a:cubicBezTo>
                    <a:lnTo>
                      <a:pt x="1000125" y="685800"/>
                    </a:lnTo>
                    <a:cubicBezTo>
                      <a:pt x="1000125" y="727884"/>
                      <a:pt x="966009" y="762000"/>
                      <a:pt x="923925" y="762000"/>
                    </a:cubicBezTo>
                    <a:lnTo>
                      <a:pt x="76200" y="762000"/>
                    </a:lnTo>
                    <a:cubicBezTo>
                      <a:pt x="34116" y="762000"/>
                      <a:pt x="0" y="727884"/>
                      <a:pt x="0" y="685800"/>
                    </a:cubicBezTo>
                    <a:lnTo>
                      <a:pt x="0" y="76200"/>
                    </a:lnTo>
                    <a:cubicBezTo>
                      <a:pt x="0" y="34116"/>
                      <a:pt x="34116" y="0"/>
                      <a:pt x="76200" y="0"/>
                    </a:cubicBezTo>
                    <a:close/>
                  </a:path>
                </a:pathLst>
              </a:custGeom>
              <a:solidFill>
                <a:srgbClr val="16A34A">
                  <a:alpha val="10000"/>
                </a:srgbClr>
              </a:solidFill>
              <a:ln w="14288">
                <a:solidFill>
                  <a:srgbClr val="16A34A"/>
                </a:solidFill>
              </a:ln>
            </p:spPr>
          </p:sp>
          <p:sp>
            <p:nvSpPr>
              <p:cNvPr id="13" name="TextBox 13"/>
              <p:cNvSpPr txBox="1"/>
              <p:nvPr/>
            </p:nvSpPr>
            <p:spPr>
              <a:xfrm>
                <a:off x="1893474" y="1265872"/>
                <a:ext cx="632653" cy="396240"/>
              </a:xfrm>
              <a:prstGeom prst="rect">
                <a:avLst/>
              </a:prstGeom>
              <a:noFill/>
              <a:ln>
                <a:noFill/>
              </a:ln>
            </p:spPr>
            <p:txBody>
              <a:bodyPr wrap="none" lIns="0" tIns="0" rIns="0" bIns="0" anchor="t" anchorCtr="0">
                <a:spAutoFit/>
              </a:bodyPr>
              <a:lstStyle/>
              <a:p>
                <a:pPr algn="ctr"/>
                <a:r>
                  <a:rPr lang="zh-CN" sz="1950" b="1" dirty="0">
                    <a:solidFill>
                      <a:srgbClr val="16A34A"/>
                    </a:solidFill>
                    <a:latin typeface="Arial"/>
                    <a:ea typeface="Microsoft YaHei"/>
                    <a:cs typeface="Arial"/>
                  </a:rPr>
                  <a:t>98.1</a:t>
                </a:r>
              </a:p>
            </p:txBody>
          </p:sp>
          <p:sp>
            <p:nvSpPr>
              <p:cNvPr id="14" name="TextBox 14"/>
              <p:cNvSpPr txBox="1"/>
              <p:nvPr/>
            </p:nvSpPr>
            <p:spPr>
              <a:xfrm>
                <a:off x="2126075" y="1588770"/>
                <a:ext cx="167449" cy="182880"/>
              </a:xfrm>
              <a:prstGeom prst="rect">
                <a:avLst/>
              </a:prstGeom>
              <a:noFill/>
              <a:ln>
                <a:noFill/>
              </a:ln>
            </p:spPr>
            <p:txBody>
              <a:bodyPr wrap="none" lIns="0" tIns="0" rIns="0" bIns="0" anchor="t" anchorCtr="0">
                <a:spAutoFit/>
              </a:bodyPr>
              <a:lstStyle/>
              <a:p>
                <a:pPr algn="ctr"/>
                <a:r>
                  <a:rPr lang="zh-CN" sz="900" dirty="0">
                    <a:solidFill>
                      <a:srgbClr val="16A34A"/>
                    </a:solidFill>
                    <a:latin typeface="Arial"/>
                    <a:ea typeface="Microsoft YaHei"/>
                    <a:cs typeface="Arial"/>
                  </a:rPr>
                  <a:t>RF</a:t>
                </a:r>
              </a:p>
            </p:txBody>
          </p:sp>
          <p:sp>
            <p:nvSpPr>
              <p:cNvPr id="15" name="TextBox 15"/>
              <p:cNvSpPr txBox="1"/>
              <p:nvPr/>
            </p:nvSpPr>
            <p:spPr>
              <a:xfrm>
                <a:off x="2200275" y="1757362"/>
                <a:ext cx="457200" cy="152400"/>
              </a:xfrm>
              <a:prstGeom prst="rect">
                <a:avLst/>
              </a:prstGeom>
              <a:noFill/>
              <a:ln>
                <a:noFill/>
              </a:ln>
            </p:spPr>
            <p:txBody>
              <a:bodyPr wrap="none" lIns="0" tIns="0" rIns="0" bIns="0" anchor="t" anchorCtr="0">
                <a:spAutoFit/>
              </a:bodyPr>
              <a:lstStyle/>
              <a:p>
                <a:pPr algn="l"/>
                <a:r>
                  <a:rPr lang="zh-CN" sz="750" dirty="0">
                    <a:solidFill>
                      <a:srgbClr val="166534"/>
                    </a:solidFill>
                    <a:latin typeface="Arial"/>
                    <a:ea typeface="Microsoft YaHei"/>
                    <a:cs typeface="Arial"/>
                  </a:rPr>
                  <a:t>随机森林</a:t>
                </a:r>
              </a:p>
            </p:txBody>
          </p:sp>
        </p:grpSp>
        <p:grpSp>
          <p:nvGrpSpPr>
            <p:cNvPr id="21" name="Group 21"/>
            <p:cNvGrpSpPr/>
            <p:nvPr/>
          </p:nvGrpSpPr>
          <p:grpSpPr>
            <a:xfrm>
              <a:off x="571500" y="2095500"/>
              <a:ext cx="1052512" cy="762000"/>
              <a:chOff x="571500" y="2095500"/>
              <a:chExt cx="1052512" cy="762000"/>
            </a:xfrm>
          </p:grpSpPr>
          <p:sp>
            <p:nvSpPr>
              <p:cNvPr id="17" name="Freeform 17"/>
              <p:cNvSpPr/>
              <p:nvPr/>
            </p:nvSpPr>
            <p:spPr>
              <a:xfrm>
                <a:off x="571500" y="2095500"/>
                <a:ext cx="1000125" cy="762000"/>
              </a:xfrm>
              <a:custGeom>
                <a:avLst/>
                <a:gdLst/>
                <a:ahLst/>
                <a:cxnLst/>
                <a:rect l="l" t="t" r="r" b="b"/>
                <a:pathLst>
                  <a:path w="1000125" h="762000">
                    <a:moveTo>
                      <a:pt x="76200" y="0"/>
                    </a:moveTo>
                    <a:lnTo>
                      <a:pt x="923925" y="0"/>
                    </a:lnTo>
                    <a:cubicBezTo>
                      <a:pt x="966009" y="0"/>
                      <a:pt x="1000125" y="34116"/>
                      <a:pt x="1000125" y="76200"/>
                    </a:cubicBezTo>
                    <a:lnTo>
                      <a:pt x="1000125" y="685800"/>
                    </a:lnTo>
                    <a:cubicBezTo>
                      <a:pt x="1000125" y="727884"/>
                      <a:pt x="966009" y="762000"/>
                      <a:pt x="923925" y="762000"/>
                    </a:cubicBezTo>
                    <a:lnTo>
                      <a:pt x="76200" y="762000"/>
                    </a:lnTo>
                    <a:cubicBezTo>
                      <a:pt x="34116" y="762000"/>
                      <a:pt x="0" y="727884"/>
                      <a:pt x="0" y="685800"/>
                    </a:cubicBezTo>
                    <a:lnTo>
                      <a:pt x="0" y="76200"/>
                    </a:lnTo>
                    <a:cubicBezTo>
                      <a:pt x="0" y="34116"/>
                      <a:pt x="34116" y="0"/>
                      <a:pt x="76200" y="0"/>
                    </a:cubicBezTo>
                    <a:close/>
                  </a:path>
                </a:pathLst>
              </a:custGeom>
              <a:solidFill>
                <a:srgbClr val="2196F3">
                  <a:alpha val="10000"/>
                </a:srgbClr>
              </a:solidFill>
              <a:ln w="14288">
                <a:solidFill>
                  <a:srgbClr val="2196F3"/>
                </a:solidFill>
              </a:ln>
            </p:spPr>
          </p:sp>
          <p:sp>
            <p:nvSpPr>
              <p:cNvPr id="18" name="TextBox 18"/>
              <p:cNvSpPr txBox="1"/>
              <p:nvPr/>
            </p:nvSpPr>
            <p:spPr>
              <a:xfrm>
                <a:off x="713094" y="2170748"/>
                <a:ext cx="707412" cy="396240"/>
              </a:xfrm>
              <a:prstGeom prst="rect">
                <a:avLst/>
              </a:prstGeom>
              <a:noFill/>
              <a:ln>
                <a:noFill/>
              </a:ln>
            </p:spPr>
            <p:txBody>
              <a:bodyPr wrap="none" lIns="0" tIns="0" rIns="0" bIns="0" anchor="t" anchorCtr="0">
                <a:spAutoFit/>
              </a:bodyPr>
              <a:lstStyle/>
              <a:p>
                <a:pPr algn="ctr"/>
                <a:r>
                  <a:rPr lang="zh-CN" sz="1950" b="1" dirty="0">
                    <a:solidFill>
                      <a:srgbClr val="2196F3"/>
                    </a:solidFill>
                    <a:latin typeface="Arial"/>
                    <a:ea typeface="Microsoft YaHei"/>
                    <a:cs typeface="Arial"/>
                  </a:rPr>
                  <a:t>96.3</a:t>
                </a:r>
              </a:p>
            </p:txBody>
          </p:sp>
          <p:sp>
            <p:nvSpPr>
              <p:cNvPr id="19" name="TextBox 19"/>
              <p:cNvSpPr txBox="1"/>
              <p:nvPr/>
            </p:nvSpPr>
            <p:spPr>
              <a:xfrm>
                <a:off x="933783" y="2493645"/>
                <a:ext cx="266033" cy="182880"/>
              </a:xfrm>
              <a:prstGeom prst="rect">
                <a:avLst/>
              </a:prstGeom>
              <a:noFill/>
              <a:ln>
                <a:noFill/>
              </a:ln>
            </p:spPr>
            <p:txBody>
              <a:bodyPr wrap="none" lIns="0" tIns="0" rIns="0" bIns="0" anchor="t" anchorCtr="0">
                <a:spAutoFit/>
              </a:bodyPr>
              <a:lstStyle/>
              <a:p>
                <a:pPr algn="ctr"/>
                <a:r>
                  <a:rPr lang="zh-CN" sz="900" dirty="0">
                    <a:solidFill>
                      <a:srgbClr val="2196F3"/>
                    </a:solidFill>
                    <a:latin typeface="Arial"/>
                    <a:ea typeface="Microsoft YaHei"/>
                    <a:cs typeface="Arial"/>
                  </a:rPr>
                  <a:t>MLP</a:t>
                </a:r>
              </a:p>
            </p:txBody>
          </p:sp>
          <p:sp>
            <p:nvSpPr>
              <p:cNvPr id="20" name="TextBox 20"/>
              <p:cNvSpPr txBox="1"/>
              <p:nvPr/>
            </p:nvSpPr>
            <p:spPr>
              <a:xfrm>
                <a:off x="1057275" y="2662238"/>
                <a:ext cx="566737" cy="152400"/>
              </a:xfrm>
              <a:prstGeom prst="rect">
                <a:avLst/>
              </a:prstGeom>
              <a:noFill/>
              <a:ln>
                <a:noFill/>
              </a:ln>
            </p:spPr>
            <p:txBody>
              <a:bodyPr wrap="none" lIns="0" tIns="0" rIns="0" bIns="0" anchor="t" anchorCtr="0">
                <a:spAutoFit/>
              </a:bodyPr>
              <a:lstStyle/>
              <a:p>
                <a:pPr algn="l"/>
                <a:r>
                  <a:rPr lang="zh-CN" sz="750" dirty="0">
                    <a:solidFill>
                      <a:srgbClr val="1E40AF"/>
                    </a:solidFill>
                    <a:latin typeface="Arial"/>
                    <a:ea typeface="Microsoft YaHei"/>
                    <a:cs typeface="Arial"/>
                  </a:rPr>
                  <a:t>多层感知机</a:t>
                </a:r>
              </a:p>
            </p:txBody>
          </p:sp>
        </p:grpSp>
        <p:grpSp>
          <p:nvGrpSpPr>
            <p:cNvPr id="26" name="Group 26"/>
            <p:cNvGrpSpPr/>
            <p:nvPr/>
          </p:nvGrpSpPr>
          <p:grpSpPr>
            <a:xfrm>
              <a:off x="1714500" y="2095500"/>
              <a:ext cx="1162050" cy="762000"/>
              <a:chOff x="1714500" y="2095500"/>
              <a:chExt cx="1162050" cy="762000"/>
            </a:xfrm>
          </p:grpSpPr>
          <p:sp>
            <p:nvSpPr>
              <p:cNvPr id="22" name="Freeform 22"/>
              <p:cNvSpPr/>
              <p:nvPr/>
            </p:nvSpPr>
            <p:spPr>
              <a:xfrm>
                <a:off x="1714500" y="2095500"/>
                <a:ext cx="1000125" cy="762000"/>
              </a:xfrm>
              <a:custGeom>
                <a:avLst/>
                <a:gdLst/>
                <a:ahLst/>
                <a:cxnLst/>
                <a:rect l="l" t="t" r="r" b="b"/>
                <a:pathLst>
                  <a:path w="1000125" h="762000">
                    <a:moveTo>
                      <a:pt x="76200" y="0"/>
                    </a:moveTo>
                    <a:lnTo>
                      <a:pt x="923925" y="0"/>
                    </a:lnTo>
                    <a:cubicBezTo>
                      <a:pt x="966009" y="0"/>
                      <a:pt x="1000125" y="34116"/>
                      <a:pt x="1000125" y="76200"/>
                    </a:cubicBezTo>
                    <a:lnTo>
                      <a:pt x="1000125" y="685800"/>
                    </a:lnTo>
                    <a:cubicBezTo>
                      <a:pt x="1000125" y="727884"/>
                      <a:pt x="966009" y="762000"/>
                      <a:pt x="923925" y="762000"/>
                    </a:cubicBezTo>
                    <a:lnTo>
                      <a:pt x="76200" y="762000"/>
                    </a:lnTo>
                    <a:cubicBezTo>
                      <a:pt x="34116" y="762000"/>
                      <a:pt x="0" y="727884"/>
                      <a:pt x="0" y="685800"/>
                    </a:cubicBezTo>
                    <a:lnTo>
                      <a:pt x="0" y="76200"/>
                    </a:lnTo>
                    <a:cubicBezTo>
                      <a:pt x="0" y="34116"/>
                      <a:pt x="34116" y="0"/>
                      <a:pt x="76200" y="0"/>
                    </a:cubicBezTo>
                    <a:close/>
                  </a:path>
                </a:pathLst>
              </a:custGeom>
              <a:solidFill>
                <a:srgbClr val="4A90D9">
                  <a:alpha val="10000"/>
                </a:srgbClr>
              </a:solidFill>
              <a:ln w="14288">
                <a:solidFill>
                  <a:srgbClr val="4A90D9"/>
                </a:solidFill>
              </a:ln>
            </p:spPr>
          </p:sp>
          <p:sp>
            <p:nvSpPr>
              <p:cNvPr id="23" name="TextBox 23"/>
              <p:cNvSpPr txBox="1"/>
              <p:nvPr/>
            </p:nvSpPr>
            <p:spPr>
              <a:xfrm>
                <a:off x="1856094" y="2170748"/>
                <a:ext cx="707412" cy="396240"/>
              </a:xfrm>
              <a:prstGeom prst="rect">
                <a:avLst/>
              </a:prstGeom>
              <a:noFill/>
              <a:ln>
                <a:noFill/>
              </a:ln>
            </p:spPr>
            <p:txBody>
              <a:bodyPr wrap="none" lIns="0" tIns="0" rIns="0" bIns="0" anchor="t" anchorCtr="0">
                <a:spAutoFit/>
              </a:bodyPr>
              <a:lstStyle/>
              <a:p>
                <a:pPr algn="ctr"/>
                <a:r>
                  <a:rPr lang="zh-CN" sz="1950" b="1" dirty="0">
                    <a:solidFill>
                      <a:srgbClr val="4A90D9"/>
                    </a:solidFill>
                    <a:latin typeface="Arial"/>
                    <a:ea typeface="Microsoft YaHei"/>
                    <a:cs typeface="Arial"/>
                  </a:rPr>
                  <a:t>94.0</a:t>
                </a:r>
              </a:p>
            </p:txBody>
          </p:sp>
          <p:sp>
            <p:nvSpPr>
              <p:cNvPr id="24" name="TextBox 24"/>
              <p:cNvSpPr txBox="1"/>
              <p:nvPr/>
            </p:nvSpPr>
            <p:spPr>
              <a:xfrm>
                <a:off x="2034064" y="2493645"/>
                <a:ext cx="351472" cy="182880"/>
              </a:xfrm>
              <a:prstGeom prst="rect">
                <a:avLst/>
              </a:prstGeom>
              <a:noFill/>
              <a:ln>
                <a:noFill/>
              </a:ln>
            </p:spPr>
            <p:txBody>
              <a:bodyPr wrap="none" lIns="0" tIns="0" rIns="0" bIns="0" anchor="t" anchorCtr="0">
                <a:spAutoFit/>
              </a:bodyPr>
              <a:lstStyle/>
              <a:p>
                <a:pPr algn="ctr"/>
                <a:r>
                  <a:rPr lang="zh-CN" sz="900" dirty="0">
                    <a:solidFill>
                      <a:srgbClr val="4A90D9"/>
                    </a:solidFill>
                    <a:latin typeface="Arial"/>
                    <a:ea typeface="Microsoft YaHei"/>
                    <a:cs typeface="Arial"/>
                  </a:rPr>
                  <a:t>CNN1D</a:t>
                </a:r>
              </a:p>
            </p:txBody>
          </p:sp>
          <p:sp>
            <p:nvSpPr>
              <p:cNvPr id="25" name="TextBox 25"/>
              <p:cNvSpPr txBox="1"/>
              <p:nvPr/>
            </p:nvSpPr>
            <p:spPr>
              <a:xfrm>
                <a:off x="2200275" y="2662238"/>
                <a:ext cx="676275" cy="152400"/>
              </a:xfrm>
              <a:prstGeom prst="rect">
                <a:avLst/>
              </a:prstGeom>
              <a:noFill/>
              <a:ln>
                <a:noFill/>
              </a:ln>
            </p:spPr>
            <p:txBody>
              <a:bodyPr wrap="none" lIns="0" tIns="0" rIns="0" bIns="0" anchor="t" anchorCtr="0">
                <a:spAutoFit/>
              </a:bodyPr>
              <a:lstStyle/>
              <a:p>
                <a:pPr algn="l"/>
                <a:r>
                  <a:rPr lang="zh-CN" sz="750" dirty="0">
                    <a:solidFill>
                      <a:srgbClr val="1E3A8A"/>
                    </a:solidFill>
                    <a:latin typeface="Arial"/>
                    <a:ea typeface="Microsoft YaHei"/>
                    <a:cs typeface="Arial"/>
                  </a:rPr>
                  <a:t>一维卷积网络</a:t>
                </a:r>
              </a:p>
            </p:txBody>
          </p:sp>
        </p:grpSp>
        <p:sp>
          <p:nvSpPr>
            <p:cNvPr id="27" name="TextBox 27"/>
            <p:cNvSpPr txBox="1"/>
            <p:nvPr/>
          </p:nvSpPr>
          <p:spPr>
            <a:xfrm>
              <a:off x="559118" y="3037999"/>
              <a:ext cx="1602187"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冶金设施子数据集性能:</a:t>
              </a:r>
            </a:p>
          </p:txBody>
        </p:sp>
        <p:sp>
          <p:nvSpPr>
            <p:cNvPr id="28" name="Freeform 28"/>
            <p:cNvSpPr/>
            <p:nvPr/>
          </p:nvSpPr>
          <p:spPr>
            <a:xfrm>
              <a:off x="571500" y="3238500"/>
              <a:ext cx="2143125" cy="304800"/>
            </a:xfrm>
            <a:custGeom>
              <a:avLst/>
              <a:gdLst/>
              <a:ahLst/>
              <a:cxnLst/>
              <a:rect l="l" t="t" r="r" b="b"/>
              <a:pathLst>
                <a:path w="2143125" h="304800">
                  <a:moveTo>
                    <a:pt x="38100" y="0"/>
                  </a:moveTo>
                  <a:lnTo>
                    <a:pt x="2105025" y="0"/>
                  </a:lnTo>
                  <a:cubicBezTo>
                    <a:pt x="2126067" y="0"/>
                    <a:pt x="2143125" y="17058"/>
                    <a:pt x="2143125" y="38100"/>
                  </a:cubicBezTo>
                  <a:lnTo>
                    <a:pt x="2143125" y="266700"/>
                  </a:lnTo>
                  <a:cubicBezTo>
                    <a:pt x="2143125" y="287742"/>
                    <a:pt x="2126067" y="304800"/>
                    <a:pt x="2105025" y="304800"/>
                  </a:cubicBezTo>
                  <a:lnTo>
                    <a:pt x="38100" y="304800"/>
                  </a:lnTo>
                  <a:cubicBezTo>
                    <a:pt x="17058" y="304800"/>
                    <a:pt x="0" y="287742"/>
                    <a:pt x="0" y="266700"/>
                  </a:cubicBezTo>
                  <a:lnTo>
                    <a:pt x="0" y="38100"/>
                  </a:lnTo>
                  <a:cubicBezTo>
                    <a:pt x="0" y="17058"/>
                    <a:pt x="17058" y="0"/>
                    <a:pt x="38100" y="0"/>
                  </a:cubicBezTo>
                  <a:close/>
                </a:path>
              </a:pathLst>
            </a:custGeom>
            <a:solidFill>
              <a:srgbClr val="92400E"/>
            </a:solidFill>
            <a:ln>
              <a:noFill/>
            </a:ln>
          </p:spPr>
        </p:sp>
        <p:sp>
          <p:nvSpPr>
            <p:cNvPr id="29" name="TextBox 29"/>
            <p:cNvSpPr txBox="1"/>
            <p:nvPr/>
          </p:nvSpPr>
          <p:spPr>
            <a:xfrm>
              <a:off x="656272" y="3339941"/>
              <a:ext cx="261937"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设施</a:t>
              </a:r>
            </a:p>
          </p:txBody>
        </p:sp>
        <p:sp>
          <p:nvSpPr>
            <p:cNvPr id="30" name="TextBox 30"/>
            <p:cNvSpPr txBox="1"/>
            <p:nvPr/>
          </p:nvSpPr>
          <p:spPr>
            <a:xfrm>
              <a:off x="1132522" y="3339941"/>
              <a:ext cx="2438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SVM</a:t>
              </a:r>
            </a:p>
          </p:txBody>
        </p:sp>
        <p:sp>
          <p:nvSpPr>
            <p:cNvPr id="31" name="TextBox 31"/>
            <p:cNvSpPr txBox="1"/>
            <p:nvPr/>
          </p:nvSpPr>
          <p:spPr>
            <a:xfrm>
              <a:off x="1513522" y="3339941"/>
              <a:ext cx="153495"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RF</a:t>
              </a:r>
            </a:p>
          </p:txBody>
        </p:sp>
        <p:sp>
          <p:nvSpPr>
            <p:cNvPr id="32" name="TextBox 32"/>
            <p:cNvSpPr txBox="1"/>
            <p:nvPr/>
          </p:nvSpPr>
          <p:spPr>
            <a:xfrm>
              <a:off x="1894522" y="3339941"/>
              <a:ext cx="2438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MLP</a:t>
              </a:r>
            </a:p>
          </p:txBody>
        </p:sp>
        <p:sp>
          <p:nvSpPr>
            <p:cNvPr id="33" name="TextBox 33"/>
            <p:cNvSpPr txBox="1"/>
            <p:nvPr/>
          </p:nvSpPr>
          <p:spPr>
            <a:xfrm>
              <a:off x="2275522" y="3339941"/>
              <a:ext cx="261937"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集成</a:t>
              </a:r>
            </a:p>
          </p:txBody>
        </p:sp>
        <p:sp>
          <p:nvSpPr>
            <p:cNvPr id="34" name="Rectangle 34"/>
            <p:cNvSpPr/>
            <p:nvPr/>
          </p:nvSpPr>
          <p:spPr>
            <a:xfrm>
              <a:off x="571500" y="3543300"/>
              <a:ext cx="2143125" cy="666750"/>
            </a:xfrm>
            <a:prstGeom prst="rect">
              <a:avLst/>
            </a:prstGeom>
            <a:solidFill>
              <a:srgbClr val="FEF3C7"/>
            </a:solidFill>
            <a:ln w="14288">
              <a:solidFill>
                <a:srgbClr val="D97706"/>
              </a:solidFill>
            </a:ln>
          </p:spPr>
        </p:sp>
        <p:sp>
          <p:nvSpPr>
            <p:cNvPr id="35" name="TextBox 35"/>
            <p:cNvSpPr txBox="1"/>
            <p:nvPr/>
          </p:nvSpPr>
          <p:spPr>
            <a:xfrm>
              <a:off x="656272" y="3654266"/>
              <a:ext cx="824330" cy="167640"/>
            </a:xfrm>
            <a:prstGeom prst="rect">
              <a:avLst/>
            </a:prstGeom>
            <a:noFill/>
            <a:ln>
              <a:noFill/>
            </a:ln>
          </p:spPr>
          <p:txBody>
            <a:bodyPr wrap="none" lIns="0" tIns="0" rIns="0" bIns="0" anchor="t" anchorCtr="0">
              <a:spAutoFit/>
            </a:bodyPr>
            <a:lstStyle/>
            <a:p>
              <a:pPr algn="l"/>
              <a:r>
                <a:rPr lang="zh-CN" sz="825" b="1" dirty="0">
                  <a:solidFill>
                    <a:srgbClr val="1A1A2E"/>
                  </a:solidFill>
                  <a:latin typeface="Arial"/>
                  <a:ea typeface="Microsoft YaHei"/>
                  <a:cs typeface="Arial"/>
                </a:rPr>
                <a:t>Metallurgical</a:t>
              </a:r>
            </a:p>
          </p:txBody>
        </p:sp>
        <p:sp>
          <p:nvSpPr>
            <p:cNvPr id="36" name="TextBox 36"/>
            <p:cNvSpPr txBox="1"/>
            <p:nvPr/>
          </p:nvSpPr>
          <p:spPr>
            <a:xfrm>
              <a:off x="1131570" y="3646170"/>
              <a:ext cx="351472" cy="182880"/>
            </a:xfrm>
            <a:prstGeom prst="rect">
              <a:avLst/>
            </a:prstGeom>
            <a:noFill/>
            <a:ln>
              <a:noFill/>
            </a:ln>
          </p:spPr>
          <p:txBody>
            <a:bodyPr wrap="none" lIns="0" tIns="0" rIns="0" bIns="0" anchor="t" anchorCtr="0">
              <a:spAutoFit/>
            </a:bodyPr>
            <a:lstStyle/>
            <a:p>
              <a:pPr algn="l"/>
              <a:r>
                <a:rPr lang="zh-CN" sz="900" dirty="0">
                  <a:solidFill>
                    <a:srgbClr val="D97706"/>
                  </a:solidFill>
                  <a:latin typeface="Arial"/>
                  <a:ea typeface="Microsoft YaHei"/>
                  <a:cs typeface="Arial"/>
                </a:rPr>
                <a:t>73.1%</a:t>
              </a:r>
            </a:p>
          </p:txBody>
        </p:sp>
        <p:sp>
          <p:nvSpPr>
            <p:cNvPr id="37" name="TextBox 37"/>
            <p:cNvSpPr txBox="1"/>
            <p:nvPr/>
          </p:nvSpPr>
          <p:spPr>
            <a:xfrm>
              <a:off x="1512570" y="3646170"/>
              <a:ext cx="384334" cy="182880"/>
            </a:xfrm>
            <a:prstGeom prst="rect">
              <a:avLst/>
            </a:prstGeom>
            <a:noFill/>
            <a:ln>
              <a:noFill/>
            </a:ln>
          </p:spPr>
          <p:txBody>
            <a:bodyPr wrap="none" lIns="0" tIns="0" rIns="0" bIns="0" anchor="t" anchorCtr="0">
              <a:spAutoFit/>
            </a:bodyPr>
            <a:lstStyle/>
            <a:p>
              <a:pPr algn="l"/>
              <a:r>
                <a:rPr lang="zh-CN" sz="900" dirty="0">
                  <a:solidFill>
                    <a:srgbClr val="16A34A"/>
                  </a:solidFill>
                  <a:latin typeface="Arial"/>
                  <a:ea typeface="Microsoft YaHei"/>
                  <a:cs typeface="Arial"/>
                </a:rPr>
                <a:t>95.5%</a:t>
              </a:r>
            </a:p>
          </p:txBody>
        </p:sp>
        <p:sp>
          <p:nvSpPr>
            <p:cNvPr id="38" name="TextBox 38"/>
            <p:cNvSpPr txBox="1"/>
            <p:nvPr/>
          </p:nvSpPr>
          <p:spPr>
            <a:xfrm>
              <a:off x="1893570" y="3646170"/>
              <a:ext cx="384334" cy="182880"/>
            </a:xfrm>
            <a:prstGeom prst="rect">
              <a:avLst/>
            </a:prstGeom>
            <a:noFill/>
            <a:ln>
              <a:noFill/>
            </a:ln>
          </p:spPr>
          <p:txBody>
            <a:bodyPr wrap="none" lIns="0" tIns="0" rIns="0" bIns="0" anchor="t" anchorCtr="0">
              <a:spAutoFit/>
            </a:bodyPr>
            <a:lstStyle/>
            <a:p>
              <a:pPr algn="l"/>
              <a:r>
                <a:rPr lang="zh-CN" sz="900" dirty="0">
                  <a:solidFill>
                    <a:srgbClr val="2196F3"/>
                  </a:solidFill>
                  <a:latin typeface="Arial"/>
                  <a:ea typeface="Microsoft YaHei"/>
                  <a:cs typeface="Arial"/>
                </a:rPr>
                <a:t>95.9%</a:t>
              </a:r>
            </a:p>
          </p:txBody>
        </p:sp>
        <p:sp>
          <p:nvSpPr>
            <p:cNvPr id="39" name="TextBox 39"/>
            <p:cNvSpPr txBox="1"/>
            <p:nvPr/>
          </p:nvSpPr>
          <p:spPr>
            <a:xfrm>
              <a:off x="2274570" y="3646170"/>
              <a:ext cx="367903" cy="182880"/>
            </a:xfrm>
            <a:prstGeom prst="rect">
              <a:avLst/>
            </a:prstGeom>
            <a:noFill/>
            <a:ln>
              <a:noFill/>
            </a:ln>
          </p:spPr>
          <p:txBody>
            <a:bodyPr wrap="none" lIns="0" tIns="0" rIns="0" bIns="0" anchor="t" anchorCtr="0">
              <a:spAutoFit/>
            </a:bodyPr>
            <a:lstStyle/>
            <a:p>
              <a:pPr algn="l"/>
              <a:r>
                <a:rPr lang="zh-CN" sz="900" b="1" dirty="0">
                  <a:solidFill>
                    <a:srgbClr val="16A34A"/>
                  </a:solidFill>
                  <a:latin typeface="Arial"/>
                  <a:ea typeface="Microsoft YaHei"/>
                  <a:cs typeface="Arial"/>
                </a:rPr>
                <a:t>95.1%</a:t>
              </a:r>
            </a:p>
          </p:txBody>
        </p:sp>
        <p:sp>
          <p:nvSpPr>
            <p:cNvPr id="40" name="TextBox 40"/>
            <p:cNvSpPr txBox="1"/>
            <p:nvPr/>
          </p:nvSpPr>
          <p:spPr>
            <a:xfrm>
              <a:off x="657225" y="3852862"/>
              <a:ext cx="747474"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测试集约502条</a:t>
              </a:r>
            </a:p>
          </p:txBody>
        </p:sp>
        <p:sp>
          <p:nvSpPr>
            <p:cNvPr id="41" name="TextBox 41"/>
            <p:cNvSpPr txBox="1"/>
            <p:nvPr/>
          </p:nvSpPr>
          <p:spPr>
            <a:xfrm>
              <a:off x="657225" y="4043362"/>
              <a:ext cx="1218486" cy="152400"/>
            </a:xfrm>
            <a:prstGeom prst="rect">
              <a:avLst/>
            </a:prstGeom>
            <a:noFill/>
            <a:ln>
              <a:noFill/>
            </a:ln>
          </p:spPr>
          <p:txBody>
            <a:bodyPr wrap="none" lIns="0" tIns="0" rIns="0" bIns="0" anchor="t" anchorCtr="0">
              <a:spAutoFit/>
            </a:bodyPr>
            <a:lstStyle/>
            <a:p>
              <a:pPr algn="l"/>
              <a:r>
                <a:rPr lang="zh-CN" sz="750" dirty="0">
                  <a:solidFill>
                    <a:srgbClr val="6B7280"/>
                  </a:solidFill>
                  <a:latin typeface="Arial"/>
                  <a:ea typeface="Microsoft YaHei"/>
                  <a:cs typeface="Arial"/>
                </a:rPr>
                <a:t>CNN1D: 90.2% ↓明显下滑</a:t>
              </a:r>
            </a:p>
          </p:txBody>
        </p:sp>
        <p:sp>
          <p:nvSpPr>
            <p:cNvPr id="42" name="Freeform 42"/>
            <p:cNvSpPr/>
            <p:nvPr/>
          </p:nvSpPr>
          <p:spPr>
            <a:xfrm>
              <a:off x="571500" y="4381500"/>
              <a:ext cx="2143125" cy="666750"/>
            </a:xfrm>
            <a:custGeom>
              <a:avLst/>
              <a:gdLst/>
              <a:ahLst/>
              <a:cxnLst/>
              <a:rect l="l" t="t" r="r" b="b"/>
              <a:pathLst>
                <a:path w="2143125" h="666750">
                  <a:moveTo>
                    <a:pt x="76200" y="0"/>
                  </a:moveTo>
                  <a:lnTo>
                    <a:pt x="2066925" y="0"/>
                  </a:lnTo>
                  <a:cubicBezTo>
                    <a:pt x="2109009" y="0"/>
                    <a:pt x="2143125" y="34116"/>
                    <a:pt x="2143125" y="76200"/>
                  </a:cubicBezTo>
                  <a:lnTo>
                    <a:pt x="2143125" y="590550"/>
                  </a:lnTo>
                  <a:cubicBezTo>
                    <a:pt x="2143125" y="632634"/>
                    <a:pt x="2109009" y="666750"/>
                    <a:pt x="2066925" y="666750"/>
                  </a:cubicBezTo>
                  <a:lnTo>
                    <a:pt x="76200" y="666750"/>
                  </a:lnTo>
                  <a:cubicBezTo>
                    <a:pt x="34116" y="666750"/>
                    <a:pt x="0" y="632634"/>
                    <a:pt x="0" y="590550"/>
                  </a:cubicBezTo>
                  <a:lnTo>
                    <a:pt x="0" y="76200"/>
                  </a:lnTo>
                  <a:cubicBezTo>
                    <a:pt x="0" y="34116"/>
                    <a:pt x="34116" y="0"/>
                    <a:pt x="76200" y="0"/>
                  </a:cubicBezTo>
                  <a:close/>
                </a:path>
              </a:pathLst>
            </a:custGeom>
            <a:solidFill>
              <a:srgbClr val="FEF2F2"/>
            </a:solidFill>
            <a:ln w="14288">
              <a:solidFill>
                <a:srgbClr val="DC2626"/>
              </a:solidFill>
            </a:ln>
          </p:spPr>
        </p:sp>
        <p:sp>
          <p:nvSpPr>
            <p:cNvPr id="43" name="Freeform 43"/>
            <p:cNvSpPr/>
            <p:nvPr/>
          </p:nvSpPr>
          <p:spPr>
            <a:xfrm>
              <a:off x="571500" y="4381500"/>
              <a:ext cx="76200" cy="666750"/>
            </a:xfrm>
            <a:custGeom>
              <a:avLst/>
              <a:gdLst/>
              <a:ahLst/>
              <a:cxnLst/>
              <a:rect l="l" t="t" r="r" b="b"/>
              <a:pathLst>
                <a:path w="76200" h="666750">
                  <a:moveTo>
                    <a:pt x="38100" y="0"/>
                  </a:moveTo>
                  <a:lnTo>
                    <a:pt x="38100" y="0"/>
                  </a:lnTo>
                  <a:cubicBezTo>
                    <a:pt x="59142" y="0"/>
                    <a:pt x="76200" y="17058"/>
                    <a:pt x="76200" y="38100"/>
                  </a:cubicBezTo>
                  <a:lnTo>
                    <a:pt x="76200" y="628650"/>
                  </a:lnTo>
                  <a:cubicBezTo>
                    <a:pt x="76200" y="649692"/>
                    <a:pt x="59142" y="666750"/>
                    <a:pt x="38100" y="666750"/>
                  </a:cubicBezTo>
                  <a:lnTo>
                    <a:pt x="38100" y="666750"/>
                  </a:lnTo>
                  <a:cubicBezTo>
                    <a:pt x="17058" y="666750"/>
                    <a:pt x="0" y="649692"/>
                    <a:pt x="0" y="628650"/>
                  </a:cubicBezTo>
                  <a:lnTo>
                    <a:pt x="0" y="38100"/>
                  </a:lnTo>
                  <a:cubicBezTo>
                    <a:pt x="0" y="17058"/>
                    <a:pt x="17058" y="0"/>
                    <a:pt x="38100" y="0"/>
                  </a:cubicBezTo>
                  <a:close/>
                </a:path>
              </a:pathLst>
            </a:custGeom>
            <a:solidFill>
              <a:srgbClr val="DC2626"/>
            </a:solidFill>
            <a:ln>
              <a:noFill/>
            </a:ln>
          </p:spPr>
        </p:sp>
        <p:sp>
          <p:nvSpPr>
            <p:cNvPr id="44" name="TextBox 44"/>
            <p:cNvSpPr txBox="1"/>
            <p:nvPr/>
          </p:nvSpPr>
          <p:spPr>
            <a:xfrm>
              <a:off x="750570" y="4503420"/>
              <a:ext cx="1748076" cy="182880"/>
            </a:xfrm>
            <a:prstGeom prst="rect">
              <a:avLst/>
            </a:prstGeom>
            <a:noFill/>
            <a:ln>
              <a:noFill/>
            </a:ln>
          </p:spPr>
          <p:txBody>
            <a:bodyPr wrap="none" lIns="0" tIns="0" rIns="0" bIns="0" anchor="t" anchorCtr="0">
              <a:spAutoFit/>
            </a:bodyPr>
            <a:lstStyle/>
            <a:p>
              <a:pPr algn="l"/>
              <a:r>
                <a:rPr lang="zh-CN" sz="900" b="1" dirty="0">
                  <a:solidFill>
                    <a:srgbClr val="991B1B"/>
                  </a:solidFill>
                  <a:latin typeface="Arial"/>
                  <a:ea typeface="Microsoft YaHei"/>
                  <a:cs typeface="Arial"/>
                </a:rPr>
                <a:t>CNN1D在高多样性场景下下降</a:t>
              </a:r>
            </a:p>
          </p:txBody>
        </p:sp>
        <p:sp>
          <p:nvSpPr>
            <p:cNvPr id="45" name="TextBox 45"/>
            <p:cNvSpPr txBox="1"/>
            <p:nvPr/>
          </p:nvSpPr>
          <p:spPr>
            <a:xfrm>
              <a:off x="751522" y="4721066"/>
              <a:ext cx="2015085" cy="167640"/>
            </a:xfrm>
            <a:prstGeom prst="rect">
              <a:avLst/>
            </a:prstGeom>
            <a:noFill/>
            <a:ln>
              <a:noFill/>
            </a:ln>
          </p:spPr>
          <p:txBody>
            <a:bodyPr wrap="none" lIns="0" tIns="0" rIns="0" bIns="0" anchor="t" anchorCtr="0">
              <a:spAutoFit/>
            </a:bodyPr>
            <a:lstStyle/>
            <a:p>
              <a:pPr algn="l"/>
              <a:r>
                <a:rPr lang="zh-CN" sz="825" dirty="0">
                  <a:solidFill>
                    <a:srgbClr val="7F1D1D"/>
                  </a:solidFill>
                  <a:latin typeface="Arial"/>
                  <a:ea typeface="Microsoft YaHei"/>
                  <a:cs typeface="Arial"/>
                </a:rPr>
                <a:t>5类子目标建筑规模、可燃物差异悬殊</a:t>
              </a:r>
            </a:p>
          </p:txBody>
        </p:sp>
        <p:sp>
          <p:nvSpPr>
            <p:cNvPr id="46" name="TextBox 46"/>
            <p:cNvSpPr txBox="1"/>
            <p:nvPr/>
          </p:nvSpPr>
          <p:spPr>
            <a:xfrm>
              <a:off x="751522" y="4882991"/>
              <a:ext cx="1448776" cy="167640"/>
            </a:xfrm>
            <a:prstGeom prst="rect">
              <a:avLst/>
            </a:prstGeom>
            <a:noFill/>
            <a:ln>
              <a:noFill/>
            </a:ln>
          </p:spPr>
          <p:txBody>
            <a:bodyPr wrap="none" lIns="0" tIns="0" rIns="0" bIns="0" anchor="t" anchorCtr="0">
              <a:spAutoFit/>
            </a:bodyPr>
            <a:lstStyle/>
            <a:p>
              <a:pPr algn="l"/>
              <a:r>
                <a:rPr lang="zh-CN" sz="825" dirty="0">
                  <a:solidFill>
                    <a:srgbClr val="7F1D1D"/>
                  </a:solidFill>
                  <a:latin typeface="Arial"/>
                  <a:ea typeface="Microsoft YaHei"/>
                  <a:cs typeface="Arial"/>
                </a:rPr>
                <a:t>1D卷积核局部特征提取受限</a:t>
              </a:r>
            </a:p>
          </p:txBody>
        </p:sp>
        <p:sp>
          <p:nvSpPr>
            <p:cNvPr id="47" name="TextBox 47"/>
            <p:cNvSpPr txBox="1"/>
            <p:nvPr/>
          </p:nvSpPr>
          <p:spPr>
            <a:xfrm>
              <a:off x="559118" y="5133499"/>
              <a:ext cx="1004112"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毁伤等级分布:</a:t>
              </a:r>
            </a:p>
          </p:txBody>
        </p:sp>
        <p:pic>
          <p:nvPicPr>
            <p:cNvPr id="48" name="Image 48"/>
            <p:cNvPicPr>
              <a:picLocks noChangeAspect="1"/>
            </p:cNvPicPr>
            <p:nvPr/>
          </p:nvPicPr>
          <p:blipFill>
            <a:blip r:embed="rId2"/>
            <a:stretch>
              <a:fillRect/>
            </a:stretch>
          </p:blipFill>
          <p:spPr>
            <a:xfrm>
              <a:off x="571500" y="5334000"/>
              <a:ext cx="2143125" cy="1590675"/>
            </a:xfrm>
            <a:prstGeom prst="rect">
              <a:avLst/>
            </a:prstGeom>
          </p:spPr>
        </p:pic>
      </p:grpSp>
      <p:grpSp>
        <p:nvGrpSpPr>
          <p:cNvPr id="93" name="Group 93"/>
          <p:cNvGrpSpPr/>
          <p:nvPr/>
        </p:nvGrpSpPr>
        <p:grpSpPr>
          <a:xfrm>
            <a:off x="3032760" y="870585"/>
            <a:ext cx="8397240" cy="5796915"/>
            <a:chOff x="3032760" y="870585"/>
            <a:chExt cx="8397240" cy="5796915"/>
          </a:xfrm>
        </p:grpSpPr>
        <p:sp>
          <p:nvSpPr>
            <p:cNvPr id="50" name="TextBox 50"/>
            <p:cNvSpPr txBox="1"/>
            <p:nvPr/>
          </p:nvSpPr>
          <p:spPr>
            <a:xfrm>
              <a:off x="3032760" y="870585"/>
              <a:ext cx="2422779" cy="243840"/>
            </a:xfrm>
            <a:prstGeom prst="rect">
              <a:avLst/>
            </a:prstGeom>
            <a:noFill/>
            <a:ln>
              <a:noFill/>
            </a:ln>
          </p:spPr>
          <p:txBody>
            <a:bodyPr wrap="none" lIns="0" tIns="0" rIns="0" bIns="0" anchor="t" anchorCtr="0">
              <a:spAutoFit/>
            </a:bodyPr>
            <a:lstStyle/>
            <a:p>
              <a:pPr algn="l"/>
              <a:r>
                <a:rPr lang="zh-CN" sz="1200" b="1" dirty="0">
                  <a:solidFill>
                    <a:srgbClr val="92400E"/>
                  </a:solidFill>
                  <a:latin typeface="Arial"/>
                  <a:ea typeface="Microsoft YaHei"/>
                  <a:cs typeface="Arial"/>
                </a:rPr>
                <a:t>各模型整体测试集准确率对比</a:t>
              </a:r>
            </a:p>
          </p:txBody>
        </p:sp>
        <p:sp>
          <p:nvSpPr>
            <p:cNvPr id="51" name="TextBox 51"/>
            <p:cNvSpPr txBox="1"/>
            <p:nvPr/>
          </p:nvSpPr>
          <p:spPr>
            <a:xfrm>
              <a:off x="3036570" y="1112520"/>
              <a:ext cx="180394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四类设施混合数据集 · 单位: %</a:t>
              </a:r>
            </a:p>
          </p:txBody>
        </p:sp>
        <p:sp>
          <p:nvSpPr>
            <p:cNvPr id="52" name="Line 52"/>
            <p:cNvSpPr/>
            <p:nvPr/>
          </p:nvSpPr>
          <p:spPr>
            <a:xfrm>
              <a:off x="3619500" y="1524000"/>
              <a:ext cx="9525" cy="3762375"/>
            </a:xfrm>
            <a:custGeom>
              <a:avLst/>
              <a:gdLst/>
              <a:ahLst/>
              <a:cxnLst/>
              <a:rect l="l" t="t" r="r" b="b"/>
              <a:pathLst>
                <a:path w="9525" h="3762375">
                  <a:moveTo>
                    <a:pt x="0" y="0"/>
                  </a:moveTo>
                  <a:lnTo>
                    <a:pt x="0" y="3762375"/>
                  </a:lnTo>
                </a:path>
              </a:pathLst>
            </a:custGeom>
            <a:noFill/>
            <a:ln w="19050">
              <a:solidFill>
                <a:srgbClr val="95A5A6"/>
              </a:solidFill>
            </a:ln>
          </p:spPr>
        </p:sp>
        <p:sp>
          <p:nvSpPr>
            <p:cNvPr id="53" name="Line 53"/>
            <p:cNvSpPr/>
            <p:nvPr/>
          </p:nvSpPr>
          <p:spPr>
            <a:xfrm>
              <a:off x="3619500" y="5286375"/>
              <a:ext cx="7810500" cy="9525"/>
            </a:xfrm>
            <a:custGeom>
              <a:avLst/>
              <a:gdLst/>
              <a:ahLst/>
              <a:cxnLst/>
              <a:rect l="l" t="t" r="r" b="b"/>
              <a:pathLst>
                <a:path w="7810500" h="9525">
                  <a:moveTo>
                    <a:pt x="0" y="0"/>
                  </a:moveTo>
                  <a:lnTo>
                    <a:pt x="7810500" y="0"/>
                  </a:lnTo>
                </a:path>
              </a:pathLst>
            </a:custGeom>
            <a:noFill/>
            <a:ln w="19050">
              <a:solidFill>
                <a:srgbClr val="95A5A6"/>
              </a:solidFill>
            </a:ln>
          </p:spPr>
        </p:sp>
        <p:sp>
          <p:nvSpPr>
            <p:cNvPr id="54" name="TextBox 54"/>
            <p:cNvSpPr txBox="1"/>
            <p:nvPr/>
          </p:nvSpPr>
          <p:spPr>
            <a:xfrm>
              <a:off x="3328797" y="1464945"/>
              <a:ext cx="206883"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100</a:t>
              </a:r>
            </a:p>
          </p:txBody>
        </p:sp>
        <p:sp>
          <p:nvSpPr>
            <p:cNvPr id="55" name="Line 55"/>
            <p:cNvSpPr/>
            <p:nvPr/>
          </p:nvSpPr>
          <p:spPr>
            <a:xfrm>
              <a:off x="3619500" y="1524000"/>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56" name="TextBox 56"/>
            <p:cNvSpPr txBox="1"/>
            <p:nvPr/>
          </p:nvSpPr>
          <p:spPr>
            <a:xfrm>
              <a:off x="3368230" y="2369820"/>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80</a:t>
              </a:r>
            </a:p>
          </p:txBody>
        </p:sp>
        <p:sp>
          <p:nvSpPr>
            <p:cNvPr id="57" name="Line 57"/>
            <p:cNvSpPr/>
            <p:nvPr/>
          </p:nvSpPr>
          <p:spPr>
            <a:xfrm>
              <a:off x="3619500" y="242887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58" name="TextBox 58"/>
            <p:cNvSpPr txBox="1"/>
            <p:nvPr/>
          </p:nvSpPr>
          <p:spPr>
            <a:xfrm>
              <a:off x="3368230" y="3274695"/>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60</a:t>
              </a:r>
            </a:p>
          </p:txBody>
        </p:sp>
        <p:sp>
          <p:nvSpPr>
            <p:cNvPr id="59" name="Line 59"/>
            <p:cNvSpPr/>
            <p:nvPr/>
          </p:nvSpPr>
          <p:spPr>
            <a:xfrm>
              <a:off x="3619500" y="3333750"/>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60" name="TextBox 60"/>
            <p:cNvSpPr txBox="1"/>
            <p:nvPr/>
          </p:nvSpPr>
          <p:spPr>
            <a:xfrm>
              <a:off x="3368230" y="4179570"/>
              <a:ext cx="167449"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40</a:t>
              </a:r>
            </a:p>
          </p:txBody>
        </p:sp>
        <p:sp>
          <p:nvSpPr>
            <p:cNvPr id="61" name="Line 61"/>
            <p:cNvSpPr/>
            <p:nvPr/>
          </p:nvSpPr>
          <p:spPr>
            <a:xfrm>
              <a:off x="3619500" y="42386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62" name="TextBox 62"/>
            <p:cNvSpPr txBox="1"/>
            <p:nvPr/>
          </p:nvSpPr>
          <p:spPr>
            <a:xfrm>
              <a:off x="3440525" y="5227320"/>
              <a:ext cx="95155"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a:t>
              </a:r>
            </a:p>
          </p:txBody>
        </p:sp>
        <p:sp>
          <p:nvSpPr>
            <p:cNvPr id="63" name="Freeform 63"/>
            <p:cNvSpPr/>
            <p:nvPr/>
          </p:nvSpPr>
          <p:spPr>
            <a:xfrm>
              <a:off x="4000500" y="2390775"/>
              <a:ext cx="523875" cy="2895600"/>
            </a:xfrm>
            <a:custGeom>
              <a:avLst/>
              <a:gdLst/>
              <a:ahLst/>
              <a:cxnLst/>
              <a:rect l="l" t="t" r="r" b="b"/>
              <a:pathLst>
                <a:path w="523875" h="2895600">
                  <a:moveTo>
                    <a:pt x="38100" y="0"/>
                  </a:moveTo>
                  <a:lnTo>
                    <a:pt x="485775" y="0"/>
                  </a:lnTo>
                  <a:cubicBezTo>
                    <a:pt x="506817" y="0"/>
                    <a:pt x="523875" y="17058"/>
                    <a:pt x="523875" y="38100"/>
                  </a:cubicBezTo>
                  <a:lnTo>
                    <a:pt x="523875" y="2857500"/>
                  </a:lnTo>
                  <a:cubicBezTo>
                    <a:pt x="523875" y="2878542"/>
                    <a:pt x="506817" y="2895600"/>
                    <a:pt x="485775" y="2895600"/>
                  </a:cubicBezTo>
                  <a:lnTo>
                    <a:pt x="38100" y="2895600"/>
                  </a:lnTo>
                  <a:cubicBezTo>
                    <a:pt x="17058" y="2895600"/>
                    <a:pt x="0" y="2878542"/>
                    <a:pt x="0" y="2857500"/>
                  </a:cubicBezTo>
                  <a:lnTo>
                    <a:pt x="0" y="38100"/>
                  </a:lnTo>
                  <a:cubicBezTo>
                    <a:pt x="0" y="17058"/>
                    <a:pt x="17058" y="0"/>
                    <a:pt x="38100" y="0"/>
                  </a:cubicBezTo>
                  <a:close/>
                </a:path>
              </a:pathLst>
            </a:custGeom>
            <a:gradFill>
              <a:gsLst>
                <a:gs pos="0">
                  <a:srgbClr val="D97706"/>
                </a:gs>
                <a:gs pos="100000">
                  <a:srgbClr val="B45309"/>
                </a:gs>
              </a:gsLst>
              <a:lin ang="5400000" scaled="1"/>
            </a:gradFill>
            <a:ln>
              <a:noFill/>
            </a:ln>
          </p:spPr>
        </p:sp>
        <p:sp>
          <p:nvSpPr>
            <p:cNvPr id="64" name="TextBox 64"/>
            <p:cNvSpPr txBox="1"/>
            <p:nvPr/>
          </p:nvSpPr>
          <p:spPr>
            <a:xfrm>
              <a:off x="4049229" y="2209324"/>
              <a:ext cx="435941" cy="198120"/>
            </a:xfrm>
            <a:prstGeom prst="rect">
              <a:avLst/>
            </a:prstGeom>
            <a:noFill/>
            <a:ln>
              <a:noFill/>
            </a:ln>
          </p:spPr>
          <p:txBody>
            <a:bodyPr wrap="none" lIns="0" tIns="0" rIns="0" bIns="0" anchor="t" anchorCtr="0">
              <a:spAutoFit/>
            </a:bodyPr>
            <a:lstStyle/>
            <a:p>
              <a:pPr algn="ctr"/>
              <a:r>
                <a:rPr lang="zh-CN" sz="975" b="1" dirty="0">
                  <a:solidFill>
                    <a:srgbClr val="D97706"/>
                  </a:solidFill>
                  <a:latin typeface="Arial"/>
                  <a:ea typeface="Microsoft YaHei"/>
                  <a:cs typeface="Arial"/>
                </a:rPr>
                <a:t>76.9%</a:t>
              </a:r>
            </a:p>
          </p:txBody>
        </p:sp>
        <p:sp>
          <p:nvSpPr>
            <p:cNvPr id="65" name="TextBox 65"/>
            <p:cNvSpPr txBox="1"/>
            <p:nvPr/>
          </p:nvSpPr>
          <p:spPr>
            <a:xfrm>
              <a:off x="4134183" y="5427345"/>
              <a:ext cx="266033"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SVM</a:t>
              </a:r>
            </a:p>
          </p:txBody>
        </p:sp>
        <p:sp>
          <p:nvSpPr>
            <p:cNvPr id="66" name="Freeform 66"/>
            <p:cNvSpPr/>
            <p:nvPr/>
          </p:nvSpPr>
          <p:spPr>
            <a:xfrm>
              <a:off x="5476875" y="1590675"/>
              <a:ext cx="523875" cy="3695700"/>
            </a:xfrm>
            <a:custGeom>
              <a:avLst/>
              <a:gdLst/>
              <a:ahLst/>
              <a:cxnLst/>
              <a:rect l="l" t="t" r="r" b="b"/>
              <a:pathLst>
                <a:path w="523875" h="3695700">
                  <a:moveTo>
                    <a:pt x="38100" y="0"/>
                  </a:moveTo>
                  <a:lnTo>
                    <a:pt x="485775" y="0"/>
                  </a:lnTo>
                  <a:cubicBezTo>
                    <a:pt x="506817" y="0"/>
                    <a:pt x="523875" y="17058"/>
                    <a:pt x="523875" y="38100"/>
                  </a:cubicBezTo>
                  <a:lnTo>
                    <a:pt x="523875" y="3657600"/>
                  </a:lnTo>
                  <a:cubicBezTo>
                    <a:pt x="523875" y="3678642"/>
                    <a:pt x="506817" y="3695700"/>
                    <a:pt x="485775" y="3695700"/>
                  </a:cubicBezTo>
                  <a:lnTo>
                    <a:pt x="38100" y="3695700"/>
                  </a:lnTo>
                  <a:cubicBezTo>
                    <a:pt x="17058" y="3695700"/>
                    <a:pt x="0" y="3678642"/>
                    <a:pt x="0" y="3657600"/>
                  </a:cubicBezTo>
                  <a:lnTo>
                    <a:pt x="0" y="38100"/>
                  </a:lnTo>
                  <a:cubicBezTo>
                    <a:pt x="0" y="17058"/>
                    <a:pt x="17058" y="0"/>
                    <a:pt x="38100" y="0"/>
                  </a:cubicBezTo>
                  <a:close/>
                </a:path>
              </a:pathLst>
            </a:custGeom>
            <a:gradFill>
              <a:gsLst>
                <a:gs pos="0">
                  <a:srgbClr val="16A34A"/>
                </a:gs>
                <a:gs pos="100000">
                  <a:srgbClr val="15803D"/>
                </a:gs>
              </a:gsLst>
              <a:lin ang="5400000" scaled="1"/>
            </a:gradFill>
            <a:ln>
              <a:noFill/>
            </a:ln>
          </p:spPr>
        </p:sp>
        <p:sp>
          <p:nvSpPr>
            <p:cNvPr id="67" name="TextBox 67"/>
            <p:cNvSpPr txBox="1"/>
            <p:nvPr/>
          </p:nvSpPr>
          <p:spPr>
            <a:xfrm>
              <a:off x="5544294" y="1409224"/>
              <a:ext cx="398562" cy="198120"/>
            </a:xfrm>
            <a:prstGeom prst="rect">
              <a:avLst/>
            </a:prstGeom>
            <a:noFill/>
            <a:ln>
              <a:noFill/>
            </a:ln>
          </p:spPr>
          <p:txBody>
            <a:bodyPr wrap="none" lIns="0" tIns="0" rIns="0" bIns="0" anchor="t" anchorCtr="0">
              <a:spAutoFit/>
            </a:bodyPr>
            <a:lstStyle/>
            <a:p>
              <a:pPr algn="ctr"/>
              <a:r>
                <a:rPr lang="zh-CN" sz="975" b="1" dirty="0">
                  <a:solidFill>
                    <a:srgbClr val="16A34A"/>
                  </a:solidFill>
                  <a:latin typeface="Arial"/>
                  <a:ea typeface="Microsoft YaHei"/>
                  <a:cs typeface="Arial"/>
                </a:rPr>
                <a:t>98.1%</a:t>
              </a:r>
            </a:p>
          </p:txBody>
        </p:sp>
        <p:sp>
          <p:nvSpPr>
            <p:cNvPr id="68" name="TextBox 68"/>
            <p:cNvSpPr txBox="1"/>
            <p:nvPr/>
          </p:nvSpPr>
          <p:spPr>
            <a:xfrm>
              <a:off x="5659850" y="5427345"/>
              <a:ext cx="16744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RF</a:t>
              </a:r>
            </a:p>
          </p:txBody>
        </p:sp>
        <p:sp>
          <p:nvSpPr>
            <p:cNvPr id="69" name="Freeform 69"/>
            <p:cNvSpPr/>
            <p:nvPr/>
          </p:nvSpPr>
          <p:spPr>
            <a:xfrm>
              <a:off x="6953250" y="1666875"/>
              <a:ext cx="523875" cy="3619500"/>
            </a:xfrm>
            <a:custGeom>
              <a:avLst/>
              <a:gdLst/>
              <a:ahLst/>
              <a:cxnLst/>
              <a:rect l="l" t="t" r="r" b="b"/>
              <a:pathLst>
                <a:path w="523875" h="3619500">
                  <a:moveTo>
                    <a:pt x="38100" y="0"/>
                  </a:moveTo>
                  <a:lnTo>
                    <a:pt x="485775" y="0"/>
                  </a:lnTo>
                  <a:cubicBezTo>
                    <a:pt x="506817" y="0"/>
                    <a:pt x="523875" y="17058"/>
                    <a:pt x="523875" y="38100"/>
                  </a:cubicBezTo>
                  <a:lnTo>
                    <a:pt x="523875" y="3581400"/>
                  </a:lnTo>
                  <a:cubicBezTo>
                    <a:pt x="523875" y="3602442"/>
                    <a:pt x="506817" y="3619500"/>
                    <a:pt x="485775" y="3619500"/>
                  </a:cubicBezTo>
                  <a:lnTo>
                    <a:pt x="38100" y="3619500"/>
                  </a:lnTo>
                  <a:cubicBezTo>
                    <a:pt x="17058" y="3619500"/>
                    <a:pt x="0" y="3602442"/>
                    <a:pt x="0" y="3581400"/>
                  </a:cubicBezTo>
                  <a:lnTo>
                    <a:pt x="0" y="38100"/>
                  </a:lnTo>
                  <a:cubicBezTo>
                    <a:pt x="0" y="17058"/>
                    <a:pt x="17058" y="0"/>
                    <a:pt x="38100" y="0"/>
                  </a:cubicBezTo>
                  <a:close/>
                </a:path>
              </a:pathLst>
            </a:custGeom>
            <a:gradFill>
              <a:gsLst>
                <a:gs pos="0">
                  <a:srgbClr val="2196F3"/>
                </a:gs>
                <a:gs pos="100000">
                  <a:srgbClr val="1565C0"/>
                </a:gs>
              </a:gsLst>
              <a:lin ang="5400000" scaled="1"/>
            </a:gradFill>
            <a:ln>
              <a:noFill/>
            </a:ln>
          </p:spPr>
        </p:sp>
        <p:sp>
          <p:nvSpPr>
            <p:cNvPr id="70" name="TextBox 70"/>
            <p:cNvSpPr txBox="1"/>
            <p:nvPr/>
          </p:nvSpPr>
          <p:spPr>
            <a:xfrm>
              <a:off x="7001979" y="1485424"/>
              <a:ext cx="435941" cy="198120"/>
            </a:xfrm>
            <a:prstGeom prst="rect">
              <a:avLst/>
            </a:prstGeom>
            <a:noFill/>
            <a:ln>
              <a:noFill/>
            </a:ln>
          </p:spPr>
          <p:txBody>
            <a:bodyPr wrap="none" lIns="0" tIns="0" rIns="0" bIns="0" anchor="t" anchorCtr="0">
              <a:spAutoFit/>
            </a:bodyPr>
            <a:lstStyle/>
            <a:p>
              <a:pPr algn="ctr"/>
              <a:r>
                <a:rPr lang="zh-CN" sz="975" b="1" dirty="0">
                  <a:solidFill>
                    <a:srgbClr val="2196F3"/>
                  </a:solidFill>
                  <a:latin typeface="Arial"/>
                  <a:ea typeface="Microsoft YaHei"/>
                  <a:cs typeface="Arial"/>
                </a:rPr>
                <a:t>96.3%</a:t>
              </a:r>
            </a:p>
          </p:txBody>
        </p:sp>
        <p:sp>
          <p:nvSpPr>
            <p:cNvPr id="71" name="TextBox 71"/>
            <p:cNvSpPr txBox="1"/>
            <p:nvPr/>
          </p:nvSpPr>
          <p:spPr>
            <a:xfrm>
              <a:off x="7086933" y="5427345"/>
              <a:ext cx="266033"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MLP</a:t>
              </a:r>
            </a:p>
          </p:txBody>
        </p:sp>
        <p:sp>
          <p:nvSpPr>
            <p:cNvPr id="72" name="Freeform 72"/>
            <p:cNvSpPr/>
            <p:nvPr/>
          </p:nvSpPr>
          <p:spPr>
            <a:xfrm>
              <a:off x="8429625" y="1752600"/>
              <a:ext cx="523875" cy="3533775"/>
            </a:xfrm>
            <a:custGeom>
              <a:avLst/>
              <a:gdLst/>
              <a:ahLst/>
              <a:cxnLst/>
              <a:rect l="l" t="t" r="r" b="b"/>
              <a:pathLst>
                <a:path w="523875" h="3533775">
                  <a:moveTo>
                    <a:pt x="38100" y="0"/>
                  </a:moveTo>
                  <a:lnTo>
                    <a:pt x="485775" y="0"/>
                  </a:lnTo>
                  <a:cubicBezTo>
                    <a:pt x="506817" y="0"/>
                    <a:pt x="523875" y="17058"/>
                    <a:pt x="523875" y="38100"/>
                  </a:cubicBezTo>
                  <a:lnTo>
                    <a:pt x="523875" y="3495675"/>
                  </a:lnTo>
                  <a:cubicBezTo>
                    <a:pt x="523875" y="3516717"/>
                    <a:pt x="506817" y="3533775"/>
                    <a:pt x="485775" y="3533775"/>
                  </a:cubicBezTo>
                  <a:lnTo>
                    <a:pt x="38100" y="3533775"/>
                  </a:lnTo>
                  <a:cubicBezTo>
                    <a:pt x="17058" y="3533775"/>
                    <a:pt x="0" y="3516717"/>
                    <a:pt x="0" y="3495675"/>
                  </a:cubicBezTo>
                  <a:lnTo>
                    <a:pt x="0" y="38100"/>
                  </a:lnTo>
                  <a:cubicBezTo>
                    <a:pt x="0" y="17058"/>
                    <a:pt x="17058" y="0"/>
                    <a:pt x="38100" y="0"/>
                  </a:cubicBezTo>
                  <a:close/>
                </a:path>
              </a:pathLst>
            </a:custGeom>
            <a:gradFill>
              <a:gsLst>
                <a:gs pos="0">
                  <a:srgbClr val="4A90D9"/>
                </a:gs>
                <a:gs pos="100000">
                  <a:srgbClr val="1E5AA8"/>
                </a:gs>
              </a:gsLst>
              <a:lin ang="5400000" scaled="1"/>
            </a:gradFill>
            <a:ln>
              <a:noFill/>
            </a:ln>
          </p:spPr>
        </p:sp>
        <p:sp>
          <p:nvSpPr>
            <p:cNvPr id="73" name="TextBox 73"/>
            <p:cNvSpPr txBox="1"/>
            <p:nvPr/>
          </p:nvSpPr>
          <p:spPr>
            <a:xfrm>
              <a:off x="8478354" y="1571149"/>
              <a:ext cx="435941"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94.0%</a:t>
              </a:r>
            </a:p>
          </p:txBody>
        </p:sp>
        <p:sp>
          <p:nvSpPr>
            <p:cNvPr id="74" name="TextBox 74"/>
            <p:cNvSpPr txBox="1"/>
            <p:nvPr/>
          </p:nvSpPr>
          <p:spPr>
            <a:xfrm>
              <a:off x="8520589" y="5427345"/>
              <a:ext cx="35147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CNN1D</a:t>
              </a:r>
            </a:p>
          </p:txBody>
        </p:sp>
        <p:sp>
          <p:nvSpPr>
            <p:cNvPr id="75" name="Freeform 75"/>
            <p:cNvSpPr/>
            <p:nvPr/>
          </p:nvSpPr>
          <p:spPr>
            <a:xfrm>
              <a:off x="9906000" y="1809750"/>
              <a:ext cx="523875" cy="3476625"/>
            </a:xfrm>
            <a:custGeom>
              <a:avLst/>
              <a:gdLst/>
              <a:ahLst/>
              <a:cxnLst/>
              <a:rect l="l" t="t" r="r" b="b"/>
              <a:pathLst>
                <a:path w="523875" h="3476625">
                  <a:moveTo>
                    <a:pt x="38100" y="0"/>
                  </a:moveTo>
                  <a:lnTo>
                    <a:pt x="485775" y="0"/>
                  </a:lnTo>
                  <a:cubicBezTo>
                    <a:pt x="506817" y="0"/>
                    <a:pt x="523875" y="17058"/>
                    <a:pt x="523875" y="38100"/>
                  </a:cubicBezTo>
                  <a:lnTo>
                    <a:pt x="523875" y="3438525"/>
                  </a:lnTo>
                  <a:cubicBezTo>
                    <a:pt x="523875" y="3459567"/>
                    <a:pt x="506817" y="3476625"/>
                    <a:pt x="485775" y="3476625"/>
                  </a:cubicBezTo>
                  <a:lnTo>
                    <a:pt x="38100" y="3476625"/>
                  </a:lnTo>
                  <a:cubicBezTo>
                    <a:pt x="17058" y="3476625"/>
                    <a:pt x="0" y="3459567"/>
                    <a:pt x="0" y="3438525"/>
                  </a:cubicBezTo>
                  <a:lnTo>
                    <a:pt x="0" y="38100"/>
                  </a:lnTo>
                  <a:cubicBezTo>
                    <a:pt x="0" y="17058"/>
                    <a:pt x="17058" y="0"/>
                    <a:pt x="38100" y="0"/>
                  </a:cubicBezTo>
                  <a:close/>
                </a:path>
              </a:pathLst>
            </a:custGeom>
            <a:solidFill>
              <a:srgbClr val="92400E"/>
            </a:solidFill>
            <a:ln>
              <a:noFill/>
            </a:ln>
          </p:spPr>
        </p:sp>
        <p:sp>
          <p:nvSpPr>
            <p:cNvPr id="76" name="TextBox 76"/>
            <p:cNvSpPr txBox="1"/>
            <p:nvPr/>
          </p:nvSpPr>
          <p:spPr>
            <a:xfrm>
              <a:off x="9954729" y="1628299"/>
              <a:ext cx="435941" cy="198120"/>
            </a:xfrm>
            <a:prstGeom prst="rect">
              <a:avLst/>
            </a:prstGeom>
            <a:noFill/>
            <a:ln>
              <a:noFill/>
            </a:ln>
          </p:spPr>
          <p:txBody>
            <a:bodyPr wrap="none" lIns="0" tIns="0" rIns="0" bIns="0" anchor="t" anchorCtr="0">
              <a:spAutoFit/>
            </a:bodyPr>
            <a:lstStyle/>
            <a:p>
              <a:pPr algn="ctr"/>
              <a:r>
                <a:rPr lang="zh-CN" sz="975" b="1" dirty="0">
                  <a:solidFill>
                    <a:srgbClr val="92400E"/>
                  </a:solidFill>
                  <a:latin typeface="Arial"/>
                  <a:ea typeface="Microsoft YaHei"/>
                  <a:cs typeface="Arial"/>
                </a:rPr>
                <a:t>95.5%</a:t>
              </a:r>
            </a:p>
          </p:txBody>
        </p:sp>
        <p:sp>
          <p:nvSpPr>
            <p:cNvPr id="77" name="TextBox 77"/>
            <p:cNvSpPr txBox="1"/>
            <p:nvPr/>
          </p:nvSpPr>
          <p:spPr>
            <a:xfrm>
              <a:off x="10031730" y="5443538"/>
              <a:ext cx="281940" cy="152400"/>
            </a:xfrm>
            <a:prstGeom prst="rect">
              <a:avLst/>
            </a:prstGeom>
            <a:noFill/>
            <a:ln>
              <a:noFill/>
            </a:ln>
          </p:spPr>
          <p:txBody>
            <a:bodyPr wrap="none" lIns="0" tIns="0" rIns="0" bIns="0" anchor="t" anchorCtr="0">
              <a:spAutoFit/>
            </a:bodyPr>
            <a:lstStyle/>
            <a:p>
              <a:pPr algn="ctr"/>
              <a:r>
                <a:rPr lang="zh-CN" sz="750" dirty="0">
                  <a:solidFill>
                    <a:srgbClr val="92400E"/>
                  </a:solidFill>
                  <a:latin typeface="Arial"/>
                  <a:ea typeface="Microsoft YaHei"/>
                  <a:cs typeface="Arial"/>
                </a:rPr>
                <a:t>Met.</a:t>
              </a:r>
            </a:p>
          </p:txBody>
        </p:sp>
        <p:sp>
          <p:nvSpPr>
            <p:cNvPr id="78" name="TextBox 78"/>
            <p:cNvSpPr txBox="1"/>
            <p:nvPr/>
          </p:nvSpPr>
          <p:spPr>
            <a:xfrm>
              <a:off x="10102929" y="5567362"/>
              <a:ext cx="139541" cy="152400"/>
            </a:xfrm>
            <a:prstGeom prst="rect">
              <a:avLst/>
            </a:prstGeom>
            <a:noFill/>
            <a:ln>
              <a:noFill/>
            </a:ln>
          </p:spPr>
          <p:txBody>
            <a:bodyPr wrap="none" lIns="0" tIns="0" rIns="0" bIns="0" anchor="t" anchorCtr="0">
              <a:spAutoFit/>
            </a:bodyPr>
            <a:lstStyle/>
            <a:p>
              <a:pPr algn="ctr"/>
              <a:r>
                <a:rPr lang="zh-CN" sz="750" dirty="0">
                  <a:solidFill>
                    <a:srgbClr val="92400E"/>
                  </a:solidFill>
                  <a:latin typeface="Arial"/>
                  <a:ea typeface="Microsoft YaHei"/>
                  <a:cs typeface="Arial"/>
                </a:rPr>
                <a:t>RF</a:t>
              </a:r>
            </a:p>
          </p:txBody>
        </p:sp>
        <p:grpSp>
          <p:nvGrpSpPr>
            <p:cNvPr id="89" name="Group 89"/>
            <p:cNvGrpSpPr/>
            <p:nvPr/>
          </p:nvGrpSpPr>
          <p:grpSpPr>
            <a:xfrm>
              <a:off x="3619500" y="5857875"/>
              <a:ext cx="3868460" cy="192881"/>
              <a:chOff x="3619500" y="5857875"/>
              <a:chExt cx="3868460" cy="192881"/>
            </a:xfrm>
          </p:grpSpPr>
          <p:sp>
            <p:nvSpPr>
              <p:cNvPr id="79" name="Freeform 79"/>
              <p:cNvSpPr/>
              <p:nvPr/>
            </p:nvSpPr>
            <p:spPr>
              <a:xfrm>
                <a:off x="3619500"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D97706"/>
                  </a:gs>
                  <a:gs pos="100000">
                    <a:srgbClr val="B45309"/>
                  </a:gs>
                </a:gsLst>
                <a:lin ang="5400000" scaled="1"/>
              </a:gradFill>
              <a:ln>
                <a:noFill/>
              </a:ln>
            </p:spPr>
          </p:sp>
          <p:sp>
            <p:nvSpPr>
              <p:cNvPr id="80" name="TextBox 80"/>
              <p:cNvSpPr txBox="1"/>
              <p:nvPr/>
            </p:nvSpPr>
            <p:spPr>
              <a:xfrm>
                <a:off x="3818572" y="5883116"/>
                <a:ext cx="24386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SVM</a:t>
                </a:r>
              </a:p>
            </p:txBody>
          </p:sp>
          <p:sp>
            <p:nvSpPr>
              <p:cNvPr id="81" name="Freeform 81"/>
              <p:cNvSpPr/>
              <p:nvPr/>
            </p:nvSpPr>
            <p:spPr>
              <a:xfrm>
                <a:off x="4238625"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16A34A"/>
                  </a:gs>
                  <a:gs pos="100000">
                    <a:srgbClr val="15803D"/>
                  </a:gs>
                </a:gsLst>
                <a:lin ang="5400000" scaled="1"/>
              </a:gradFill>
              <a:ln>
                <a:noFill/>
              </a:ln>
            </p:spPr>
          </p:sp>
          <p:sp>
            <p:nvSpPr>
              <p:cNvPr id="82" name="TextBox 82"/>
              <p:cNvSpPr txBox="1"/>
              <p:nvPr/>
            </p:nvSpPr>
            <p:spPr>
              <a:xfrm>
                <a:off x="4437698" y="5883116"/>
                <a:ext cx="15349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RF</a:t>
                </a:r>
              </a:p>
            </p:txBody>
          </p:sp>
          <p:sp>
            <p:nvSpPr>
              <p:cNvPr id="83" name="Freeform 83"/>
              <p:cNvSpPr/>
              <p:nvPr/>
            </p:nvSpPr>
            <p:spPr>
              <a:xfrm>
                <a:off x="4810125"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2196F3"/>
                  </a:gs>
                  <a:gs pos="100000">
                    <a:srgbClr val="1565C0"/>
                  </a:gs>
                </a:gsLst>
                <a:lin ang="5400000" scaled="1"/>
              </a:gradFill>
              <a:ln>
                <a:noFill/>
              </a:ln>
            </p:spPr>
          </p:sp>
          <p:sp>
            <p:nvSpPr>
              <p:cNvPr id="84" name="TextBox 84"/>
              <p:cNvSpPr txBox="1"/>
              <p:nvPr/>
            </p:nvSpPr>
            <p:spPr>
              <a:xfrm>
                <a:off x="5009198" y="5883116"/>
                <a:ext cx="24386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MLP</a:t>
                </a:r>
              </a:p>
            </p:txBody>
          </p:sp>
          <p:sp>
            <p:nvSpPr>
              <p:cNvPr id="85" name="Freeform 85"/>
              <p:cNvSpPr/>
              <p:nvPr/>
            </p:nvSpPr>
            <p:spPr>
              <a:xfrm>
                <a:off x="5476875"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gradFill>
                <a:gsLst>
                  <a:gs pos="0">
                    <a:srgbClr val="4A90D9"/>
                  </a:gs>
                  <a:gs pos="100000">
                    <a:srgbClr val="1E5AA8"/>
                  </a:gs>
                </a:gsLst>
                <a:lin ang="5400000" scaled="1"/>
              </a:gradFill>
              <a:ln>
                <a:noFill/>
              </a:ln>
            </p:spPr>
          </p:sp>
          <p:sp>
            <p:nvSpPr>
              <p:cNvPr id="86" name="TextBox 86"/>
              <p:cNvSpPr txBox="1"/>
              <p:nvPr/>
            </p:nvSpPr>
            <p:spPr>
              <a:xfrm>
                <a:off x="5675948" y="5883116"/>
                <a:ext cx="322183"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CNN1D</a:t>
                </a:r>
              </a:p>
            </p:txBody>
          </p:sp>
          <p:sp>
            <p:nvSpPr>
              <p:cNvPr id="87" name="Freeform 87"/>
              <p:cNvSpPr/>
              <p:nvPr/>
            </p:nvSpPr>
            <p:spPr>
              <a:xfrm>
                <a:off x="6334125" y="5857875"/>
                <a:ext cx="133350" cy="133350"/>
              </a:xfrm>
              <a:custGeom>
                <a:avLst/>
                <a:gdLst/>
                <a:ahLst/>
                <a:cxnLst/>
                <a:rect l="l" t="t" r="r" b="b"/>
                <a:pathLst>
                  <a:path w="133350" h="133350">
                    <a:moveTo>
                      <a:pt x="19050" y="0"/>
                    </a:moveTo>
                    <a:lnTo>
                      <a:pt x="114300" y="0"/>
                    </a:lnTo>
                    <a:cubicBezTo>
                      <a:pt x="124821" y="0"/>
                      <a:pt x="133350" y="8529"/>
                      <a:pt x="133350" y="19050"/>
                    </a:cubicBezTo>
                    <a:lnTo>
                      <a:pt x="133350" y="114300"/>
                    </a:lnTo>
                    <a:cubicBezTo>
                      <a:pt x="133350" y="124821"/>
                      <a:pt x="124821" y="133350"/>
                      <a:pt x="114300" y="133350"/>
                    </a:cubicBezTo>
                    <a:lnTo>
                      <a:pt x="19050" y="133350"/>
                    </a:lnTo>
                    <a:cubicBezTo>
                      <a:pt x="8529" y="133350"/>
                      <a:pt x="0" y="124821"/>
                      <a:pt x="0" y="114300"/>
                    </a:cubicBezTo>
                    <a:lnTo>
                      <a:pt x="0" y="19050"/>
                    </a:lnTo>
                    <a:cubicBezTo>
                      <a:pt x="0" y="8529"/>
                      <a:pt x="8529" y="0"/>
                      <a:pt x="19050" y="0"/>
                    </a:cubicBezTo>
                    <a:close/>
                  </a:path>
                </a:pathLst>
              </a:custGeom>
              <a:solidFill>
                <a:srgbClr val="92400E"/>
              </a:solidFill>
              <a:ln>
                <a:noFill/>
              </a:ln>
            </p:spPr>
          </p:sp>
          <p:sp>
            <p:nvSpPr>
              <p:cNvPr id="88" name="TextBox 88"/>
              <p:cNvSpPr txBox="1"/>
              <p:nvPr/>
            </p:nvSpPr>
            <p:spPr>
              <a:xfrm>
                <a:off x="6533198" y="5883116"/>
                <a:ext cx="954762"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Metallurgical RF</a:t>
                </a:r>
              </a:p>
            </p:txBody>
          </p:sp>
        </p:grpSp>
        <p:sp>
          <p:nvSpPr>
            <p:cNvPr id="90" name="Freeform 90"/>
            <p:cNvSpPr/>
            <p:nvPr/>
          </p:nvSpPr>
          <p:spPr>
            <a:xfrm>
              <a:off x="3619500" y="6143625"/>
              <a:ext cx="7239000" cy="523875"/>
            </a:xfrm>
            <a:custGeom>
              <a:avLst/>
              <a:gdLst/>
              <a:ahLst/>
              <a:cxnLst/>
              <a:rect l="l" t="t" r="r" b="b"/>
              <a:pathLst>
                <a:path w="7239000" h="523875">
                  <a:moveTo>
                    <a:pt x="76200" y="0"/>
                  </a:moveTo>
                  <a:lnTo>
                    <a:pt x="7162800" y="0"/>
                  </a:lnTo>
                  <a:cubicBezTo>
                    <a:pt x="7204884" y="0"/>
                    <a:pt x="7239000" y="34116"/>
                    <a:pt x="7239000" y="76200"/>
                  </a:cubicBezTo>
                  <a:lnTo>
                    <a:pt x="7239000" y="447675"/>
                  </a:lnTo>
                  <a:cubicBezTo>
                    <a:pt x="7239000" y="489759"/>
                    <a:pt x="7204884" y="523875"/>
                    <a:pt x="7162800" y="523875"/>
                  </a:cubicBezTo>
                  <a:lnTo>
                    <a:pt x="76200" y="523875"/>
                  </a:lnTo>
                  <a:cubicBezTo>
                    <a:pt x="34116" y="523875"/>
                    <a:pt x="0" y="489759"/>
                    <a:pt x="0" y="447675"/>
                  </a:cubicBezTo>
                  <a:lnTo>
                    <a:pt x="0" y="76200"/>
                  </a:lnTo>
                  <a:cubicBezTo>
                    <a:pt x="0" y="34116"/>
                    <a:pt x="34116" y="0"/>
                    <a:pt x="76200" y="0"/>
                  </a:cubicBezTo>
                  <a:close/>
                </a:path>
              </a:pathLst>
            </a:custGeom>
            <a:solidFill>
              <a:srgbClr val="F8FAFC"/>
            </a:solidFill>
            <a:ln w="9525">
              <a:solidFill>
                <a:srgbClr val="E5E7EB"/>
              </a:solidFill>
            </a:ln>
          </p:spPr>
        </p:sp>
        <p:sp>
          <p:nvSpPr>
            <p:cNvPr id="91" name="TextBox 91"/>
            <p:cNvSpPr txBox="1"/>
            <p:nvPr/>
          </p:nvSpPr>
          <p:spPr>
            <a:xfrm>
              <a:off x="3797618" y="6276499"/>
              <a:ext cx="4510326"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注：融合权重 RF=27.0% / MLP=26.4% / CNN1D=26.1% / SVM=20.6%</a:t>
              </a:r>
            </a:p>
          </p:txBody>
        </p:sp>
        <p:sp>
          <p:nvSpPr>
            <p:cNvPr id="92" name="TextBox 92"/>
            <p:cNvSpPr txBox="1"/>
            <p:nvPr/>
          </p:nvSpPr>
          <p:spPr>
            <a:xfrm>
              <a:off x="3798570" y="6475095"/>
              <a:ext cx="4662868"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RF因验证集准确率最高(98.8%)获最大权重，MLP和CNN1D的补充判断能力被保留</a:t>
              </a:r>
            </a:p>
          </p:txBody>
        </p:sp>
      </p:grpSp>
      <p:sp>
        <p:nvSpPr>
          <p:cNvPr id="94" name="TextBox 94"/>
          <p:cNvSpPr txBox="1"/>
          <p:nvPr/>
        </p:nvSpPr>
        <p:spPr>
          <a:xfrm>
            <a:off x="560070" y="6570345"/>
            <a:ext cx="397478"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12 / 16</a:t>
            </a:r>
          </a:p>
        </p:txBody>
      </p:sp>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B3A6B"/>
          </a:solidFill>
          <a:ln>
            <a:noFill/>
          </a:ln>
        </p:spPr>
      </p:sp>
      <p:sp>
        <p:nvSpPr>
          <p:cNvPr id="4" name="TextBox 4"/>
          <p:cNvSpPr txBox="1"/>
          <p:nvPr/>
        </p:nvSpPr>
        <p:spPr>
          <a:xfrm>
            <a:off x="550545" y="183832"/>
            <a:ext cx="1914344"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04 综合性能对比</a:t>
            </a:r>
          </a:p>
        </p:txBody>
      </p:sp>
      <p:sp>
        <p:nvSpPr>
          <p:cNvPr id="5" name="TextBox 5"/>
          <p:cNvSpPr txBox="1"/>
          <p:nvPr/>
        </p:nvSpPr>
        <p:spPr>
          <a:xfrm>
            <a:off x="10357342" y="248602"/>
            <a:ext cx="1276493" cy="213360"/>
          </a:xfrm>
          <a:prstGeom prst="rect">
            <a:avLst/>
          </a:prstGeom>
          <a:noFill/>
          <a:ln>
            <a:noFill/>
          </a:ln>
        </p:spPr>
        <p:txBody>
          <a:bodyPr wrap="none" lIns="0" tIns="0" rIns="0" bIns="0" anchor="t" anchorCtr="0">
            <a:spAutoFit/>
          </a:bodyPr>
          <a:lstStyle/>
          <a:p>
            <a:pPr algn="r"/>
            <a:r>
              <a:rPr lang="zh-CN" sz="1050" dirty="0">
                <a:solidFill>
                  <a:srgbClr val="4A90D9"/>
                </a:solidFill>
                <a:latin typeface="Arial"/>
                <a:ea typeface="Microsoft YaHei"/>
                <a:cs typeface="Arial"/>
              </a:rPr>
              <a:t>四类设施 × 四模型</a:t>
            </a:r>
          </a:p>
        </p:txBody>
      </p:sp>
      <p:sp>
        <p:nvSpPr>
          <p:cNvPr id="6" name="TextBox 6"/>
          <p:cNvSpPr txBox="1"/>
          <p:nvPr/>
        </p:nvSpPr>
        <p:spPr>
          <a:xfrm>
            <a:off x="554355" y="711518"/>
            <a:ext cx="2725626" cy="274320"/>
          </a:xfrm>
          <a:prstGeom prst="rect">
            <a:avLst/>
          </a:prstGeom>
          <a:noFill/>
          <a:ln>
            <a:noFill/>
          </a:ln>
        </p:spPr>
        <p:txBody>
          <a:bodyPr wrap="none" lIns="0" tIns="0" rIns="0" bIns="0" anchor="t" anchorCtr="0">
            <a:spAutoFit/>
          </a:bodyPr>
          <a:lstStyle/>
          <a:p>
            <a:pPr algn="l"/>
            <a:r>
              <a:rPr lang="zh-CN" sz="1350" b="1" dirty="0">
                <a:solidFill>
                  <a:srgbClr val="1B3A6B"/>
                </a:solidFill>
                <a:latin typeface="Arial"/>
                <a:ea typeface="Microsoft YaHei"/>
                <a:cs typeface="Arial"/>
              </a:rPr>
              <a:t>按设施类型拆分模型性能对比</a:t>
            </a:r>
          </a:p>
        </p:txBody>
      </p:sp>
      <p:sp>
        <p:nvSpPr>
          <p:cNvPr id="7" name="TextBox 7"/>
          <p:cNvSpPr txBox="1"/>
          <p:nvPr/>
        </p:nvSpPr>
        <p:spPr>
          <a:xfrm>
            <a:off x="559118" y="990124"/>
            <a:ext cx="4076009"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测试集准确率 (%) · 数值越高颜色越深(绿) / 越低颜色越浅(红)</a:t>
            </a:r>
          </a:p>
        </p:txBody>
      </p:sp>
      <p:grpSp>
        <p:nvGrpSpPr>
          <p:cNvPr id="15" name="Group 15"/>
          <p:cNvGrpSpPr/>
          <p:nvPr/>
        </p:nvGrpSpPr>
        <p:grpSpPr>
          <a:xfrm>
            <a:off x="1905000" y="1333500"/>
            <a:ext cx="9525000" cy="381000"/>
            <a:chOff x="1905000" y="1333500"/>
            <a:chExt cx="9525000" cy="381000"/>
          </a:xfrm>
        </p:grpSpPr>
        <p:sp>
          <p:nvSpPr>
            <p:cNvPr id="8" name="Freeform 8"/>
            <p:cNvSpPr/>
            <p:nvPr/>
          </p:nvSpPr>
          <p:spPr>
            <a:xfrm>
              <a:off x="1905000" y="1333500"/>
              <a:ext cx="9525000" cy="381000"/>
            </a:xfrm>
            <a:custGeom>
              <a:avLst/>
              <a:gdLst/>
              <a:ahLst/>
              <a:cxnLst/>
              <a:rect l="l" t="t" r="r" b="b"/>
              <a:pathLst>
                <a:path w="9525000" h="381000">
                  <a:moveTo>
                    <a:pt x="38100" y="0"/>
                  </a:moveTo>
                  <a:lnTo>
                    <a:pt x="9486900" y="0"/>
                  </a:lnTo>
                  <a:cubicBezTo>
                    <a:pt x="9507942" y="0"/>
                    <a:pt x="9525000" y="17058"/>
                    <a:pt x="9525000" y="38100"/>
                  </a:cubicBezTo>
                  <a:lnTo>
                    <a:pt x="9525000" y="342900"/>
                  </a:lnTo>
                  <a:cubicBezTo>
                    <a:pt x="9525000" y="363942"/>
                    <a:pt x="9507942" y="381000"/>
                    <a:pt x="9486900" y="381000"/>
                  </a:cubicBezTo>
                  <a:lnTo>
                    <a:pt x="38100" y="381000"/>
                  </a:lnTo>
                  <a:cubicBezTo>
                    <a:pt x="17058" y="381000"/>
                    <a:pt x="0" y="363942"/>
                    <a:pt x="0" y="342900"/>
                  </a:cubicBezTo>
                  <a:lnTo>
                    <a:pt x="0" y="38100"/>
                  </a:lnTo>
                  <a:cubicBezTo>
                    <a:pt x="0" y="17058"/>
                    <a:pt x="17058" y="0"/>
                    <a:pt x="38100" y="0"/>
                  </a:cubicBezTo>
                  <a:close/>
                </a:path>
              </a:pathLst>
            </a:custGeom>
            <a:solidFill>
              <a:srgbClr val="1B3A6B"/>
            </a:solidFill>
            <a:ln>
              <a:noFill/>
            </a:ln>
          </p:spPr>
        </p:sp>
        <p:sp>
          <p:nvSpPr>
            <p:cNvPr id="9" name="TextBox 9"/>
            <p:cNvSpPr txBox="1"/>
            <p:nvPr/>
          </p:nvSpPr>
          <p:spPr>
            <a:xfrm>
              <a:off x="2333271" y="1467802"/>
              <a:ext cx="32455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SVM</a:t>
              </a:r>
            </a:p>
          </p:txBody>
        </p:sp>
        <p:sp>
          <p:nvSpPr>
            <p:cNvPr id="10" name="TextBox 10"/>
            <p:cNvSpPr txBox="1"/>
            <p:nvPr/>
          </p:nvSpPr>
          <p:spPr>
            <a:xfrm>
              <a:off x="3612854" y="1467802"/>
              <a:ext cx="20379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RF</a:t>
              </a:r>
            </a:p>
          </p:txBody>
        </p:sp>
        <p:sp>
          <p:nvSpPr>
            <p:cNvPr id="11" name="TextBox 11"/>
            <p:cNvSpPr txBox="1"/>
            <p:nvPr/>
          </p:nvSpPr>
          <p:spPr>
            <a:xfrm>
              <a:off x="4790721" y="1467802"/>
              <a:ext cx="32455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MLP</a:t>
              </a:r>
            </a:p>
          </p:txBody>
        </p:sp>
        <p:sp>
          <p:nvSpPr>
            <p:cNvPr id="12" name="TextBox 12"/>
            <p:cNvSpPr txBox="1"/>
            <p:nvPr/>
          </p:nvSpPr>
          <p:spPr>
            <a:xfrm>
              <a:off x="5976640" y="1467802"/>
              <a:ext cx="42922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CNN1D</a:t>
              </a:r>
            </a:p>
          </p:txBody>
        </p:sp>
        <p:sp>
          <p:nvSpPr>
            <p:cNvPr id="13" name="TextBox 13"/>
            <p:cNvSpPr txBox="1"/>
            <p:nvPr/>
          </p:nvSpPr>
          <p:spPr>
            <a:xfrm>
              <a:off x="7255145" y="1467802"/>
              <a:ext cx="34871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集成</a:t>
              </a:r>
            </a:p>
          </p:txBody>
        </p:sp>
        <p:sp>
          <p:nvSpPr>
            <p:cNvPr id="14" name="TextBox 14"/>
            <p:cNvSpPr txBox="1"/>
            <p:nvPr/>
          </p:nvSpPr>
          <p:spPr>
            <a:xfrm>
              <a:off x="8304196" y="1467802"/>
              <a:ext cx="72710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Ensemble</a:t>
              </a:r>
            </a:p>
          </p:txBody>
        </p:sp>
      </p:grpSp>
      <p:grpSp>
        <p:nvGrpSpPr>
          <p:cNvPr id="34" name="Group 34"/>
          <p:cNvGrpSpPr/>
          <p:nvPr/>
        </p:nvGrpSpPr>
        <p:grpSpPr>
          <a:xfrm>
            <a:off x="571500" y="1714500"/>
            <a:ext cx="7429500" cy="666750"/>
            <a:chOff x="571500" y="1714500"/>
            <a:chExt cx="7429500" cy="666750"/>
          </a:xfrm>
        </p:grpSpPr>
        <p:sp>
          <p:nvSpPr>
            <p:cNvPr id="16" name="Freeform 16"/>
            <p:cNvSpPr/>
            <p:nvPr/>
          </p:nvSpPr>
          <p:spPr>
            <a:xfrm>
              <a:off x="571500" y="1714500"/>
              <a:ext cx="1285875" cy="666750"/>
            </a:xfrm>
            <a:custGeom>
              <a:avLst/>
              <a:gdLst/>
              <a:ahLst/>
              <a:cxnLst/>
              <a:rect l="l" t="t" r="r" b="b"/>
              <a:pathLst>
                <a:path w="1285875" h="666750">
                  <a:moveTo>
                    <a:pt x="38100" y="0"/>
                  </a:moveTo>
                  <a:lnTo>
                    <a:pt x="1247775" y="0"/>
                  </a:lnTo>
                  <a:cubicBezTo>
                    <a:pt x="1268817" y="0"/>
                    <a:pt x="1285875" y="17058"/>
                    <a:pt x="1285875" y="38100"/>
                  </a:cubicBezTo>
                  <a:lnTo>
                    <a:pt x="1285875" y="628650"/>
                  </a:lnTo>
                  <a:cubicBezTo>
                    <a:pt x="1285875" y="649692"/>
                    <a:pt x="1268817" y="666750"/>
                    <a:pt x="1247775" y="666750"/>
                  </a:cubicBezTo>
                  <a:lnTo>
                    <a:pt x="38100" y="666750"/>
                  </a:lnTo>
                  <a:cubicBezTo>
                    <a:pt x="17058" y="666750"/>
                    <a:pt x="0" y="649692"/>
                    <a:pt x="0" y="628650"/>
                  </a:cubicBezTo>
                  <a:lnTo>
                    <a:pt x="0" y="38100"/>
                  </a:lnTo>
                  <a:cubicBezTo>
                    <a:pt x="0" y="17058"/>
                    <a:pt x="17058" y="0"/>
                    <a:pt x="38100" y="0"/>
                  </a:cubicBezTo>
                  <a:close/>
                </a:path>
              </a:pathLst>
            </a:custGeom>
            <a:solidFill>
              <a:srgbClr val="1B3A6B">
                <a:alpha val="10000"/>
              </a:srgbClr>
            </a:solidFill>
            <a:ln>
              <a:noFill/>
            </a:ln>
          </p:spPr>
        </p:sp>
        <p:sp>
          <p:nvSpPr>
            <p:cNvPr id="17" name="TextBox 17"/>
            <p:cNvSpPr txBox="1"/>
            <p:nvPr/>
          </p:nvSpPr>
          <p:spPr>
            <a:xfrm>
              <a:off x="866177" y="1884045"/>
              <a:ext cx="706045" cy="182880"/>
            </a:xfrm>
            <a:prstGeom prst="rect">
              <a:avLst/>
            </a:prstGeom>
            <a:noFill/>
            <a:ln>
              <a:noFill/>
            </a:ln>
          </p:spPr>
          <p:txBody>
            <a:bodyPr wrap="none" lIns="0" tIns="0" rIns="0" bIns="0" anchor="t" anchorCtr="0">
              <a:spAutoFit/>
            </a:bodyPr>
            <a:lstStyle/>
            <a:p>
              <a:pPr algn="ctr"/>
              <a:r>
                <a:rPr lang="zh-CN" sz="900" b="1" dirty="0">
                  <a:solidFill>
                    <a:srgbClr val="1B3A6B"/>
                  </a:solidFill>
                  <a:latin typeface="Arial"/>
                  <a:ea typeface="Microsoft YaHei"/>
                  <a:cs typeface="Arial"/>
                </a:rPr>
                <a:t>Aerospace</a:t>
              </a:r>
            </a:p>
          </p:txBody>
        </p:sp>
        <p:sp>
          <p:nvSpPr>
            <p:cNvPr id="18" name="TextBox 18"/>
            <p:cNvSpPr txBox="1"/>
            <p:nvPr/>
          </p:nvSpPr>
          <p:spPr>
            <a:xfrm>
              <a:off x="937617" y="2063591"/>
              <a:ext cx="563166" cy="167640"/>
            </a:xfrm>
            <a:prstGeom prst="rect">
              <a:avLst/>
            </a:prstGeom>
            <a:noFill/>
            <a:ln>
              <a:noFill/>
            </a:ln>
          </p:spPr>
          <p:txBody>
            <a:bodyPr wrap="none" lIns="0" tIns="0" rIns="0" bIns="0" anchor="t" anchorCtr="0">
              <a:spAutoFit/>
            </a:bodyPr>
            <a:lstStyle/>
            <a:p>
              <a:pPr algn="ctr"/>
              <a:r>
                <a:rPr lang="zh-CN" sz="825" dirty="0">
                  <a:solidFill>
                    <a:srgbClr val="6B7280"/>
                  </a:solidFill>
                  <a:latin typeface="Arial"/>
                  <a:ea typeface="Microsoft YaHei"/>
                  <a:cs typeface="Arial"/>
                </a:rPr>
                <a:t>Facilities</a:t>
              </a:r>
            </a:p>
          </p:txBody>
        </p:sp>
        <p:sp>
          <p:nvSpPr>
            <p:cNvPr id="19" name="Freeform 19"/>
            <p:cNvSpPr/>
            <p:nvPr/>
          </p:nvSpPr>
          <p:spPr>
            <a:xfrm>
              <a:off x="1905000" y="17145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DC2626"/>
            </a:solidFill>
            <a:ln>
              <a:noFill/>
            </a:ln>
          </p:spPr>
        </p:sp>
        <p:sp>
          <p:nvSpPr>
            <p:cNvPr id="20" name="TextBox 20"/>
            <p:cNvSpPr txBox="1"/>
            <p:nvPr/>
          </p:nvSpPr>
          <p:spPr>
            <a:xfrm>
              <a:off x="2174694" y="18545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74.4%</a:t>
              </a:r>
            </a:p>
          </p:txBody>
        </p:sp>
        <p:sp>
          <p:nvSpPr>
            <p:cNvPr id="21" name="TextBox 21"/>
            <p:cNvSpPr txBox="1"/>
            <p:nvPr/>
          </p:nvSpPr>
          <p:spPr>
            <a:xfrm>
              <a:off x="2300347" y="2120741"/>
              <a:ext cx="352306" cy="167640"/>
            </a:xfrm>
            <a:prstGeom prst="rect">
              <a:avLst/>
            </a:prstGeom>
            <a:noFill/>
            <a:ln>
              <a:noFill/>
            </a:ln>
          </p:spPr>
          <p:txBody>
            <a:bodyPr wrap="none" lIns="0" tIns="0" rIns="0" bIns="0" anchor="t" anchorCtr="0">
              <a:spAutoFit/>
            </a:bodyPr>
            <a:lstStyle/>
            <a:p>
              <a:pPr algn="ctr"/>
              <a:r>
                <a:rPr lang="zh-CN" sz="825" dirty="0">
                  <a:solidFill>
                    <a:srgbClr val="FEE2E2"/>
                  </a:solidFill>
                  <a:latin typeface="Arial"/>
                  <a:ea typeface="Microsoft YaHei"/>
                  <a:cs typeface="Arial"/>
                </a:rPr>
                <a:t>74.4%</a:t>
              </a:r>
            </a:p>
          </p:txBody>
        </p:sp>
        <p:sp>
          <p:nvSpPr>
            <p:cNvPr id="22" name="Freeform 22"/>
            <p:cNvSpPr/>
            <p:nvPr/>
          </p:nvSpPr>
          <p:spPr>
            <a:xfrm>
              <a:off x="3143250" y="17145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5803D"/>
            </a:solidFill>
            <a:ln>
              <a:noFill/>
            </a:ln>
          </p:spPr>
        </p:sp>
        <p:sp>
          <p:nvSpPr>
            <p:cNvPr id="23" name="TextBox 23"/>
            <p:cNvSpPr txBox="1"/>
            <p:nvPr/>
          </p:nvSpPr>
          <p:spPr>
            <a:xfrm>
              <a:off x="3412944" y="18545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98.7%</a:t>
              </a:r>
            </a:p>
          </p:txBody>
        </p:sp>
        <p:sp>
          <p:nvSpPr>
            <p:cNvPr id="24" name="TextBox 24"/>
            <p:cNvSpPr txBox="1"/>
            <p:nvPr/>
          </p:nvSpPr>
          <p:spPr>
            <a:xfrm>
              <a:off x="3638002" y="2120741"/>
              <a:ext cx="153495"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RF</a:t>
              </a:r>
            </a:p>
          </p:txBody>
        </p:sp>
        <p:sp>
          <p:nvSpPr>
            <p:cNvPr id="25" name="Freeform 25"/>
            <p:cNvSpPr/>
            <p:nvPr/>
          </p:nvSpPr>
          <p:spPr>
            <a:xfrm>
              <a:off x="4381500" y="17145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6A34A"/>
            </a:solidFill>
            <a:ln>
              <a:noFill/>
            </a:ln>
          </p:spPr>
        </p:sp>
        <p:sp>
          <p:nvSpPr>
            <p:cNvPr id="26" name="TextBox 26"/>
            <p:cNvSpPr txBox="1"/>
            <p:nvPr/>
          </p:nvSpPr>
          <p:spPr>
            <a:xfrm>
              <a:off x="4677073" y="1854518"/>
              <a:ext cx="55185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91.5%</a:t>
              </a:r>
            </a:p>
          </p:txBody>
        </p:sp>
        <p:sp>
          <p:nvSpPr>
            <p:cNvPr id="27" name="TextBox 27"/>
            <p:cNvSpPr txBox="1"/>
            <p:nvPr/>
          </p:nvSpPr>
          <p:spPr>
            <a:xfrm>
              <a:off x="4831068" y="2120741"/>
              <a:ext cx="243864"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MLP</a:t>
              </a:r>
            </a:p>
          </p:txBody>
        </p:sp>
        <p:sp>
          <p:nvSpPr>
            <p:cNvPr id="28" name="Freeform 28"/>
            <p:cNvSpPr/>
            <p:nvPr/>
          </p:nvSpPr>
          <p:spPr>
            <a:xfrm>
              <a:off x="5619750" y="17145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6A34A"/>
            </a:solidFill>
            <a:ln>
              <a:noFill/>
            </a:ln>
          </p:spPr>
        </p:sp>
        <p:sp>
          <p:nvSpPr>
            <p:cNvPr id="29" name="TextBox 29"/>
            <p:cNvSpPr txBox="1"/>
            <p:nvPr/>
          </p:nvSpPr>
          <p:spPr>
            <a:xfrm>
              <a:off x="5889444" y="18545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90.6%</a:t>
              </a:r>
            </a:p>
          </p:txBody>
        </p:sp>
        <p:sp>
          <p:nvSpPr>
            <p:cNvPr id="30" name="TextBox 30"/>
            <p:cNvSpPr txBox="1"/>
            <p:nvPr/>
          </p:nvSpPr>
          <p:spPr>
            <a:xfrm>
              <a:off x="6030158" y="2120741"/>
              <a:ext cx="322183"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CNN1D</a:t>
              </a:r>
            </a:p>
          </p:txBody>
        </p:sp>
        <p:sp>
          <p:nvSpPr>
            <p:cNvPr id="31" name="Freeform 31"/>
            <p:cNvSpPr/>
            <p:nvPr/>
          </p:nvSpPr>
          <p:spPr>
            <a:xfrm>
              <a:off x="6858000" y="17145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5803D"/>
            </a:solidFill>
            <a:ln>
              <a:noFill/>
            </a:ln>
          </p:spPr>
        </p:sp>
        <p:sp>
          <p:nvSpPr>
            <p:cNvPr id="32" name="TextBox 32"/>
            <p:cNvSpPr txBox="1"/>
            <p:nvPr/>
          </p:nvSpPr>
          <p:spPr>
            <a:xfrm>
              <a:off x="7127694" y="18545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93.6%</a:t>
              </a:r>
            </a:p>
          </p:txBody>
        </p:sp>
        <p:sp>
          <p:nvSpPr>
            <p:cNvPr id="33" name="TextBox 33"/>
            <p:cNvSpPr txBox="1"/>
            <p:nvPr/>
          </p:nvSpPr>
          <p:spPr>
            <a:xfrm>
              <a:off x="7156954" y="2120741"/>
              <a:ext cx="545092"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Ensemble</a:t>
              </a:r>
            </a:p>
          </p:txBody>
        </p:sp>
      </p:grpSp>
      <p:grpSp>
        <p:nvGrpSpPr>
          <p:cNvPr id="53" name="Group 53"/>
          <p:cNvGrpSpPr/>
          <p:nvPr/>
        </p:nvGrpSpPr>
        <p:grpSpPr>
          <a:xfrm>
            <a:off x="571500" y="2457450"/>
            <a:ext cx="7429500" cy="666750"/>
            <a:chOff x="571500" y="2457450"/>
            <a:chExt cx="7429500" cy="666750"/>
          </a:xfrm>
        </p:grpSpPr>
        <p:sp>
          <p:nvSpPr>
            <p:cNvPr id="35" name="Freeform 35"/>
            <p:cNvSpPr/>
            <p:nvPr/>
          </p:nvSpPr>
          <p:spPr>
            <a:xfrm>
              <a:off x="571500" y="2457450"/>
              <a:ext cx="1285875" cy="666750"/>
            </a:xfrm>
            <a:custGeom>
              <a:avLst/>
              <a:gdLst/>
              <a:ahLst/>
              <a:cxnLst/>
              <a:rect l="l" t="t" r="r" b="b"/>
              <a:pathLst>
                <a:path w="1285875" h="666750">
                  <a:moveTo>
                    <a:pt x="38100" y="0"/>
                  </a:moveTo>
                  <a:lnTo>
                    <a:pt x="1247775" y="0"/>
                  </a:lnTo>
                  <a:cubicBezTo>
                    <a:pt x="1268817" y="0"/>
                    <a:pt x="1285875" y="17058"/>
                    <a:pt x="1285875" y="38100"/>
                  </a:cubicBezTo>
                  <a:lnTo>
                    <a:pt x="1285875" y="628650"/>
                  </a:lnTo>
                  <a:cubicBezTo>
                    <a:pt x="1285875" y="649692"/>
                    <a:pt x="1268817" y="666750"/>
                    <a:pt x="1247775" y="666750"/>
                  </a:cubicBezTo>
                  <a:lnTo>
                    <a:pt x="38100" y="666750"/>
                  </a:lnTo>
                  <a:cubicBezTo>
                    <a:pt x="17058" y="666750"/>
                    <a:pt x="0" y="649692"/>
                    <a:pt x="0" y="628650"/>
                  </a:cubicBezTo>
                  <a:lnTo>
                    <a:pt x="0" y="38100"/>
                  </a:lnTo>
                  <a:cubicBezTo>
                    <a:pt x="0" y="17058"/>
                    <a:pt x="17058" y="0"/>
                    <a:pt x="38100" y="0"/>
                  </a:cubicBezTo>
                  <a:close/>
                </a:path>
              </a:pathLst>
            </a:custGeom>
            <a:solidFill>
              <a:srgbClr val="2196F3">
                <a:alpha val="10000"/>
              </a:srgbClr>
            </a:solidFill>
            <a:ln>
              <a:noFill/>
            </a:ln>
          </p:spPr>
        </p:sp>
        <p:sp>
          <p:nvSpPr>
            <p:cNvPr id="36" name="TextBox 36"/>
            <p:cNvSpPr txBox="1"/>
            <p:nvPr/>
          </p:nvSpPr>
          <p:spPr>
            <a:xfrm>
              <a:off x="959339" y="2626995"/>
              <a:ext cx="519722" cy="182880"/>
            </a:xfrm>
            <a:prstGeom prst="rect">
              <a:avLst/>
            </a:prstGeom>
            <a:noFill/>
            <a:ln>
              <a:noFill/>
            </a:ln>
          </p:spPr>
          <p:txBody>
            <a:bodyPr wrap="none" lIns="0" tIns="0" rIns="0" bIns="0" anchor="t" anchorCtr="0">
              <a:spAutoFit/>
            </a:bodyPr>
            <a:lstStyle/>
            <a:p>
              <a:pPr algn="ctr"/>
              <a:r>
                <a:rPr lang="zh-CN" sz="900" b="1" dirty="0">
                  <a:solidFill>
                    <a:srgbClr val="1E40AF"/>
                  </a:solidFill>
                  <a:latin typeface="Arial"/>
                  <a:ea typeface="Microsoft YaHei"/>
                  <a:cs typeface="Arial"/>
                </a:rPr>
                <a:t>Airport</a:t>
              </a:r>
            </a:p>
          </p:txBody>
        </p:sp>
        <p:sp>
          <p:nvSpPr>
            <p:cNvPr id="37" name="TextBox 37"/>
            <p:cNvSpPr txBox="1"/>
            <p:nvPr/>
          </p:nvSpPr>
          <p:spPr>
            <a:xfrm>
              <a:off x="1009912" y="2806541"/>
              <a:ext cx="418576" cy="167640"/>
            </a:xfrm>
            <a:prstGeom prst="rect">
              <a:avLst/>
            </a:prstGeom>
            <a:noFill/>
            <a:ln>
              <a:noFill/>
            </a:ln>
          </p:spPr>
          <p:txBody>
            <a:bodyPr wrap="none" lIns="0" tIns="0" rIns="0" bIns="0" anchor="t" anchorCtr="0">
              <a:spAutoFit/>
            </a:bodyPr>
            <a:lstStyle/>
            <a:p>
              <a:pPr algn="ctr"/>
              <a:r>
                <a:rPr lang="zh-CN" sz="825" dirty="0">
                  <a:solidFill>
                    <a:srgbClr val="6B7280"/>
                  </a:solidFill>
                  <a:latin typeface="Arial"/>
                  <a:ea typeface="Microsoft YaHei"/>
                  <a:cs typeface="Arial"/>
                </a:rPr>
                <a:t>Hangar</a:t>
              </a:r>
            </a:p>
          </p:txBody>
        </p:sp>
        <p:sp>
          <p:nvSpPr>
            <p:cNvPr id="38" name="Freeform 38"/>
            <p:cNvSpPr/>
            <p:nvPr/>
          </p:nvSpPr>
          <p:spPr>
            <a:xfrm>
              <a:off x="1905000" y="24574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D97706"/>
            </a:solidFill>
            <a:ln>
              <a:noFill/>
            </a:ln>
          </p:spPr>
        </p:sp>
        <p:sp>
          <p:nvSpPr>
            <p:cNvPr id="39" name="TextBox 39"/>
            <p:cNvSpPr txBox="1"/>
            <p:nvPr/>
          </p:nvSpPr>
          <p:spPr>
            <a:xfrm>
              <a:off x="2174694" y="259746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84.2%</a:t>
              </a:r>
            </a:p>
          </p:txBody>
        </p:sp>
        <p:sp>
          <p:nvSpPr>
            <p:cNvPr id="40" name="TextBox 40"/>
            <p:cNvSpPr txBox="1"/>
            <p:nvPr/>
          </p:nvSpPr>
          <p:spPr>
            <a:xfrm>
              <a:off x="2354568" y="2863691"/>
              <a:ext cx="243864" cy="167640"/>
            </a:xfrm>
            <a:prstGeom prst="rect">
              <a:avLst/>
            </a:prstGeom>
            <a:noFill/>
            <a:ln>
              <a:noFill/>
            </a:ln>
          </p:spPr>
          <p:txBody>
            <a:bodyPr wrap="none" lIns="0" tIns="0" rIns="0" bIns="0" anchor="t" anchorCtr="0">
              <a:spAutoFit/>
            </a:bodyPr>
            <a:lstStyle/>
            <a:p>
              <a:pPr algn="ctr"/>
              <a:r>
                <a:rPr lang="zh-CN" sz="825" dirty="0">
                  <a:solidFill>
                    <a:srgbClr val="FEF3C7"/>
                  </a:solidFill>
                  <a:latin typeface="Arial"/>
                  <a:ea typeface="Microsoft YaHei"/>
                  <a:cs typeface="Arial"/>
                </a:rPr>
                <a:t>SVM</a:t>
              </a:r>
            </a:p>
          </p:txBody>
        </p:sp>
        <p:sp>
          <p:nvSpPr>
            <p:cNvPr id="41" name="Freeform 41"/>
            <p:cNvSpPr/>
            <p:nvPr/>
          </p:nvSpPr>
          <p:spPr>
            <a:xfrm>
              <a:off x="3143250" y="24574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5803D"/>
            </a:solidFill>
            <a:ln>
              <a:noFill/>
            </a:ln>
          </p:spPr>
        </p:sp>
        <p:sp>
          <p:nvSpPr>
            <p:cNvPr id="42" name="TextBox 42"/>
            <p:cNvSpPr txBox="1"/>
            <p:nvPr/>
          </p:nvSpPr>
          <p:spPr>
            <a:xfrm>
              <a:off x="3438823" y="2597468"/>
              <a:ext cx="55185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98.1%</a:t>
              </a:r>
            </a:p>
          </p:txBody>
        </p:sp>
        <p:sp>
          <p:nvSpPr>
            <p:cNvPr id="43" name="TextBox 43"/>
            <p:cNvSpPr txBox="1"/>
            <p:nvPr/>
          </p:nvSpPr>
          <p:spPr>
            <a:xfrm>
              <a:off x="3638002" y="2863691"/>
              <a:ext cx="153495"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RF</a:t>
              </a:r>
            </a:p>
          </p:txBody>
        </p:sp>
        <p:sp>
          <p:nvSpPr>
            <p:cNvPr id="44" name="Freeform 44"/>
            <p:cNvSpPr/>
            <p:nvPr/>
          </p:nvSpPr>
          <p:spPr>
            <a:xfrm>
              <a:off x="4381500" y="24574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5803D"/>
            </a:solidFill>
            <a:ln>
              <a:noFill/>
            </a:ln>
          </p:spPr>
        </p:sp>
        <p:sp>
          <p:nvSpPr>
            <p:cNvPr id="45" name="TextBox 45"/>
            <p:cNvSpPr txBox="1"/>
            <p:nvPr/>
          </p:nvSpPr>
          <p:spPr>
            <a:xfrm>
              <a:off x="4651194" y="259746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97.7%</a:t>
              </a:r>
            </a:p>
          </p:txBody>
        </p:sp>
        <p:sp>
          <p:nvSpPr>
            <p:cNvPr id="46" name="TextBox 46"/>
            <p:cNvSpPr txBox="1"/>
            <p:nvPr/>
          </p:nvSpPr>
          <p:spPr>
            <a:xfrm>
              <a:off x="4831068" y="2863691"/>
              <a:ext cx="243864"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MLP</a:t>
              </a:r>
            </a:p>
          </p:txBody>
        </p:sp>
        <p:sp>
          <p:nvSpPr>
            <p:cNvPr id="47" name="Freeform 47"/>
            <p:cNvSpPr/>
            <p:nvPr/>
          </p:nvSpPr>
          <p:spPr>
            <a:xfrm>
              <a:off x="5619750" y="24574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5803D"/>
            </a:solidFill>
            <a:ln>
              <a:noFill/>
            </a:ln>
          </p:spPr>
        </p:sp>
        <p:sp>
          <p:nvSpPr>
            <p:cNvPr id="48" name="TextBox 48"/>
            <p:cNvSpPr txBox="1"/>
            <p:nvPr/>
          </p:nvSpPr>
          <p:spPr>
            <a:xfrm>
              <a:off x="5889444" y="259746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95.8%</a:t>
              </a:r>
            </a:p>
          </p:txBody>
        </p:sp>
        <p:sp>
          <p:nvSpPr>
            <p:cNvPr id="49" name="TextBox 49"/>
            <p:cNvSpPr txBox="1"/>
            <p:nvPr/>
          </p:nvSpPr>
          <p:spPr>
            <a:xfrm>
              <a:off x="6030158" y="2863691"/>
              <a:ext cx="322183"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CNN1D</a:t>
              </a:r>
            </a:p>
          </p:txBody>
        </p:sp>
        <p:sp>
          <p:nvSpPr>
            <p:cNvPr id="50" name="Freeform 50"/>
            <p:cNvSpPr/>
            <p:nvPr/>
          </p:nvSpPr>
          <p:spPr>
            <a:xfrm>
              <a:off x="6858000" y="24574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5803D"/>
            </a:solidFill>
            <a:ln>
              <a:noFill/>
            </a:ln>
          </p:spPr>
        </p:sp>
        <p:sp>
          <p:nvSpPr>
            <p:cNvPr id="51" name="TextBox 51"/>
            <p:cNvSpPr txBox="1"/>
            <p:nvPr/>
          </p:nvSpPr>
          <p:spPr>
            <a:xfrm>
              <a:off x="7127694" y="259746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97.7%</a:t>
              </a:r>
            </a:p>
          </p:txBody>
        </p:sp>
        <p:sp>
          <p:nvSpPr>
            <p:cNvPr id="52" name="TextBox 52"/>
            <p:cNvSpPr txBox="1"/>
            <p:nvPr/>
          </p:nvSpPr>
          <p:spPr>
            <a:xfrm>
              <a:off x="7156954" y="2863691"/>
              <a:ext cx="545092"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Ensemble</a:t>
              </a:r>
            </a:p>
          </p:txBody>
        </p:sp>
      </p:grpSp>
      <p:grpSp>
        <p:nvGrpSpPr>
          <p:cNvPr id="72" name="Group 72"/>
          <p:cNvGrpSpPr/>
          <p:nvPr/>
        </p:nvGrpSpPr>
        <p:grpSpPr>
          <a:xfrm>
            <a:off x="571500" y="3200400"/>
            <a:ext cx="7429500" cy="666750"/>
            <a:chOff x="571500" y="3200400"/>
            <a:chExt cx="7429500" cy="666750"/>
          </a:xfrm>
        </p:grpSpPr>
        <p:sp>
          <p:nvSpPr>
            <p:cNvPr id="54" name="Freeform 54"/>
            <p:cNvSpPr/>
            <p:nvPr/>
          </p:nvSpPr>
          <p:spPr>
            <a:xfrm>
              <a:off x="571500" y="3200400"/>
              <a:ext cx="1285875" cy="666750"/>
            </a:xfrm>
            <a:custGeom>
              <a:avLst/>
              <a:gdLst/>
              <a:ahLst/>
              <a:cxnLst/>
              <a:rect l="l" t="t" r="r" b="b"/>
              <a:pathLst>
                <a:path w="1285875" h="666750">
                  <a:moveTo>
                    <a:pt x="38100" y="0"/>
                  </a:moveTo>
                  <a:lnTo>
                    <a:pt x="1247775" y="0"/>
                  </a:lnTo>
                  <a:cubicBezTo>
                    <a:pt x="1268817" y="0"/>
                    <a:pt x="1285875" y="17058"/>
                    <a:pt x="1285875" y="38100"/>
                  </a:cubicBezTo>
                  <a:lnTo>
                    <a:pt x="1285875" y="628650"/>
                  </a:lnTo>
                  <a:cubicBezTo>
                    <a:pt x="1285875" y="649692"/>
                    <a:pt x="1268817" y="666750"/>
                    <a:pt x="1247775" y="666750"/>
                  </a:cubicBezTo>
                  <a:lnTo>
                    <a:pt x="38100" y="666750"/>
                  </a:lnTo>
                  <a:cubicBezTo>
                    <a:pt x="17058" y="666750"/>
                    <a:pt x="0" y="649692"/>
                    <a:pt x="0" y="628650"/>
                  </a:cubicBezTo>
                  <a:lnTo>
                    <a:pt x="0" y="38100"/>
                  </a:lnTo>
                  <a:cubicBezTo>
                    <a:pt x="0" y="17058"/>
                    <a:pt x="17058" y="0"/>
                    <a:pt x="38100" y="0"/>
                  </a:cubicBezTo>
                  <a:close/>
                </a:path>
              </a:pathLst>
            </a:custGeom>
            <a:solidFill>
              <a:srgbClr val="16A34A">
                <a:alpha val="10000"/>
              </a:srgbClr>
            </a:solidFill>
            <a:ln>
              <a:noFill/>
            </a:ln>
          </p:spPr>
        </p:sp>
        <p:sp>
          <p:nvSpPr>
            <p:cNvPr id="55" name="TextBox 55"/>
            <p:cNvSpPr txBox="1"/>
            <p:nvPr/>
          </p:nvSpPr>
          <p:spPr>
            <a:xfrm>
              <a:off x="869628" y="3369945"/>
              <a:ext cx="699145" cy="182880"/>
            </a:xfrm>
            <a:prstGeom prst="rect">
              <a:avLst/>
            </a:prstGeom>
            <a:noFill/>
            <a:ln>
              <a:noFill/>
            </a:ln>
          </p:spPr>
          <p:txBody>
            <a:bodyPr wrap="none" lIns="0" tIns="0" rIns="0" bIns="0" anchor="t" anchorCtr="0">
              <a:spAutoFit/>
            </a:bodyPr>
            <a:lstStyle/>
            <a:p>
              <a:pPr algn="ctr"/>
              <a:r>
                <a:rPr lang="zh-CN" sz="900" b="1" dirty="0">
                  <a:solidFill>
                    <a:srgbClr val="166534"/>
                  </a:solidFill>
                  <a:latin typeface="Arial"/>
                  <a:ea typeface="Microsoft YaHei"/>
                  <a:cs typeface="Arial"/>
                </a:rPr>
                <a:t>Machinery</a:t>
              </a:r>
            </a:p>
          </p:txBody>
        </p:sp>
        <p:sp>
          <p:nvSpPr>
            <p:cNvPr id="56" name="TextBox 56"/>
            <p:cNvSpPr txBox="1"/>
            <p:nvPr/>
          </p:nvSpPr>
          <p:spPr>
            <a:xfrm>
              <a:off x="780979" y="3549491"/>
              <a:ext cx="876443" cy="167640"/>
            </a:xfrm>
            <a:prstGeom prst="rect">
              <a:avLst/>
            </a:prstGeom>
            <a:noFill/>
            <a:ln>
              <a:noFill/>
            </a:ln>
          </p:spPr>
          <p:txBody>
            <a:bodyPr wrap="none" lIns="0" tIns="0" rIns="0" bIns="0" anchor="t" anchorCtr="0">
              <a:spAutoFit/>
            </a:bodyPr>
            <a:lstStyle/>
            <a:p>
              <a:pPr algn="ctr"/>
              <a:r>
                <a:rPr lang="zh-CN" sz="825" dirty="0">
                  <a:solidFill>
                    <a:srgbClr val="6B7280"/>
                  </a:solidFill>
                  <a:latin typeface="Arial"/>
                  <a:ea typeface="Microsoft YaHei"/>
                  <a:cs typeface="Arial"/>
                </a:rPr>
                <a:t>Manufacturing</a:t>
              </a:r>
            </a:p>
          </p:txBody>
        </p:sp>
        <p:sp>
          <p:nvSpPr>
            <p:cNvPr id="57" name="Freeform 57"/>
            <p:cNvSpPr/>
            <p:nvPr/>
          </p:nvSpPr>
          <p:spPr>
            <a:xfrm>
              <a:off x="1905000" y="32004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65A30D"/>
            </a:solidFill>
            <a:ln>
              <a:noFill/>
            </a:ln>
          </p:spPr>
        </p:sp>
        <p:sp>
          <p:nvSpPr>
            <p:cNvPr id="58" name="TextBox 58"/>
            <p:cNvSpPr txBox="1"/>
            <p:nvPr/>
          </p:nvSpPr>
          <p:spPr>
            <a:xfrm>
              <a:off x="2174694" y="33404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86.6%</a:t>
              </a:r>
            </a:p>
          </p:txBody>
        </p:sp>
        <p:sp>
          <p:nvSpPr>
            <p:cNvPr id="59" name="TextBox 59"/>
            <p:cNvSpPr txBox="1"/>
            <p:nvPr/>
          </p:nvSpPr>
          <p:spPr>
            <a:xfrm>
              <a:off x="2354568" y="3606641"/>
              <a:ext cx="243864" cy="167640"/>
            </a:xfrm>
            <a:prstGeom prst="rect">
              <a:avLst/>
            </a:prstGeom>
            <a:noFill/>
            <a:ln>
              <a:noFill/>
            </a:ln>
          </p:spPr>
          <p:txBody>
            <a:bodyPr wrap="none" lIns="0" tIns="0" rIns="0" bIns="0" anchor="t" anchorCtr="0">
              <a:spAutoFit/>
            </a:bodyPr>
            <a:lstStyle/>
            <a:p>
              <a:pPr algn="ctr"/>
              <a:r>
                <a:rPr lang="zh-CN" sz="825" dirty="0">
                  <a:solidFill>
                    <a:srgbClr val="ECFCCB"/>
                  </a:solidFill>
                  <a:latin typeface="Arial"/>
                  <a:ea typeface="Microsoft YaHei"/>
                  <a:cs typeface="Arial"/>
                </a:rPr>
                <a:t>SVM</a:t>
              </a:r>
            </a:p>
          </p:txBody>
        </p:sp>
        <p:sp>
          <p:nvSpPr>
            <p:cNvPr id="60" name="Freeform 60"/>
            <p:cNvSpPr/>
            <p:nvPr/>
          </p:nvSpPr>
          <p:spPr>
            <a:xfrm>
              <a:off x="3143250" y="32004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4532D"/>
            </a:solidFill>
            <a:ln>
              <a:noFill/>
            </a:ln>
          </p:spPr>
        </p:sp>
        <p:sp>
          <p:nvSpPr>
            <p:cNvPr id="61" name="TextBox 61"/>
            <p:cNvSpPr txBox="1"/>
            <p:nvPr/>
          </p:nvSpPr>
          <p:spPr>
            <a:xfrm>
              <a:off x="3495755" y="3340418"/>
              <a:ext cx="437990"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100%</a:t>
              </a:r>
            </a:p>
          </p:txBody>
        </p:sp>
        <p:sp>
          <p:nvSpPr>
            <p:cNvPr id="62" name="TextBox 62"/>
            <p:cNvSpPr txBox="1"/>
            <p:nvPr/>
          </p:nvSpPr>
          <p:spPr>
            <a:xfrm>
              <a:off x="3586794" y="3606641"/>
              <a:ext cx="255913"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RF ★</a:t>
              </a:r>
            </a:p>
          </p:txBody>
        </p:sp>
        <p:sp>
          <p:nvSpPr>
            <p:cNvPr id="63" name="Freeform 63"/>
            <p:cNvSpPr/>
            <p:nvPr/>
          </p:nvSpPr>
          <p:spPr>
            <a:xfrm>
              <a:off x="4381500" y="32004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4532D"/>
            </a:solidFill>
            <a:ln>
              <a:noFill/>
            </a:ln>
          </p:spPr>
        </p:sp>
        <p:sp>
          <p:nvSpPr>
            <p:cNvPr id="64" name="TextBox 64"/>
            <p:cNvSpPr txBox="1"/>
            <p:nvPr/>
          </p:nvSpPr>
          <p:spPr>
            <a:xfrm>
              <a:off x="4651194" y="33404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99.6%</a:t>
              </a:r>
            </a:p>
          </p:txBody>
        </p:sp>
        <p:sp>
          <p:nvSpPr>
            <p:cNvPr id="65" name="TextBox 65"/>
            <p:cNvSpPr txBox="1"/>
            <p:nvPr/>
          </p:nvSpPr>
          <p:spPr>
            <a:xfrm>
              <a:off x="4831068" y="3606641"/>
              <a:ext cx="243864"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MLP</a:t>
              </a:r>
            </a:p>
          </p:txBody>
        </p:sp>
        <p:sp>
          <p:nvSpPr>
            <p:cNvPr id="66" name="Freeform 66"/>
            <p:cNvSpPr/>
            <p:nvPr/>
          </p:nvSpPr>
          <p:spPr>
            <a:xfrm>
              <a:off x="5619750" y="32004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5803D"/>
            </a:solidFill>
            <a:ln>
              <a:noFill/>
            </a:ln>
          </p:spPr>
        </p:sp>
        <p:sp>
          <p:nvSpPr>
            <p:cNvPr id="67" name="TextBox 67"/>
            <p:cNvSpPr txBox="1"/>
            <p:nvPr/>
          </p:nvSpPr>
          <p:spPr>
            <a:xfrm>
              <a:off x="5889444" y="33404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98.9%</a:t>
              </a:r>
            </a:p>
          </p:txBody>
        </p:sp>
        <p:sp>
          <p:nvSpPr>
            <p:cNvPr id="68" name="TextBox 68"/>
            <p:cNvSpPr txBox="1"/>
            <p:nvPr/>
          </p:nvSpPr>
          <p:spPr>
            <a:xfrm>
              <a:off x="6030158" y="3606641"/>
              <a:ext cx="322183"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CNN1D</a:t>
              </a:r>
            </a:p>
          </p:txBody>
        </p:sp>
        <p:sp>
          <p:nvSpPr>
            <p:cNvPr id="69" name="Freeform 69"/>
            <p:cNvSpPr/>
            <p:nvPr/>
          </p:nvSpPr>
          <p:spPr>
            <a:xfrm>
              <a:off x="6858000" y="320040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4532D"/>
            </a:solidFill>
            <a:ln>
              <a:noFill/>
            </a:ln>
          </p:spPr>
        </p:sp>
        <p:sp>
          <p:nvSpPr>
            <p:cNvPr id="70" name="TextBox 70"/>
            <p:cNvSpPr txBox="1"/>
            <p:nvPr/>
          </p:nvSpPr>
          <p:spPr>
            <a:xfrm>
              <a:off x="7127694" y="334041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99.6%</a:t>
              </a:r>
            </a:p>
          </p:txBody>
        </p:sp>
        <p:sp>
          <p:nvSpPr>
            <p:cNvPr id="71" name="TextBox 71"/>
            <p:cNvSpPr txBox="1"/>
            <p:nvPr/>
          </p:nvSpPr>
          <p:spPr>
            <a:xfrm>
              <a:off x="7156954" y="3606641"/>
              <a:ext cx="545092"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Ensemble</a:t>
              </a:r>
            </a:p>
          </p:txBody>
        </p:sp>
      </p:grpSp>
      <p:grpSp>
        <p:nvGrpSpPr>
          <p:cNvPr id="91" name="Group 91"/>
          <p:cNvGrpSpPr/>
          <p:nvPr/>
        </p:nvGrpSpPr>
        <p:grpSpPr>
          <a:xfrm>
            <a:off x="571500" y="3943350"/>
            <a:ext cx="7429500" cy="666750"/>
            <a:chOff x="571500" y="3943350"/>
            <a:chExt cx="7429500" cy="666750"/>
          </a:xfrm>
        </p:grpSpPr>
        <p:sp>
          <p:nvSpPr>
            <p:cNvPr id="73" name="Freeform 73"/>
            <p:cNvSpPr/>
            <p:nvPr/>
          </p:nvSpPr>
          <p:spPr>
            <a:xfrm>
              <a:off x="571500" y="3943350"/>
              <a:ext cx="1285875" cy="666750"/>
            </a:xfrm>
            <a:custGeom>
              <a:avLst/>
              <a:gdLst/>
              <a:ahLst/>
              <a:cxnLst/>
              <a:rect l="l" t="t" r="r" b="b"/>
              <a:pathLst>
                <a:path w="1285875" h="666750">
                  <a:moveTo>
                    <a:pt x="38100" y="0"/>
                  </a:moveTo>
                  <a:lnTo>
                    <a:pt x="1247775" y="0"/>
                  </a:lnTo>
                  <a:cubicBezTo>
                    <a:pt x="1268817" y="0"/>
                    <a:pt x="1285875" y="17058"/>
                    <a:pt x="1285875" y="38100"/>
                  </a:cubicBezTo>
                  <a:lnTo>
                    <a:pt x="1285875" y="628650"/>
                  </a:lnTo>
                  <a:cubicBezTo>
                    <a:pt x="1285875" y="649692"/>
                    <a:pt x="1268817" y="666750"/>
                    <a:pt x="1247775" y="666750"/>
                  </a:cubicBezTo>
                  <a:lnTo>
                    <a:pt x="38100" y="666750"/>
                  </a:lnTo>
                  <a:cubicBezTo>
                    <a:pt x="17058" y="666750"/>
                    <a:pt x="0" y="649692"/>
                    <a:pt x="0" y="628650"/>
                  </a:cubicBezTo>
                  <a:lnTo>
                    <a:pt x="0" y="38100"/>
                  </a:lnTo>
                  <a:cubicBezTo>
                    <a:pt x="0" y="17058"/>
                    <a:pt x="17058" y="0"/>
                    <a:pt x="38100" y="0"/>
                  </a:cubicBezTo>
                  <a:close/>
                </a:path>
              </a:pathLst>
            </a:custGeom>
            <a:solidFill>
              <a:srgbClr val="D97706">
                <a:alpha val="10000"/>
              </a:srgbClr>
            </a:solidFill>
            <a:ln>
              <a:noFill/>
            </a:ln>
          </p:spPr>
        </p:sp>
        <p:sp>
          <p:nvSpPr>
            <p:cNvPr id="74" name="TextBox 74"/>
            <p:cNvSpPr txBox="1"/>
            <p:nvPr/>
          </p:nvSpPr>
          <p:spPr>
            <a:xfrm>
              <a:off x="769565" y="4112895"/>
              <a:ext cx="899270" cy="182880"/>
            </a:xfrm>
            <a:prstGeom prst="rect">
              <a:avLst/>
            </a:prstGeom>
            <a:noFill/>
            <a:ln>
              <a:noFill/>
            </a:ln>
          </p:spPr>
          <p:txBody>
            <a:bodyPr wrap="none" lIns="0" tIns="0" rIns="0" bIns="0" anchor="t" anchorCtr="0">
              <a:spAutoFit/>
            </a:bodyPr>
            <a:lstStyle/>
            <a:p>
              <a:pPr algn="ctr"/>
              <a:r>
                <a:rPr lang="zh-CN" sz="900" b="1" dirty="0">
                  <a:solidFill>
                    <a:srgbClr val="92400E"/>
                  </a:solidFill>
                  <a:latin typeface="Arial"/>
                  <a:ea typeface="Microsoft YaHei"/>
                  <a:cs typeface="Arial"/>
                </a:rPr>
                <a:t>Metallurgical</a:t>
              </a:r>
            </a:p>
          </p:txBody>
        </p:sp>
        <p:sp>
          <p:nvSpPr>
            <p:cNvPr id="75" name="TextBox 75"/>
            <p:cNvSpPr txBox="1"/>
            <p:nvPr/>
          </p:nvSpPr>
          <p:spPr>
            <a:xfrm>
              <a:off x="937617" y="4292441"/>
              <a:ext cx="563166" cy="167640"/>
            </a:xfrm>
            <a:prstGeom prst="rect">
              <a:avLst/>
            </a:prstGeom>
            <a:noFill/>
            <a:ln>
              <a:noFill/>
            </a:ln>
          </p:spPr>
          <p:txBody>
            <a:bodyPr wrap="none" lIns="0" tIns="0" rIns="0" bIns="0" anchor="t" anchorCtr="0">
              <a:spAutoFit/>
            </a:bodyPr>
            <a:lstStyle/>
            <a:p>
              <a:pPr algn="ctr"/>
              <a:r>
                <a:rPr lang="zh-CN" sz="825" dirty="0">
                  <a:solidFill>
                    <a:srgbClr val="6B7280"/>
                  </a:solidFill>
                  <a:latin typeface="Arial"/>
                  <a:ea typeface="Microsoft YaHei"/>
                  <a:cs typeface="Arial"/>
                </a:rPr>
                <a:t>Facilities</a:t>
              </a:r>
            </a:p>
          </p:txBody>
        </p:sp>
        <p:sp>
          <p:nvSpPr>
            <p:cNvPr id="76" name="Freeform 76"/>
            <p:cNvSpPr/>
            <p:nvPr/>
          </p:nvSpPr>
          <p:spPr>
            <a:xfrm>
              <a:off x="1905000" y="39433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B91C1C"/>
            </a:solidFill>
            <a:ln>
              <a:noFill/>
            </a:ln>
          </p:spPr>
        </p:sp>
        <p:sp>
          <p:nvSpPr>
            <p:cNvPr id="77" name="TextBox 77"/>
            <p:cNvSpPr txBox="1"/>
            <p:nvPr/>
          </p:nvSpPr>
          <p:spPr>
            <a:xfrm>
              <a:off x="2200573" y="4083368"/>
              <a:ext cx="55185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73.1%</a:t>
              </a:r>
            </a:p>
          </p:txBody>
        </p:sp>
        <p:sp>
          <p:nvSpPr>
            <p:cNvPr id="78" name="TextBox 78"/>
            <p:cNvSpPr txBox="1"/>
            <p:nvPr/>
          </p:nvSpPr>
          <p:spPr>
            <a:xfrm>
              <a:off x="2149733" y="4349591"/>
              <a:ext cx="653534" cy="167640"/>
            </a:xfrm>
            <a:prstGeom prst="rect">
              <a:avLst/>
            </a:prstGeom>
            <a:noFill/>
            <a:ln>
              <a:noFill/>
            </a:ln>
          </p:spPr>
          <p:txBody>
            <a:bodyPr wrap="none" lIns="0" tIns="0" rIns="0" bIns="0" anchor="t" anchorCtr="0">
              <a:spAutoFit/>
            </a:bodyPr>
            <a:lstStyle/>
            <a:p>
              <a:pPr algn="ctr"/>
              <a:r>
                <a:rPr lang="zh-CN" sz="825" dirty="0">
                  <a:solidFill>
                    <a:srgbClr val="FEE2E2"/>
                  </a:solidFill>
                  <a:latin typeface="Arial"/>
                  <a:ea typeface="Microsoft YaHei"/>
                  <a:cs typeface="Arial"/>
                </a:rPr>
                <a:t>SVM (最低)</a:t>
              </a:r>
            </a:p>
          </p:txBody>
        </p:sp>
        <p:sp>
          <p:nvSpPr>
            <p:cNvPr id="79" name="Freeform 79"/>
            <p:cNvSpPr/>
            <p:nvPr/>
          </p:nvSpPr>
          <p:spPr>
            <a:xfrm>
              <a:off x="3143250" y="39433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6A34A"/>
            </a:solidFill>
            <a:ln>
              <a:noFill/>
            </a:ln>
          </p:spPr>
        </p:sp>
        <p:sp>
          <p:nvSpPr>
            <p:cNvPr id="80" name="TextBox 80"/>
            <p:cNvSpPr txBox="1"/>
            <p:nvPr/>
          </p:nvSpPr>
          <p:spPr>
            <a:xfrm>
              <a:off x="3412944" y="408336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95.5%</a:t>
              </a:r>
            </a:p>
          </p:txBody>
        </p:sp>
        <p:sp>
          <p:nvSpPr>
            <p:cNvPr id="81" name="TextBox 81"/>
            <p:cNvSpPr txBox="1"/>
            <p:nvPr/>
          </p:nvSpPr>
          <p:spPr>
            <a:xfrm>
              <a:off x="3638002" y="4349591"/>
              <a:ext cx="153495"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RF</a:t>
              </a:r>
            </a:p>
          </p:txBody>
        </p:sp>
        <p:sp>
          <p:nvSpPr>
            <p:cNvPr id="82" name="Freeform 82"/>
            <p:cNvSpPr/>
            <p:nvPr/>
          </p:nvSpPr>
          <p:spPr>
            <a:xfrm>
              <a:off x="4381500" y="39433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6A34A"/>
            </a:solidFill>
            <a:ln>
              <a:noFill/>
            </a:ln>
          </p:spPr>
        </p:sp>
        <p:sp>
          <p:nvSpPr>
            <p:cNvPr id="83" name="TextBox 83"/>
            <p:cNvSpPr txBox="1"/>
            <p:nvPr/>
          </p:nvSpPr>
          <p:spPr>
            <a:xfrm>
              <a:off x="4651194" y="408336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95.9%</a:t>
              </a:r>
            </a:p>
          </p:txBody>
        </p:sp>
        <p:sp>
          <p:nvSpPr>
            <p:cNvPr id="84" name="TextBox 84"/>
            <p:cNvSpPr txBox="1"/>
            <p:nvPr/>
          </p:nvSpPr>
          <p:spPr>
            <a:xfrm>
              <a:off x="4831068" y="4349591"/>
              <a:ext cx="243864"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MLP</a:t>
              </a:r>
            </a:p>
          </p:txBody>
        </p:sp>
        <p:sp>
          <p:nvSpPr>
            <p:cNvPr id="85" name="Freeform 85"/>
            <p:cNvSpPr/>
            <p:nvPr/>
          </p:nvSpPr>
          <p:spPr>
            <a:xfrm>
              <a:off x="5619750" y="39433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65A30D"/>
            </a:solidFill>
            <a:ln>
              <a:noFill/>
            </a:ln>
          </p:spPr>
        </p:sp>
        <p:sp>
          <p:nvSpPr>
            <p:cNvPr id="86" name="TextBox 86"/>
            <p:cNvSpPr txBox="1"/>
            <p:nvPr/>
          </p:nvSpPr>
          <p:spPr>
            <a:xfrm>
              <a:off x="5889444" y="4083368"/>
              <a:ext cx="6036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90.2%</a:t>
              </a:r>
            </a:p>
          </p:txBody>
        </p:sp>
        <p:sp>
          <p:nvSpPr>
            <p:cNvPr id="87" name="TextBox 87"/>
            <p:cNvSpPr txBox="1"/>
            <p:nvPr/>
          </p:nvSpPr>
          <p:spPr>
            <a:xfrm>
              <a:off x="5978950" y="4349591"/>
              <a:ext cx="424601" cy="167640"/>
            </a:xfrm>
            <a:prstGeom prst="rect">
              <a:avLst/>
            </a:prstGeom>
            <a:noFill/>
            <a:ln>
              <a:noFill/>
            </a:ln>
          </p:spPr>
          <p:txBody>
            <a:bodyPr wrap="none" lIns="0" tIns="0" rIns="0" bIns="0" anchor="t" anchorCtr="0">
              <a:spAutoFit/>
            </a:bodyPr>
            <a:lstStyle/>
            <a:p>
              <a:pPr algn="ctr"/>
              <a:r>
                <a:rPr lang="zh-CN" sz="825" dirty="0">
                  <a:solidFill>
                    <a:srgbClr val="ECFCCB"/>
                  </a:solidFill>
                  <a:latin typeface="Arial"/>
                  <a:ea typeface="Microsoft YaHei"/>
                  <a:cs typeface="Arial"/>
                </a:rPr>
                <a:t>CNN1D ↓</a:t>
              </a:r>
            </a:p>
          </p:txBody>
        </p:sp>
        <p:sp>
          <p:nvSpPr>
            <p:cNvPr id="88" name="Freeform 88"/>
            <p:cNvSpPr/>
            <p:nvPr/>
          </p:nvSpPr>
          <p:spPr>
            <a:xfrm>
              <a:off x="6858000" y="3943350"/>
              <a:ext cx="1143000" cy="666750"/>
            </a:xfrm>
            <a:custGeom>
              <a:avLst/>
              <a:gdLst/>
              <a:ahLst/>
              <a:cxnLst/>
              <a:rect l="l" t="t" r="r" b="b"/>
              <a:pathLst>
                <a:path w="1143000" h="666750">
                  <a:moveTo>
                    <a:pt x="38100" y="0"/>
                  </a:moveTo>
                  <a:lnTo>
                    <a:pt x="1104900" y="0"/>
                  </a:lnTo>
                  <a:cubicBezTo>
                    <a:pt x="1125942" y="0"/>
                    <a:pt x="1143000" y="17058"/>
                    <a:pt x="1143000" y="38100"/>
                  </a:cubicBezTo>
                  <a:lnTo>
                    <a:pt x="1143000" y="628650"/>
                  </a:lnTo>
                  <a:cubicBezTo>
                    <a:pt x="1143000" y="649692"/>
                    <a:pt x="1125942" y="666750"/>
                    <a:pt x="1104900" y="666750"/>
                  </a:cubicBezTo>
                  <a:lnTo>
                    <a:pt x="38100" y="666750"/>
                  </a:lnTo>
                  <a:cubicBezTo>
                    <a:pt x="17058" y="666750"/>
                    <a:pt x="0" y="649692"/>
                    <a:pt x="0" y="628650"/>
                  </a:cubicBezTo>
                  <a:lnTo>
                    <a:pt x="0" y="38100"/>
                  </a:lnTo>
                  <a:cubicBezTo>
                    <a:pt x="0" y="17058"/>
                    <a:pt x="17058" y="0"/>
                    <a:pt x="38100" y="0"/>
                  </a:cubicBezTo>
                  <a:close/>
                </a:path>
              </a:pathLst>
            </a:custGeom>
            <a:solidFill>
              <a:srgbClr val="16A34A"/>
            </a:solidFill>
            <a:ln>
              <a:noFill/>
            </a:ln>
          </p:spPr>
        </p:sp>
        <p:sp>
          <p:nvSpPr>
            <p:cNvPr id="89" name="TextBox 89"/>
            <p:cNvSpPr txBox="1"/>
            <p:nvPr/>
          </p:nvSpPr>
          <p:spPr>
            <a:xfrm>
              <a:off x="7153573" y="4083368"/>
              <a:ext cx="55185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95.1%</a:t>
              </a:r>
            </a:p>
          </p:txBody>
        </p:sp>
        <p:sp>
          <p:nvSpPr>
            <p:cNvPr id="90" name="TextBox 90"/>
            <p:cNvSpPr txBox="1"/>
            <p:nvPr/>
          </p:nvSpPr>
          <p:spPr>
            <a:xfrm>
              <a:off x="7156954" y="4349591"/>
              <a:ext cx="545092" cy="167640"/>
            </a:xfrm>
            <a:prstGeom prst="rect">
              <a:avLst/>
            </a:prstGeom>
            <a:noFill/>
            <a:ln>
              <a:noFill/>
            </a:ln>
          </p:spPr>
          <p:txBody>
            <a:bodyPr wrap="none" lIns="0" tIns="0" rIns="0" bIns="0" anchor="t" anchorCtr="0">
              <a:spAutoFit/>
            </a:bodyPr>
            <a:lstStyle/>
            <a:p>
              <a:pPr algn="ctr"/>
              <a:r>
                <a:rPr lang="zh-CN" sz="825" dirty="0">
                  <a:solidFill>
                    <a:srgbClr val="BBF7D0"/>
                  </a:solidFill>
                  <a:latin typeface="Arial"/>
                  <a:ea typeface="Microsoft YaHei"/>
                  <a:cs typeface="Arial"/>
                </a:rPr>
                <a:t>Ensemble</a:t>
              </a:r>
            </a:p>
          </p:txBody>
        </p:sp>
      </p:grpSp>
      <p:grpSp>
        <p:nvGrpSpPr>
          <p:cNvPr id="102" name="Group 102"/>
          <p:cNvGrpSpPr/>
          <p:nvPr/>
        </p:nvGrpSpPr>
        <p:grpSpPr>
          <a:xfrm>
            <a:off x="559118" y="4752499"/>
            <a:ext cx="8584882" cy="488632"/>
            <a:chOff x="559118" y="4752499"/>
            <a:chExt cx="8584882" cy="488632"/>
          </a:xfrm>
        </p:grpSpPr>
        <p:sp>
          <p:nvSpPr>
            <p:cNvPr id="92" name="TextBox 92"/>
            <p:cNvSpPr txBox="1"/>
            <p:nvPr/>
          </p:nvSpPr>
          <p:spPr>
            <a:xfrm>
              <a:off x="559118" y="4752499"/>
              <a:ext cx="705075" cy="198120"/>
            </a:xfrm>
            <a:prstGeom prst="rect">
              <a:avLst/>
            </a:prstGeom>
            <a:noFill/>
            <a:ln>
              <a:noFill/>
            </a:ln>
          </p:spPr>
          <p:txBody>
            <a:bodyPr wrap="none" lIns="0" tIns="0" rIns="0" bIns="0" anchor="t" anchorCtr="0">
              <a:spAutoFit/>
            </a:bodyPr>
            <a:lstStyle/>
            <a:p>
              <a:pPr algn="l"/>
              <a:r>
                <a:rPr lang="zh-CN" sz="975" b="1" dirty="0">
                  <a:solidFill>
                    <a:srgbClr val="1B3A6B"/>
                  </a:solidFill>
                  <a:latin typeface="Arial"/>
                  <a:ea typeface="Microsoft YaHei"/>
                  <a:cs typeface="Arial"/>
                </a:rPr>
                <a:t>色阶说明:</a:t>
              </a:r>
            </a:p>
          </p:txBody>
        </p:sp>
        <p:grpSp>
          <p:nvGrpSpPr>
            <p:cNvPr id="101" name="Group 101"/>
            <p:cNvGrpSpPr/>
            <p:nvPr/>
          </p:nvGrpSpPr>
          <p:grpSpPr>
            <a:xfrm>
              <a:off x="571500" y="5000625"/>
              <a:ext cx="8572500" cy="240506"/>
              <a:chOff x="571500" y="5000625"/>
              <a:chExt cx="8572500" cy="240506"/>
            </a:xfrm>
          </p:grpSpPr>
          <p:sp>
            <p:nvSpPr>
              <p:cNvPr id="93" name="Freeform 93"/>
              <p:cNvSpPr/>
              <p:nvPr/>
            </p:nvSpPr>
            <p:spPr>
              <a:xfrm>
                <a:off x="571500" y="5000625"/>
                <a:ext cx="8572500" cy="228600"/>
              </a:xfrm>
              <a:custGeom>
                <a:avLst/>
                <a:gdLst/>
                <a:ahLst/>
                <a:cxnLst/>
                <a:rect l="l" t="t" r="r" b="b"/>
                <a:pathLst>
                  <a:path w="8572500" h="228600">
                    <a:moveTo>
                      <a:pt x="38100" y="0"/>
                    </a:moveTo>
                    <a:lnTo>
                      <a:pt x="8534400" y="0"/>
                    </a:lnTo>
                    <a:cubicBezTo>
                      <a:pt x="8555442" y="0"/>
                      <a:pt x="8572500" y="17058"/>
                      <a:pt x="8572500" y="38100"/>
                    </a:cubicBezTo>
                    <a:lnTo>
                      <a:pt x="8572500" y="190500"/>
                    </a:lnTo>
                    <a:cubicBezTo>
                      <a:pt x="8572500" y="211542"/>
                      <a:pt x="8555442" y="228600"/>
                      <a:pt x="8534400" y="228600"/>
                    </a:cubicBezTo>
                    <a:lnTo>
                      <a:pt x="38100" y="228600"/>
                    </a:lnTo>
                    <a:cubicBezTo>
                      <a:pt x="17058" y="228600"/>
                      <a:pt x="0" y="211542"/>
                      <a:pt x="0" y="190500"/>
                    </a:cubicBezTo>
                    <a:lnTo>
                      <a:pt x="0" y="38100"/>
                    </a:lnTo>
                    <a:cubicBezTo>
                      <a:pt x="0" y="17058"/>
                      <a:pt x="17058" y="0"/>
                      <a:pt x="38100" y="0"/>
                    </a:cubicBezTo>
                    <a:close/>
                  </a:path>
                </a:pathLst>
              </a:custGeom>
              <a:gradFill>
                <a:gsLst>
                  <a:gs pos="0">
                    <a:srgbClr val="DC2626"/>
                  </a:gs>
                  <a:gs pos="30000">
                    <a:srgbClr val="D97706"/>
                  </a:gs>
                  <a:gs pos="60000">
                    <a:srgbClr val="FCD34D"/>
                  </a:gs>
                  <a:gs pos="80000">
                    <a:srgbClr val="16A34A"/>
                  </a:gs>
                  <a:gs pos="100000">
                    <a:srgbClr val="15803D"/>
                  </a:gs>
                </a:gsLst>
                <a:lin ang="0" scaled="1"/>
              </a:gradFill>
              <a:ln>
                <a:noFill/>
              </a:ln>
            </p:spPr>
          </p:sp>
          <p:sp>
            <p:nvSpPr>
              <p:cNvPr id="94" name="TextBox 94"/>
              <p:cNvSpPr txBox="1"/>
              <p:nvPr/>
            </p:nvSpPr>
            <p:spPr>
              <a:xfrm>
                <a:off x="608648" y="5073491"/>
                <a:ext cx="219766"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70%</a:t>
                </a:r>
              </a:p>
            </p:txBody>
          </p:sp>
          <p:sp>
            <p:nvSpPr>
              <p:cNvPr id="95" name="TextBox 95"/>
              <p:cNvSpPr txBox="1"/>
              <p:nvPr/>
            </p:nvSpPr>
            <p:spPr>
              <a:xfrm>
                <a:off x="2037398" y="5073491"/>
                <a:ext cx="219766" cy="167640"/>
              </a:xfrm>
              <a:prstGeom prst="rect">
                <a:avLst/>
              </a:prstGeom>
              <a:noFill/>
              <a:ln>
                <a:noFill/>
              </a:ln>
            </p:spPr>
            <p:txBody>
              <a:bodyPr wrap="none" lIns="0" tIns="0" rIns="0" bIns="0" anchor="t" anchorCtr="0">
                <a:spAutoFit/>
              </a:bodyPr>
              <a:lstStyle/>
              <a:p>
                <a:pPr algn="l"/>
                <a:r>
                  <a:rPr lang="zh-CN" sz="825" dirty="0">
                    <a:solidFill>
                      <a:srgbClr val="78350F"/>
                    </a:solidFill>
                    <a:latin typeface="Arial"/>
                    <a:ea typeface="Microsoft YaHei"/>
                    <a:cs typeface="Arial"/>
                  </a:rPr>
                  <a:t>75%</a:t>
                </a:r>
              </a:p>
            </p:txBody>
          </p:sp>
          <p:sp>
            <p:nvSpPr>
              <p:cNvPr id="96" name="TextBox 96"/>
              <p:cNvSpPr txBox="1"/>
              <p:nvPr/>
            </p:nvSpPr>
            <p:spPr>
              <a:xfrm>
                <a:off x="3466148" y="5073491"/>
                <a:ext cx="219766" cy="167640"/>
              </a:xfrm>
              <a:prstGeom prst="rect">
                <a:avLst/>
              </a:prstGeom>
              <a:noFill/>
              <a:ln>
                <a:noFill/>
              </a:ln>
            </p:spPr>
            <p:txBody>
              <a:bodyPr wrap="none" lIns="0" tIns="0" rIns="0" bIns="0" anchor="t" anchorCtr="0">
                <a:spAutoFit/>
              </a:bodyPr>
              <a:lstStyle/>
              <a:p>
                <a:pPr algn="l"/>
                <a:r>
                  <a:rPr lang="zh-CN" sz="825" dirty="0">
                    <a:solidFill>
                      <a:srgbClr val="78350F"/>
                    </a:solidFill>
                    <a:latin typeface="Arial"/>
                    <a:ea typeface="Microsoft YaHei"/>
                    <a:cs typeface="Arial"/>
                  </a:rPr>
                  <a:t>80%</a:t>
                </a:r>
              </a:p>
            </p:txBody>
          </p:sp>
          <p:sp>
            <p:nvSpPr>
              <p:cNvPr id="97" name="TextBox 97"/>
              <p:cNvSpPr txBox="1"/>
              <p:nvPr/>
            </p:nvSpPr>
            <p:spPr>
              <a:xfrm>
                <a:off x="4894898" y="5073491"/>
                <a:ext cx="219766" cy="167640"/>
              </a:xfrm>
              <a:prstGeom prst="rect">
                <a:avLst/>
              </a:prstGeom>
              <a:noFill/>
              <a:ln>
                <a:noFill/>
              </a:ln>
            </p:spPr>
            <p:txBody>
              <a:bodyPr wrap="none" lIns="0" tIns="0" rIns="0" bIns="0" anchor="t" anchorCtr="0">
                <a:spAutoFit/>
              </a:bodyPr>
              <a:lstStyle/>
              <a:p>
                <a:pPr algn="l"/>
                <a:r>
                  <a:rPr lang="zh-CN" sz="825" dirty="0">
                    <a:solidFill>
                      <a:srgbClr val="1A1A2E"/>
                    </a:solidFill>
                    <a:latin typeface="Arial"/>
                    <a:ea typeface="Microsoft YaHei"/>
                    <a:cs typeface="Arial"/>
                  </a:rPr>
                  <a:t>85%</a:t>
                </a:r>
              </a:p>
            </p:txBody>
          </p:sp>
          <p:sp>
            <p:nvSpPr>
              <p:cNvPr id="98" name="TextBox 98"/>
              <p:cNvSpPr txBox="1"/>
              <p:nvPr/>
            </p:nvSpPr>
            <p:spPr>
              <a:xfrm>
                <a:off x="6323648" y="5073491"/>
                <a:ext cx="219766"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90%</a:t>
                </a:r>
              </a:p>
            </p:txBody>
          </p:sp>
          <p:sp>
            <p:nvSpPr>
              <p:cNvPr id="99" name="TextBox 99"/>
              <p:cNvSpPr txBox="1"/>
              <p:nvPr/>
            </p:nvSpPr>
            <p:spPr>
              <a:xfrm>
                <a:off x="7752398" y="5073491"/>
                <a:ext cx="219766"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95%</a:t>
                </a:r>
              </a:p>
            </p:txBody>
          </p:sp>
          <p:sp>
            <p:nvSpPr>
              <p:cNvPr id="100" name="TextBox 100"/>
              <p:cNvSpPr txBox="1"/>
              <p:nvPr/>
            </p:nvSpPr>
            <p:spPr>
              <a:xfrm>
                <a:off x="8847772" y="5073491"/>
                <a:ext cx="255913"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100%</a:t>
                </a:r>
              </a:p>
            </p:txBody>
          </p:sp>
        </p:grpSp>
      </p:grpSp>
      <p:grpSp>
        <p:nvGrpSpPr>
          <p:cNvPr id="112" name="Group 112"/>
          <p:cNvGrpSpPr/>
          <p:nvPr/>
        </p:nvGrpSpPr>
        <p:grpSpPr>
          <a:xfrm>
            <a:off x="559118" y="5228749"/>
            <a:ext cx="7203757" cy="886301"/>
            <a:chOff x="559118" y="5228749"/>
            <a:chExt cx="7203757" cy="886301"/>
          </a:xfrm>
        </p:grpSpPr>
        <p:sp>
          <p:nvSpPr>
            <p:cNvPr id="103" name="TextBox 103"/>
            <p:cNvSpPr txBox="1"/>
            <p:nvPr/>
          </p:nvSpPr>
          <p:spPr>
            <a:xfrm>
              <a:off x="559118" y="5228749"/>
              <a:ext cx="705075" cy="198120"/>
            </a:xfrm>
            <a:prstGeom prst="rect">
              <a:avLst/>
            </a:prstGeom>
            <a:noFill/>
            <a:ln>
              <a:noFill/>
            </a:ln>
          </p:spPr>
          <p:txBody>
            <a:bodyPr wrap="none" lIns="0" tIns="0" rIns="0" bIns="0" anchor="t" anchorCtr="0">
              <a:spAutoFit/>
            </a:bodyPr>
            <a:lstStyle/>
            <a:p>
              <a:pPr algn="l"/>
              <a:r>
                <a:rPr lang="zh-CN" sz="975" b="1" dirty="0">
                  <a:solidFill>
                    <a:srgbClr val="1B3A6B"/>
                  </a:solidFill>
                  <a:latin typeface="Arial"/>
                  <a:ea typeface="Microsoft YaHei"/>
                  <a:cs typeface="Arial"/>
                </a:rPr>
                <a:t>关键发现:</a:t>
              </a:r>
            </a:p>
          </p:txBody>
        </p:sp>
        <p:sp>
          <p:nvSpPr>
            <p:cNvPr id="104" name="Freeform 104"/>
            <p:cNvSpPr/>
            <p:nvPr/>
          </p:nvSpPr>
          <p:spPr>
            <a:xfrm>
              <a:off x="571500" y="5448300"/>
              <a:ext cx="3524250" cy="666750"/>
            </a:xfrm>
            <a:custGeom>
              <a:avLst/>
              <a:gdLst/>
              <a:ahLst/>
              <a:cxnLst/>
              <a:rect l="l" t="t" r="r" b="b"/>
              <a:pathLst>
                <a:path w="3524250" h="666750">
                  <a:moveTo>
                    <a:pt x="76200" y="0"/>
                  </a:moveTo>
                  <a:lnTo>
                    <a:pt x="3448050" y="0"/>
                  </a:lnTo>
                  <a:cubicBezTo>
                    <a:pt x="3490134" y="0"/>
                    <a:pt x="3524250" y="34116"/>
                    <a:pt x="3524250" y="76200"/>
                  </a:cubicBezTo>
                  <a:lnTo>
                    <a:pt x="3524250" y="590550"/>
                  </a:lnTo>
                  <a:cubicBezTo>
                    <a:pt x="3524250" y="632634"/>
                    <a:pt x="3490134" y="666750"/>
                    <a:pt x="3448050" y="666750"/>
                  </a:cubicBezTo>
                  <a:lnTo>
                    <a:pt x="76200" y="666750"/>
                  </a:lnTo>
                  <a:cubicBezTo>
                    <a:pt x="34116" y="666750"/>
                    <a:pt x="0" y="632634"/>
                    <a:pt x="0" y="590550"/>
                  </a:cubicBezTo>
                  <a:lnTo>
                    <a:pt x="0" y="76200"/>
                  </a:lnTo>
                  <a:cubicBezTo>
                    <a:pt x="0" y="34116"/>
                    <a:pt x="34116" y="0"/>
                    <a:pt x="76200" y="0"/>
                  </a:cubicBezTo>
                  <a:close/>
                </a:path>
              </a:pathLst>
            </a:custGeom>
            <a:solidFill>
              <a:srgbClr val="F8FAFC"/>
            </a:solidFill>
            <a:ln w="9525">
              <a:solidFill>
                <a:srgbClr val="E5E7EB"/>
              </a:solidFill>
            </a:ln>
          </p:spPr>
        </p:sp>
        <p:sp>
          <p:nvSpPr>
            <p:cNvPr id="105" name="TextBox 105"/>
            <p:cNvSpPr txBox="1"/>
            <p:nvPr/>
          </p:nvSpPr>
          <p:spPr>
            <a:xfrm>
              <a:off x="702945" y="5570220"/>
              <a:ext cx="2969528" cy="182880"/>
            </a:xfrm>
            <a:prstGeom prst="rect">
              <a:avLst/>
            </a:prstGeom>
            <a:noFill/>
            <a:ln>
              <a:noFill/>
            </a:ln>
          </p:spPr>
          <p:txBody>
            <a:bodyPr wrap="none" lIns="0" tIns="0" rIns="0" bIns="0" anchor="t" anchorCtr="0">
              <a:spAutoFit/>
            </a:bodyPr>
            <a:lstStyle/>
            <a:p>
              <a:pPr algn="l"/>
              <a:r>
                <a:rPr lang="zh-CN" sz="900" b="1" dirty="0">
                  <a:solidFill>
                    <a:srgbClr val="166534"/>
                  </a:solidFill>
                  <a:latin typeface="Arial"/>
                  <a:ea typeface="Microsoft YaHei"/>
                  <a:cs typeface="Arial"/>
                </a:rPr>
                <a:t>RF表现最优，Machinery Manufacturing达100%</a:t>
              </a:r>
            </a:p>
          </p:txBody>
        </p:sp>
        <p:sp>
          <p:nvSpPr>
            <p:cNvPr id="106" name="TextBox 106"/>
            <p:cNvSpPr txBox="1"/>
            <p:nvPr/>
          </p:nvSpPr>
          <p:spPr>
            <a:xfrm>
              <a:off x="703898" y="5768816"/>
              <a:ext cx="170180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RF在各类设施上稳定，MLP次之</a:t>
              </a:r>
            </a:p>
          </p:txBody>
        </p:sp>
        <p:sp>
          <p:nvSpPr>
            <p:cNvPr id="107" name="TextBox 107"/>
            <p:cNvSpPr txBox="1"/>
            <p:nvPr/>
          </p:nvSpPr>
          <p:spPr>
            <a:xfrm>
              <a:off x="703898" y="5930741"/>
              <a:ext cx="256934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RF=27.0% MLP=26.4% CNN1D=26.1% SVM=20.6%</a:t>
              </a:r>
            </a:p>
          </p:txBody>
        </p:sp>
        <p:sp>
          <p:nvSpPr>
            <p:cNvPr id="108" name="Freeform 108"/>
            <p:cNvSpPr/>
            <p:nvPr/>
          </p:nvSpPr>
          <p:spPr>
            <a:xfrm>
              <a:off x="4238625" y="5448300"/>
              <a:ext cx="3524250" cy="666750"/>
            </a:xfrm>
            <a:custGeom>
              <a:avLst/>
              <a:gdLst/>
              <a:ahLst/>
              <a:cxnLst/>
              <a:rect l="l" t="t" r="r" b="b"/>
              <a:pathLst>
                <a:path w="3524250" h="666750">
                  <a:moveTo>
                    <a:pt x="76200" y="0"/>
                  </a:moveTo>
                  <a:lnTo>
                    <a:pt x="3448050" y="0"/>
                  </a:lnTo>
                  <a:cubicBezTo>
                    <a:pt x="3490134" y="0"/>
                    <a:pt x="3524250" y="34116"/>
                    <a:pt x="3524250" y="76200"/>
                  </a:cubicBezTo>
                  <a:lnTo>
                    <a:pt x="3524250" y="590550"/>
                  </a:lnTo>
                  <a:cubicBezTo>
                    <a:pt x="3524250" y="632634"/>
                    <a:pt x="3490134" y="666750"/>
                    <a:pt x="3448050" y="666750"/>
                  </a:cubicBezTo>
                  <a:lnTo>
                    <a:pt x="76200" y="666750"/>
                  </a:lnTo>
                  <a:cubicBezTo>
                    <a:pt x="34116" y="666750"/>
                    <a:pt x="0" y="632634"/>
                    <a:pt x="0" y="590550"/>
                  </a:cubicBezTo>
                  <a:lnTo>
                    <a:pt x="0" y="76200"/>
                  </a:lnTo>
                  <a:cubicBezTo>
                    <a:pt x="0" y="34116"/>
                    <a:pt x="34116" y="0"/>
                    <a:pt x="76200" y="0"/>
                  </a:cubicBezTo>
                  <a:close/>
                </a:path>
              </a:pathLst>
            </a:custGeom>
            <a:solidFill>
              <a:srgbClr val="F8FAFC"/>
            </a:solidFill>
            <a:ln w="9525">
              <a:solidFill>
                <a:srgbClr val="E5E7EB"/>
              </a:solidFill>
            </a:ln>
          </p:spPr>
        </p:sp>
        <p:sp>
          <p:nvSpPr>
            <p:cNvPr id="109" name="TextBox 109"/>
            <p:cNvSpPr txBox="1"/>
            <p:nvPr/>
          </p:nvSpPr>
          <p:spPr>
            <a:xfrm>
              <a:off x="4370070" y="5570220"/>
              <a:ext cx="2465765" cy="182880"/>
            </a:xfrm>
            <a:prstGeom prst="rect">
              <a:avLst/>
            </a:prstGeom>
            <a:noFill/>
            <a:ln>
              <a:noFill/>
            </a:ln>
          </p:spPr>
          <p:txBody>
            <a:bodyPr wrap="none" lIns="0" tIns="0" rIns="0" bIns="0" anchor="t" anchorCtr="0">
              <a:spAutoFit/>
            </a:bodyPr>
            <a:lstStyle/>
            <a:p>
              <a:pPr algn="l"/>
              <a:r>
                <a:rPr lang="zh-CN" sz="900" b="1" dirty="0">
                  <a:solidFill>
                    <a:srgbClr val="92400E"/>
                  </a:solidFill>
                  <a:latin typeface="Arial"/>
                  <a:ea typeface="Microsoft YaHei"/>
                  <a:cs typeface="Arial"/>
                </a:rPr>
                <a:t>SVM在Metallurgical上仅73.1%（最低）</a:t>
              </a:r>
            </a:p>
          </p:txBody>
        </p:sp>
        <p:sp>
          <p:nvSpPr>
            <p:cNvPr id="110" name="TextBox 110"/>
            <p:cNvSpPr txBox="1"/>
            <p:nvPr/>
          </p:nvSpPr>
          <p:spPr>
            <a:xfrm>
              <a:off x="4371022" y="5768816"/>
              <a:ext cx="262356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CNN1D在Metallurgical高多样性场景下降至90.2%</a:t>
              </a:r>
            </a:p>
          </p:txBody>
        </p:sp>
        <p:sp>
          <p:nvSpPr>
            <p:cNvPr id="111" name="TextBox 111"/>
            <p:cNvSpPr txBox="1"/>
            <p:nvPr/>
          </p:nvSpPr>
          <p:spPr>
            <a:xfrm>
              <a:off x="4371022" y="5930741"/>
              <a:ext cx="1587341"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融合策略有效缓解单模型不足</a:t>
              </a:r>
            </a:p>
          </p:txBody>
        </p:sp>
      </p:grpSp>
      <p:sp>
        <p:nvSpPr>
          <p:cNvPr id="113" name="TextBox 113"/>
          <p:cNvSpPr txBox="1"/>
          <p:nvPr/>
        </p:nvSpPr>
        <p:spPr>
          <a:xfrm>
            <a:off x="560070" y="6570345"/>
            <a:ext cx="397478"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13 / 16</a:t>
            </a:r>
          </a:p>
        </p:txBody>
      </p:sp>
    </p:spTree>
  </p:cSld>
  <p:clrMapOvr>
    <a:masterClrMapping/>
  </p:clrMapOvr>
  <p:transition 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solidFill>
            <a:srgbClr val="1B3A6B"/>
          </a:solidFill>
          <a:ln>
            <a:noFill/>
          </a:ln>
        </p:spPr>
      </p:sp>
      <p:sp>
        <p:nvSpPr>
          <p:cNvPr id="4" name="TextBox 4"/>
          <p:cNvSpPr txBox="1"/>
          <p:nvPr/>
        </p:nvSpPr>
        <p:spPr>
          <a:xfrm>
            <a:off x="550545" y="183832"/>
            <a:ext cx="2420407"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05 局限性与未来工作</a:t>
            </a:r>
          </a:p>
        </p:txBody>
      </p:sp>
      <p:sp>
        <p:nvSpPr>
          <p:cNvPr id="5" name="TextBox 5"/>
          <p:cNvSpPr txBox="1"/>
          <p:nvPr/>
        </p:nvSpPr>
        <p:spPr>
          <a:xfrm>
            <a:off x="10993755" y="248602"/>
            <a:ext cx="640080" cy="213360"/>
          </a:xfrm>
          <a:prstGeom prst="rect">
            <a:avLst/>
          </a:prstGeom>
          <a:noFill/>
          <a:ln>
            <a:noFill/>
          </a:ln>
        </p:spPr>
        <p:txBody>
          <a:bodyPr wrap="none" lIns="0" tIns="0" rIns="0" bIns="0" anchor="t" anchorCtr="0">
            <a:spAutoFit/>
          </a:bodyPr>
          <a:lstStyle/>
          <a:p>
            <a:pPr algn="r"/>
            <a:r>
              <a:rPr lang="zh-CN" sz="1050" dirty="0">
                <a:solidFill>
                  <a:srgbClr val="4A90D9"/>
                </a:solidFill>
                <a:latin typeface="Arial"/>
                <a:ea typeface="Microsoft YaHei"/>
                <a:cs typeface="Arial"/>
              </a:rPr>
              <a:t>综合对比</a:t>
            </a:r>
          </a:p>
        </p:txBody>
      </p:sp>
      <p:grpSp>
        <p:nvGrpSpPr>
          <p:cNvPr id="32" name="Group 32"/>
          <p:cNvGrpSpPr/>
          <p:nvPr/>
        </p:nvGrpSpPr>
        <p:grpSpPr>
          <a:xfrm>
            <a:off x="554355" y="902018"/>
            <a:ext cx="5303520" cy="5860732"/>
            <a:chOff x="554355" y="902018"/>
            <a:chExt cx="5303520" cy="5860732"/>
          </a:xfrm>
        </p:grpSpPr>
        <p:sp>
          <p:nvSpPr>
            <p:cNvPr id="6" name="TextBox 6"/>
            <p:cNvSpPr txBox="1"/>
            <p:nvPr/>
          </p:nvSpPr>
          <p:spPr>
            <a:xfrm>
              <a:off x="554355" y="902018"/>
              <a:ext cx="1069419" cy="274320"/>
            </a:xfrm>
            <a:prstGeom prst="rect">
              <a:avLst/>
            </a:prstGeom>
            <a:noFill/>
            <a:ln>
              <a:noFill/>
            </a:ln>
          </p:spPr>
          <p:txBody>
            <a:bodyPr wrap="none" lIns="0" tIns="0" rIns="0" bIns="0" anchor="t" anchorCtr="0">
              <a:spAutoFit/>
            </a:bodyPr>
            <a:lstStyle/>
            <a:p>
              <a:pPr algn="l"/>
              <a:r>
                <a:rPr lang="zh-CN" sz="1350" b="1" dirty="0">
                  <a:solidFill>
                    <a:srgbClr val="1B3A6B"/>
                  </a:solidFill>
                  <a:latin typeface="Arial"/>
                  <a:ea typeface="Microsoft YaHei"/>
                  <a:cs typeface="Arial"/>
                </a:rPr>
                <a:t>当前局限性</a:t>
              </a:r>
            </a:p>
          </p:txBody>
        </p:sp>
        <p:grpSp>
          <p:nvGrpSpPr>
            <p:cNvPr id="14" name="Group 14"/>
            <p:cNvGrpSpPr/>
            <p:nvPr/>
          </p:nvGrpSpPr>
          <p:grpSpPr>
            <a:xfrm>
              <a:off x="571500" y="1238250"/>
              <a:ext cx="5286375" cy="1238250"/>
              <a:chOff x="571500" y="1238250"/>
              <a:chExt cx="5286375" cy="1238250"/>
            </a:xfrm>
          </p:grpSpPr>
          <p:sp>
            <p:nvSpPr>
              <p:cNvPr id="7" name="Freeform 7"/>
              <p:cNvSpPr/>
              <p:nvPr/>
            </p:nvSpPr>
            <p:spPr>
              <a:xfrm>
                <a:off x="571500" y="1238250"/>
                <a:ext cx="5286375" cy="1238250"/>
              </a:xfrm>
              <a:custGeom>
                <a:avLst/>
                <a:gdLst/>
                <a:ahLst/>
                <a:cxnLst/>
                <a:rect l="l" t="t" r="r" b="b"/>
                <a:pathLst>
                  <a:path w="5286375" h="1238250">
                    <a:moveTo>
                      <a:pt x="95250" y="0"/>
                    </a:moveTo>
                    <a:lnTo>
                      <a:pt x="5191125" y="0"/>
                    </a:lnTo>
                    <a:cubicBezTo>
                      <a:pt x="5243730" y="0"/>
                      <a:pt x="5286375" y="42645"/>
                      <a:pt x="5286375" y="95250"/>
                    </a:cubicBezTo>
                    <a:lnTo>
                      <a:pt x="5286375" y="1143000"/>
                    </a:lnTo>
                    <a:cubicBezTo>
                      <a:pt x="5286375" y="1195605"/>
                      <a:pt x="5243730" y="1238250"/>
                      <a:pt x="5191125" y="1238250"/>
                    </a:cubicBezTo>
                    <a:lnTo>
                      <a:pt x="95250" y="1238250"/>
                    </a:lnTo>
                    <a:cubicBezTo>
                      <a:pt x="42645" y="1238250"/>
                      <a:pt x="0" y="1195605"/>
                      <a:pt x="0" y="1143000"/>
                    </a:cubicBezTo>
                    <a:lnTo>
                      <a:pt x="0" y="95250"/>
                    </a:lnTo>
                    <a:cubicBezTo>
                      <a:pt x="0" y="42645"/>
                      <a:pt x="42645" y="0"/>
                      <a:pt x="95250" y="0"/>
                    </a:cubicBezTo>
                    <a:close/>
                  </a:path>
                </a:pathLst>
              </a:custGeom>
              <a:gradFill>
                <a:gsLst>
                  <a:gs pos="0">
                    <a:srgbClr val="F8FAFC"/>
                  </a:gs>
                  <a:gs pos="100000">
                    <a:srgbClr val="FFFFFF"/>
                  </a:gs>
                </a:gsLst>
                <a:lin ang="5400000" scaled="1"/>
              </a:gradFill>
              <a:ln w="14288">
                <a:solidFill>
                  <a:srgbClr val="E5E7EB"/>
                </a:solidFill>
              </a:ln>
            </p:spPr>
          </p:sp>
          <p:sp>
            <p:nvSpPr>
              <p:cNvPr id="8" name="Freeform 8"/>
              <p:cNvSpPr/>
              <p:nvPr/>
            </p:nvSpPr>
            <p:spPr>
              <a:xfrm>
                <a:off x="571500" y="1238250"/>
                <a:ext cx="5286375" cy="419100"/>
              </a:xfrm>
              <a:custGeom>
                <a:avLst/>
                <a:gdLst/>
                <a:ahLst/>
                <a:cxnLst/>
                <a:rect l="l" t="t" r="r" b="b"/>
                <a:pathLst>
                  <a:path w="5286375" h="419100">
                    <a:moveTo>
                      <a:pt x="95250" y="0"/>
                    </a:moveTo>
                    <a:lnTo>
                      <a:pt x="5191125" y="0"/>
                    </a:lnTo>
                    <a:cubicBezTo>
                      <a:pt x="5243730" y="0"/>
                      <a:pt x="5286375" y="42645"/>
                      <a:pt x="5286375" y="95250"/>
                    </a:cubicBezTo>
                    <a:lnTo>
                      <a:pt x="5286375" y="323850"/>
                    </a:lnTo>
                    <a:cubicBezTo>
                      <a:pt x="5286375" y="376455"/>
                      <a:pt x="5243730" y="419100"/>
                      <a:pt x="5191125" y="419100"/>
                    </a:cubicBezTo>
                    <a:lnTo>
                      <a:pt x="95250" y="419100"/>
                    </a:lnTo>
                    <a:cubicBezTo>
                      <a:pt x="42645" y="419100"/>
                      <a:pt x="0" y="376455"/>
                      <a:pt x="0" y="323850"/>
                    </a:cubicBezTo>
                    <a:lnTo>
                      <a:pt x="0" y="95250"/>
                    </a:lnTo>
                    <a:cubicBezTo>
                      <a:pt x="0" y="42645"/>
                      <a:pt x="42645" y="0"/>
                      <a:pt x="95250" y="0"/>
                    </a:cubicBezTo>
                    <a:close/>
                  </a:path>
                </a:pathLst>
              </a:custGeom>
              <a:solidFill>
                <a:srgbClr val="B91C1C">
                  <a:alpha val="10000"/>
                </a:srgbClr>
              </a:solidFill>
              <a:ln>
                <a:noFill/>
              </a:ln>
            </p:spPr>
          </p:sp>
          <p:sp>
            <p:nvSpPr>
              <p:cNvPr id="9" name="Rectangle 9"/>
              <p:cNvSpPr/>
              <p:nvPr/>
            </p:nvSpPr>
            <p:spPr>
              <a:xfrm>
                <a:off x="571500" y="1428750"/>
                <a:ext cx="5286375" cy="228600"/>
              </a:xfrm>
              <a:prstGeom prst="rect">
                <a:avLst/>
              </a:prstGeom>
              <a:solidFill>
                <a:srgbClr val="B91C1C">
                  <a:alpha val="10000"/>
                </a:srgbClr>
              </a:solidFill>
              <a:ln>
                <a:noFill/>
              </a:ln>
            </p:spPr>
          </p:sp>
          <p:sp>
            <p:nvSpPr>
              <p:cNvPr id="10" name="TextBox 10"/>
              <p:cNvSpPr txBox="1"/>
              <p:nvPr/>
            </p:nvSpPr>
            <p:spPr>
              <a:xfrm>
                <a:off x="747712" y="1383506"/>
                <a:ext cx="3133963" cy="228600"/>
              </a:xfrm>
              <a:prstGeom prst="rect">
                <a:avLst/>
              </a:prstGeom>
              <a:noFill/>
              <a:ln>
                <a:noFill/>
              </a:ln>
            </p:spPr>
            <p:txBody>
              <a:bodyPr wrap="none" lIns="0" tIns="0" rIns="0" bIns="0" anchor="t" anchorCtr="0">
                <a:spAutoFit/>
              </a:bodyPr>
              <a:lstStyle/>
              <a:p>
                <a:pPr algn="l"/>
                <a:r>
                  <a:rPr lang="zh-CN" sz="1125" b="1" dirty="0">
                    <a:solidFill>
                      <a:srgbClr val="991B1B"/>
                    </a:solidFill>
                    <a:latin typeface="Arial"/>
                    <a:ea typeface="Microsoft YaHei"/>
                    <a:cs typeface="Arial"/>
                  </a:rPr>
                  <a:t>数据层面：合成数据与真实仿真存在差距</a:t>
                </a:r>
              </a:p>
            </p:txBody>
          </p:sp>
          <p:sp>
            <p:nvSpPr>
              <p:cNvPr id="11" name="TextBox 11"/>
              <p:cNvSpPr txBox="1"/>
              <p:nvPr/>
            </p:nvSpPr>
            <p:spPr>
              <a:xfrm>
                <a:off x="749618" y="1847374"/>
                <a:ext cx="242418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简化热负荷模型假设热辐射垂直入射</a:t>
                </a:r>
              </a:p>
            </p:txBody>
          </p:sp>
          <p:sp>
            <p:nvSpPr>
              <p:cNvPr id="12" name="TextBox 12"/>
              <p:cNvSpPr txBox="1"/>
              <p:nvPr/>
            </p:nvSpPr>
            <p:spPr>
              <a:xfrm>
                <a:off x="749618" y="2056924"/>
                <a:ext cx="1569791"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忽略烟气层的遮蔽效应</a:t>
                </a:r>
              </a:p>
            </p:txBody>
          </p:sp>
          <p:sp>
            <p:nvSpPr>
              <p:cNvPr id="13" name="TextBox 13"/>
              <p:cNvSpPr txBox="1"/>
              <p:nvPr/>
            </p:nvSpPr>
            <p:spPr>
              <a:xfrm>
                <a:off x="749618" y="2266474"/>
                <a:ext cx="1712190"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可燃物因子采用固定权重</a:t>
                </a:r>
              </a:p>
            </p:txBody>
          </p:sp>
        </p:grpSp>
        <p:grpSp>
          <p:nvGrpSpPr>
            <p:cNvPr id="22" name="Group 22"/>
            <p:cNvGrpSpPr/>
            <p:nvPr/>
          </p:nvGrpSpPr>
          <p:grpSpPr>
            <a:xfrm>
              <a:off x="571500" y="2619375"/>
              <a:ext cx="5286375" cy="1238250"/>
              <a:chOff x="571500" y="2619375"/>
              <a:chExt cx="5286375" cy="1238250"/>
            </a:xfrm>
          </p:grpSpPr>
          <p:sp>
            <p:nvSpPr>
              <p:cNvPr id="15" name="Freeform 15"/>
              <p:cNvSpPr/>
              <p:nvPr/>
            </p:nvSpPr>
            <p:spPr>
              <a:xfrm>
                <a:off x="571500" y="2619375"/>
                <a:ext cx="5286375" cy="1238250"/>
              </a:xfrm>
              <a:custGeom>
                <a:avLst/>
                <a:gdLst/>
                <a:ahLst/>
                <a:cxnLst/>
                <a:rect l="l" t="t" r="r" b="b"/>
                <a:pathLst>
                  <a:path w="5286375" h="1238250">
                    <a:moveTo>
                      <a:pt x="95250" y="0"/>
                    </a:moveTo>
                    <a:lnTo>
                      <a:pt x="5191125" y="0"/>
                    </a:lnTo>
                    <a:cubicBezTo>
                      <a:pt x="5243730" y="0"/>
                      <a:pt x="5286375" y="42645"/>
                      <a:pt x="5286375" y="95250"/>
                    </a:cubicBezTo>
                    <a:lnTo>
                      <a:pt x="5286375" y="1143000"/>
                    </a:lnTo>
                    <a:cubicBezTo>
                      <a:pt x="5286375" y="1195605"/>
                      <a:pt x="5243730" y="1238250"/>
                      <a:pt x="5191125" y="1238250"/>
                    </a:cubicBezTo>
                    <a:lnTo>
                      <a:pt x="95250" y="1238250"/>
                    </a:lnTo>
                    <a:cubicBezTo>
                      <a:pt x="42645" y="1238250"/>
                      <a:pt x="0" y="1195605"/>
                      <a:pt x="0" y="1143000"/>
                    </a:cubicBezTo>
                    <a:lnTo>
                      <a:pt x="0" y="95250"/>
                    </a:lnTo>
                    <a:cubicBezTo>
                      <a:pt x="0" y="42645"/>
                      <a:pt x="42645" y="0"/>
                      <a:pt x="95250" y="0"/>
                    </a:cubicBezTo>
                    <a:close/>
                  </a:path>
                </a:pathLst>
              </a:custGeom>
              <a:gradFill>
                <a:gsLst>
                  <a:gs pos="0">
                    <a:srgbClr val="F8FAFC"/>
                  </a:gs>
                  <a:gs pos="100000">
                    <a:srgbClr val="FFFFFF"/>
                  </a:gs>
                </a:gsLst>
                <a:lin ang="5400000" scaled="1"/>
              </a:gradFill>
              <a:ln w="14288">
                <a:solidFill>
                  <a:srgbClr val="E5E7EB"/>
                </a:solidFill>
              </a:ln>
            </p:spPr>
          </p:sp>
          <p:sp>
            <p:nvSpPr>
              <p:cNvPr id="16" name="Freeform 16"/>
              <p:cNvSpPr/>
              <p:nvPr/>
            </p:nvSpPr>
            <p:spPr>
              <a:xfrm>
                <a:off x="571500" y="2619375"/>
                <a:ext cx="5286375" cy="419100"/>
              </a:xfrm>
              <a:custGeom>
                <a:avLst/>
                <a:gdLst/>
                <a:ahLst/>
                <a:cxnLst/>
                <a:rect l="l" t="t" r="r" b="b"/>
                <a:pathLst>
                  <a:path w="5286375" h="419100">
                    <a:moveTo>
                      <a:pt x="95250" y="0"/>
                    </a:moveTo>
                    <a:lnTo>
                      <a:pt x="5191125" y="0"/>
                    </a:lnTo>
                    <a:cubicBezTo>
                      <a:pt x="5243730" y="0"/>
                      <a:pt x="5286375" y="42645"/>
                      <a:pt x="5286375" y="95250"/>
                    </a:cubicBezTo>
                    <a:lnTo>
                      <a:pt x="5286375" y="323850"/>
                    </a:lnTo>
                    <a:cubicBezTo>
                      <a:pt x="5286375" y="376455"/>
                      <a:pt x="5243730" y="419100"/>
                      <a:pt x="5191125" y="419100"/>
                    </a:cubicBezTo>
                    <a:lnTo>
                      <a:pt x="95250" y="419100"/>
                    </a:lnTo>
                    <a:cubicBezTo>
                      <a:pt x="42645" y="419100"/>
                      <a:pt x="0" y="376455"/>
                      <a:pt x="0" y="323850"/>
                    </a:cubicBezTo>
                    <a:lnTo>
                      <a:pt x="0" y="95250"/>
                    </a:lnTo>
                    <a:cubicBezTo>
                      <a:pt x="0" y="42645"/>
                      <a:pt x="42645" y="0"/>
                      <a:pt x="95250" y="0"/>
                    </a:cubicBezTo>
                    <a:close/>
                  </a:path>
                </a:pathLst>
              </a:custGeom>
              <a:solidFill>
                <a:srgbClr val="D97706">
                  <a:alpha val="10000"/>
                </a:srgbClr>
              </a:solidFill>
              <a:ln>
                <a:noFill/>
              </a:ln>
            </p:spPr>
          </p:sp>
          <p:sp>
            <p:nvSpPr>
              <p:cNvPr id="17" name="Rectangle 17"/>
              <p:cNvSpPr/>
              <p:nvPr/>
            </p:nvSpPr>
            <p:spPr>
              <a:xfrm>
                <a:off x="571500" y="2809875"/>
                <a:ext cx="5286375" cy="228600"/>
              </a:xfrm>
              <a:prstGeom prst="rect">
                <a:avLst/>
              </a:prstGeom>
              <a:solidFill>
                <a:srgbClr val="D97706">
                  <a:alpha val="10000"/>
                </a:srgbClr>
              </a:solidFill>
              <a:ln>
                <a:noFill/>
              </a:ln>
            </p:spPr>
          </p:sp>
          <p:sp>
            <p:nvSpPr>
              <p:cNvPr id="18" name="TextBox 18"/>
              <p:cNvSpPr txBox="1"/>
              <p:nvPr/>
            </p:nvSpPr>
            <p:spPr>
              <a:xfrm>
                <a:off x="747712" y="2764631"/>
                <a:ext cx="3021824" cy="228600"/>
              </a:xfrm>
              <a:prstGeom prst="rect">
                <a:avLst/>
              </a:prstGeom>
              <a:noFill/>
              <a:ln>
                <a:noFill/>
              </a:ln>
            </p:spPr>
            <p:txBody>
              <a:bodyPr wrap="none" lIns="0" tIns="0" rIns="0" bIns="0" anchor="t" anchorCtr="0">
                <a:spAutoFit/>
              </a:bodyPr>
              <a:lstStyle/>
              <a:p>
                <a:pPr algn="l"/>
                <a:r>
                  <a:rPr lang="zh-CN" sz="1125" b="1" dirty="0">
                    <a:solidFill>
                      <a:srgbClr val="92400E"/>
                    </a:solidFill>
                    <a:latin typeface="Arial"/>
                    <a:ea typeface="Microsoft YaHei"/>
                    <a:cs typeface="Arial"/>
                  </a:rPr>
                  <a:t>模型层面：SVM表现差，CNN1D泛化受限</a:t>
                </a:r>
              </a:p>
            </p:txBody>
          </p:sp>
          <p:sp>
            <p:nvSpPr>
              <p:cNvPr id="19" name="TextBox 19"/>
              <p:cNvSpPr txBox="1"/>
              <p:nvPr/>
            </p:nvSpPr>
            <p:spPr>
              <a:xfrm>
                <a:off x="749618" y="3228499"/>
                <a:ext cx="265202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SVM准确率仅76.9%，在融合中引入噪声</a:t>
                </a:r>
              </a:p>
            </p:txBody>
          </p:sp>
          <p:sp>
            <p:nvSpPr>
              <p:cNvPr id="20" name="TextBox 20"/>
              <p:cNvSpPr txBox="1"/>
              <p:nvPr/>
            </p:nvSpPr>
            <p:spPr>
              <a:xfrm>
                <a:off x="749618" y="3438049"/>
                <a:ext cx="350641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CNN1D在高多样性场景（Metallurgical）下降至90.2%</a:t>
                </a:r>
              </a:p>
            </p:txBody>
          </p:sp>
          <p:sp>
            <p:nvSpPr>
              <p:cNvPr id="21" name="TextBox 21"/>
              <p:cNvSpPr txBox="1"/>
              <p:nvPr/>
            </p:nvSpPr>
            <p:spPr>
              <a:xfrm>
                <a:off x="749618" y="3647599"/>
                <a:ext cx="256658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仅输出三级离散标签，可考虑回归模式</a:t>
                </a:r>
              </a:p>
            </p:txBody>
          </p:sp>
        </p:grpSp>
        <p:grpSp>
          <p:nvGrpSpPr>
            <p:cNvPr id="29" name="Group 29"/>
            <p:cNvGrpSpPr/>
            <p:nvPr/>
          </p:nvGrpSpPr>
          <p:grpSpPr>
            <a:xfrm>
              <a:off x="571500" y="4000500"/>
              <a:ext cx="5286375" cy="931069"/>
              <a:chOff x="571500" y="4000500"/>
              <a:chExt cx="5286375" cy="931069"/>
            </a:xfrm>
          </p:grpSpPr>
          <p:sp>
            <p:nvSpPr>
              <p:cNvPr id="23" name="Freeform 23"/>
              <p:cNvSpPr/>
              <p:nvPr/>
            </p:nvSpPr>
            <p:spPr>
              <a:xfrm>
                <a:off x="571500" y="4000500"/>
                <a:ext cx="5286375" cy="904875"/>
              </a:xfrm>
              <a:custGeom>
                <a:avLst/>
                <a:gdLst/>
                <a:ahLst/>
                <a:cxnLst/>
                <a:rect l="l" t="t" r="r" b="b"/>
                <a:pathLst>
                  <a:path w="5286375" h="904875">
                    <a:moveTo>
                      <a:pt x="95250" y="0"/>
                    </a:moveTo>
                    <a:lnTo>
                      <a:pt x="5191125" y="0"/>
                    </a:lnTo>
                    <a:cubicBezTo>
                      <a:pt x="5243730" y="0"/>
                      <a:pt x="5286375" y="42645"/>
                      <a:pt x="5286375" y="95250"/>
                    </a:cubicBezTo>
                    <a:lnTo>
                      <a:pt x="5286375" y="809625"/>
                    </a:lnTo>
                    <a:cubicBezTo>
                      <a:pt x="5286375" y="862230"/>
                      <a:pt x="5243730" y="904875"/>
                      <a:pt x="5191125" y="904875"/>
                    </a:cubicBezTo>
                    <a:lnTo>
                      <a:pt x="95250" y="904875"/>
                    </a:lnTo>
                    <a:cubicBezTo>
                      <a:pt x="42645" y="904875"/>
                      <a:pt x="0" y="862230"/>
                      <a:pt x="0" y="809625"/>
                    </a:cubicBezTo>
                    <a:lnTo>
                      <a:pt x="0" y="95250"/>
                    </a:lnTo>
                    <a:cubicBezTo>
                      <a:pt x="0" y="42645"/>
                      <a:pt x="42645" y="0"/>
                      <a:pt x="95250" y="0"/>
                    </a:cubicBezTo>
                    <a:close/>
                  </a:path>
                </a:pathLst>
              </a:custGeom>
              <a:gradFill>
                <a:gsLst>
                  <a:gs pos="0">
                    <a:srgbClr val="F8FAFC"/>
                  </a:gs>
                  <a:gs pos="100000">
                    <a:srgbClr val="FFFFFF"/>
                  </a:gs>
                </a:gsLst>
                <a:lin ang="5400000" scaled="1"/>
              </a:gradFill>
              <a:ln w="14288">
                <a:solidFill>
                  <a:srgbClr val="E5E7EB"/>
                </a:solidFill>
              </a:ln>
            </p:spPr>
          </p:sp>
          <p:sp>
            <p:nvSpPr>
              <p:cNvPr id="24" name="Freeform 24"/>
              <p:cNvSpPr/>
              <p:nvPr/>
            </p:nvSpPr>
            <p:spPr>
              <a:xfrm>
                <a:off x="571500" y="4000500"/>
                <a:ext cx="5286375" cy="419100"/>
              </a:xfrm>
              <a:custGeom>
                <a:avLst/>
                <a:gdLst/>
                <a:ahLst/>
                <a:cxnLst/>
                <a:rect l="l" t="t" r="r" b="b"/>
                <a:pathLst>
                  <a:path w="5286375" h="419100">
                    <a:moveTo>
                      <a:pt x="95250" y="0"/>
                    </a:moveTo>
                    <a:lnTo>
                      <a:pt x="5191125" y="0"/>
                    </a:lnTo>
                    <a:cubicBezTo>
                      <a:pt x="5243730" y="0"/>
                      <a:pt x="5286375" y="42645"/>
                      <a:pt x="5286375" y="95250"/>
                    </a:cubicBezTo>
                    <a:lnTo>
                      <a:pt x="5286375" y="323850"/>
                    </a:lnTo>
                    <a:cubicBezTo>
                      <a:pt x="5286375" y="376455"/>
                      <a:pt x="5243730" y="419100"/>
                      <a:pt x="5191125" y="419100"/>
                    </a:cubicBezTo>
                    <a:lnTo>
                      <a:pt x="95250" y="419100"/>
                    </a:lnTo>
                    <a:cubicBezTo>
                      <a:pt x="42645" y="419100"/>
                      <a:pt x="0" y="376455"/>
                      <a:pt x="0" y="323850"/>
                    </a:cubicBezTo>
                    <a:lnTo>
                      <a:pt x="0" y="95250"/>
                    </a:lnTo>
                    <a:cubicBezTo>
                      <a:pt x="0" y="42645"/>
                      <a:pt x="42645" y="0"/>
                      <a:pt x="95250" y="0"/>
                    </a:cubicBezTo>
                    <a:close/>
                  </a:path>
                </a:pathLst>
              </a:custGeom>
              <a:solidFill>
                <a:srgbClr val="6B7280">
                  <a:alpha val="10000"/>
                </a:srgbClr>
              </a:solidFill>
              <a:ln>
                <a:noFill/>
              </a:ln>
            </p:spPr>
          </p:sp>
          <p:sp>
            <p:nvSpPr>
              <p:cNvPr id="25" name="Rectangle 25"/>
              <p:cNvSpPr/>
              <p:nvPr/>
            </p:nvSpPr>
            <p:spPr>
              <a:xfrm>
                <a:off x="571500" y="4191000"/>
                <a:ext cx="5286375" cy="228600"/>
              </a:xfrm>
              <a:prstGeom prst="rect">
                <a:avLst/>
              </a:prstGeom>
              <a:solidFill>
                <a:srgbClr val="6B7280">
                  <a:alpha val="10000"/>
                </a:srgbClr>
              </a:solidFill>
              <a:ln>
                <a:noFill/>
              </a:ln>
            </p:spPr>
          </p:sp>
          <p:sp>
            <p:nvSpPr>
              <p:cNvPr id="26" name="TextBox 26"/>
              <p:cNvSpPr txBox="1"/>
              <p:nvPr/>
            </p:nvSpPr>
            <p:spPr>
              <a:xfrm>
                <a:off x="747712" y="4145756"/>
                <a:ext cx="1926312" cy="228600"/>
              </a:xfrm>
              <a:prstGeom prst="rect">
                <a:avLst/>
              </a:prstGeom>
              <a:noFill/>
              <a:ln>
                <a:noFill/>
              </a:ln>
            </p:spPr>
            <p:txBody>
              <a:bodyPr wrap="none" lIns="0" tIns="0" rIns="0" bIns="0" anchor="t" anchorCtr="0">
                <a:spAutoFit/>
              </a:bodyPr>
              <a:lstStyle/>
              <a:p>
                <a:pPr algn="l"/>
                <a:r>
                  <a:rPr lang="zh-CN" sz="1125" b="1" dirty="0">
                    <a:solidFill>
                      <a:srgbClr val="374151"/>
                    </a:solidFill>
                    <a:latin typeface="Arial"/>
                    <a:ea typeface="Microsoft YaHei"/>
                    <a:cs typeface="Arial"/>
                  </a:rPr>
                  <a:t>泛化层面：覆盖范围有限</a:t>
                </a:r>
              </a:p>
            </p:txBody>
          </p:sp>
          <p:sp>
            <p:nvSpPr>
              <p:cNvPr id="27" name="TextBox 27"/>
              <p:cNvSpPr txBox="1"/>
              <p:nvPr/>
            </p:nvSpPr>
            <p:spPr>
              <a:xfrm>
                <a:off x="749618" y="4561999"/>
                <a:ext cx="482360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当前覆盖Aerospace / Airport Hangar / Machinery / Metallurgical四类</a:t>
                </a:r>
              </a:p>
            </p:txBody>
          </p:sp>
          <p:sp>
            <p:nvSpPr>
              <p:cNvPr id="28" name="TextBox 28"/>
              <p:cNvSpPr txBox="1"/>
              <p:nvPr/>
            </p:nvSpPr>
            <p:spPr>
              <a:xfrm>
                <a:off x="749618" y="4733449"/>
                <a:ext cx="357761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其他设施（化工园/港口码头/数据中心）泛化能力未知</a:t>
                </a:r>
              </a:p>
            </p:txBody>
          </p:sp>
        </p:grpSp>
        <p:sp>
          <p:nvSpPr>
            <p:cNvPr id="30" name="TextBox 30"/>
            <p:cNvSpPr txBox="1"/>
            <p:nvPr/>
          </p:nvSpPr>
          <p:spPr>
            <a:xfrm>
              <a:off x="558165" y="5030152"/>
              <a:ext cx="1081352"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模型训练过程:</a:t>
              </a:r>
            </a:p>
          </p:txBody>
        </p:sp>
        <p:pic>
          <p:nvPicPr>
            <p:cNvPr id="31" name="Image 31"/>
            <p:cNvPicPr>
              <a:picLocks noChangeAspect="1"/>
            </p:cNvPicPr>
            <p:nvPr/>
          </p:nvPicPr>
          <p:blipFill>
            <a:blip r:embed="rId2"/>
            <a:stretch>
              <a:fillRect/>
            </a:stretch>
          </p:blipFill>
          <p:spPr>
            <a:xfrm>
              <a:off x="2172652" y="5286375"/>
              <a:ext cx="2085022" cy="1476375"/>
            </a:xfrm>
            <a:prstGeom prst="rect">
              <a:avLst/>
            </a:prstGeom>
          </p:spPr>
        </p:pic>
      </p:grpSp>
      <p:grpSp>
        <p:nvGrpSpPr>
          <p:cNvPr id="64" name="Group 64"/>
          <p:cNvGrpSpPr/>
          <p:nvPr/>
        </p:nvGrpSpPr>
        <p:grpSpPr>
          <a:xfrm>
            <a:off x="6078855" y="902018"/>
            <a:ext cx="5541645" cy="6146482"/>
            <a:chOff x="6078855" y="902018"/>
            <a:chExt cx="5541645" cy="6146482"/>
          </a:xfrm>
        </p:grpSpPr>
        <p:sp>
          <p:nvSpPr>
            <p:cNvPr id="33" name="TextBox 33"/>
            <p:cNvSpPr txBox="1"/>
            <p:nvPr/>
          </p:nvSpPr>
          <p:spPr>
            <a:xfrm>
              <a:off x="6078855" y="902018"/>
              <a:ext cx="1276445" cy="274320"/>
            </a:xfrm>
            <a:prstGeom prst="rect">
              <a:avLst/>
            </a:prstGeom>
            <a:noFill/>
            <a:ln>
              <a:noFill/>
            </a:ln>
          </p:spPr>
          <p:txBody>
            <a:bodyPr wrap="none" lIns="0" tIns="0" rIns="0" bIns="0" anchor="t" anchorCtr="0">
              <a:spAutoFit/>
            </a:bodyPr>
            <a:lstStyle/>
            <a:p>
              <a:pPr algn="l"/>
              <a:r>
                <a:rPr lang="zh-CN" sz="1350" b="1" dirty="0">
                  <a:solidFill>
                    <a:srgbClr val="1B3A6B"/>
                  </a:solidFill>
                  <a:latin typeface="Arial"/>
                  <a:ea typeface="Microsoft YaHei"/>
                  <a:cs typeface="Arial"/>
                </a:rPr>
                <a:t>未来工作计划</a:t>
              </a:r>
            </a:p>
          </p:txBody>
        </p:sp>
        <p:grpSp>
          <p:nvGrpSpPr>
            <p:cNvPr id="40" name="Group 40"/>
            <p:cNvGrpSpPr/>
            <p:nvPr/>
          </p:nvGrpSpPr>
          <p:grpSpPr>
            <a:xfrm>
              <a:off x="6096000" y="1238250"/>
              <a:ext cx="5524500" cy="1047750"/>
              <a:chOff x="6096000" y="1238250"/>
              <a:chExt cx="5524500" cy="1047750"/>
            </a:xfrm>
          </p:grpSpPr>
          <p:sp>
            <p:nvSpPr>
              <p:cNvPr id="34" name="Freeform 34"/>
              <p:cNvSpPr/>
              <p:nvPr/>
            </p:nvSpPr>
            <p:spPr>
              <a:xfrm>
                <a:off x="6096000" y="1238250"/>
                <a:ext cx="5524500" cy="1047750"/>
              </a:xfrm>
              <a:custGeom>
                <a:avLst/>
                <a:gdLst/>
                <a:ahLst/>
                <a:cxnLst/>
                <a:rect l="l" t="t" r="r" b="b"/>
                <a:pathLst>
                  <a:path w="5524500" h="1047750">
                    <a:moveTo>
                      <a:pt x="95250" y="0"/>
                    </a:moveTo>
                    <a:lnTo>
                      <a:pt x="5429250" y="0"/>
                    </a:lnTo>
                    <a:cubicBezTo>
                      <a:pt x="5481855" y="0"/>
                      <a:pt x="5524500" y="42645"/>
                      <a:pt x="5524500" y="95250"/>
                    </a:cubicBezTo>
                    <a:lnTo>
                      <a:pt x="5524500" y="952500"/>
                    </a:lnTo>
                    <a:cubicBezTo>
                      <a:pt x="5524500" y="1005105"/>
                      <a:pt x="5481855" y="1047750"/>
                      <a:pt x="5429250" y="1047750"/>
                    </a:cubicBezTo>
                    <a:lnTo>
                      <a:pt x="95250" y="1047750"/>
                    </a:lnTo>
                    <a:cubicBezTo>
                      <a:pt x="42645" y="1047750"/>
                      <a:pt x="0" y="1005105"/>
                      <a:pt x="0" y="952500"/>
                    </a:cubicBezTo>
                    <a:lnTo>
                      <a:pt x="0" y="95250"/>
                    </a:lnTo>
                    <a:cubicBezTo>
                      <a:pt x="0" y="42645"/>
                      <a:pt x="42645" y="0"/>
                      <a:pt x="95250" y="0"/>
                    </a:cubicBezTo>
                    <a:close/>
                  </a:path>
                </a:pathLst>
              </a:custGeom>
              <a:solidFill>
                <a:srgbClr val="F0FDF4"/>
              </a:solidFill>
              <a:ln w="14288">
                <a:solidFill>
                  <a:srgbClr val="16A34A"/>
                </a:solidFill>
              </a:ln>
            </p:spPr>
          </p:sp>
          <p:sp>
            <p:nvSpPr>
              <p:cNvPr id="35" name="Freeform 35"/>
              <p:cNvSpPr/>
              <p:nvPr/>
            </p:nvSpPr>
            <p:spPr>
              <a:xfrm>
                <a:off x="6096000" y="1238250"/>
                <a:ext cx="5524500" cy="419100"/>
              </a:xfrm>
              <a:custGeom>
                <a:avLst/>
                <a:gdLst/>
                <a:ahLst/>
                <a:cxnLst/>
                <a:rect l="l" t="t" r="r" b="b"/>
                <a:pathLst>
                  <a:path w="5524500" h="419100">
                    <a:moveTo>
                      <a:pt x="95250" y="0"/>
                    </a:moveTo>
                    <a:lnTo>
                      <a:pt x="5429250" y="0"/>
                    </a:lnTo>
                    <a:cubicBezTo>
                      <a:pt x="5481855" y="0"/>
                      <a:pt x="5524500" y="42645"/>
                      <a:pt x="5524500" y="95250"/>
                    </a:cubicBezTo>
                    <a:lnTo>
                      <a:pt x="5524500" y="323850"/>
                    </a:lnTo>
                    <a:cubicBezTo>
                      <a:pt x="5524500" y="376455"/>
                      <a:pt x="5481855" y="419100"/>
                      <a:pt x="5429250" y="419100"/>
                    </a:cubicBezTo>
                    <a:lnTo>
                      <a:pt x="95250" y="419100"/>
                    </a:lnTo>
                    <a:cubicBezTo>
                      <a:pt x="42645" y="419100"/>
                      <a:pt x="0" y="376455"/>
                      <a:pt x="0" y="323850"/>
                    </a:cubicBezTo>
                    <a:lnTo>
                      <a:pt x="0" y="95250"/>
                    </a:lnTo>
                    <a:cubicBezTo>
                      <a:pt x="0" y="42645"/>
                      <a:pt x="42645" y="0"/>
                      <a:pt x="95250" y="0"/>
                    </a:cubicBezTo>
                    <a:close/>
                  </a:path>
                </a:pathLst>
              </a:custGeom>
              <a:solidFill>
                <a:srgbClr val="DCFCE7"/>
              </a:solidFill>
              <a:ln>
                <a:noFill/>
              </a:ln>
            </p:spPr>
          </p:sp>
          <p:sp>
            <p:nvSpPr>
              <p:cNvPr id="36" name="Rectangle 36"/>
              <p:cNvSpPr/>
              <p:nvPr/>
            </p:nvSpPr>
            <p:spPr>
              <a:xfrm>
                <a:off x="6096000" y="1428750"/>
                <a:ext cx="5524500" cy="228600"/>
              </a:xfrm>
              <a:prstGeom prst="rect">
                <a:avLst/>
              </a:prstGeom>
              <a:solidFill>
                <a:srgbClr val="DCFCE7"/>
              </a:solidFill>
              <a:ln>
                <a:noFill/>
              </a:ln>
            </p:spPr>
          </p:sp>
          <p:sp>
            <p:nvSpPr>
              <p:cNvPr id="37" name="TextBox 37"/>
              <p:cNvSpPr txBox="1"/>
              <p:nvPr/>
            </p:nvSpPr>
            <p:spPr>
              <a:xfrm>
                <a:off x="6272212" y="1383506"/>
                <a:ext cx="2901059" cy="228600"/>
              </a:xfrm>
              <a:prstGeom prst="rect">
                <a:avLst/>
              </a:prstGeom>
              <a:noFill/>
              <a:ln>
                <a:noFill/>
              </a:ln>
            </p:spPr>
            <p:txBody>
              <a:bodyPr wrap="none" lIns="0" tIns="0" rIns="0" bIns="0" anchor="t" anchorCtr="0">
                <a:spAutoFit/>
              </a:bodyPr>
              <a:lstStyle/>
              <a:p>
                <a:pPr algn="l"/>
                <a:r>
                  <a:rPr lang="zh-CN" sz="1125" b="1" dirty="0">
                    <a:solidFill>
                      <a:srgbClr val="166534"/>
                    </a:solidFill>
                    <a:latin typeface="Arial"/>
                    <a:ea typeface="Microsoft YaHei"/>
                    <a:cs typeface="Arial"/>
                  </a:rPr>
                  <a:t>数据层面：FDS真实火灾仿真数据替换</a:t>
                </a:r>
              </a:p>
            </p:txBody>
          </p:sp>
          <p:sp>
            <p:nvSpPr>
              <p:cNvPr id="38" name="TextBox 38"/>
              <p:cNvSpPr txBox="1"/>
              <p:nvPr/>
            </p:nvSpPr>
            <p:spPr>
              <a:xfrm>
                <a:off x="6274118" y="1847374"/>
                <a:ext cx="3798332"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当FDS仿真数据积累充分后，以真实仿真结果替换合成数据</a:t>
                </a:r>
              </a:p>
            </p:txBody>
          </p:sp>
          <p:sp>
            <p:nvSpPr>
              <p:cNvPr id="39" name="TextBox 39"/>
              <p:cNvSpPr txBox="1"/>
              <p:nvPr/>
            </p:nvSpPr>
            <p:spPr>
              <a:xfrm>
                <a:off x="6274118" y="2056924"/>
                <a:ext cx="256658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对毁伤阈值和可燃物权重进行物理校准</a:t>
                </a:r>
              </a:p>
            </p:txBody>
          </p:sp>
        </p:grpSp>
        <p:grpSp>
          <p:nvGrpSpPr>
            <p:cNvPr id="47" name="Group 47"/>
            <p:cNvGrpSpPr/>
            <p:nvPr/>
          </p:nvGrpSpPr>
          <p:grpSpPr>
            <a:xfrm>
              <a:off x="6096000" y="2428875"/>
              <a:ext cx="5524500" cy="931069"/>
              <a:chOff x="6096000" y="2428875"/>
              <a:chExt cx="5524500" cy="931069"/>
            </a:xfrm>
          </p:grpSpPr>
          <p:sp>
            <p:nvSpPr>
              <p:cNvPr id="41" name="Freeform 41"/>
              <p:cNvSpPr/>
              <p:nvPr/>
            </p:nvSpPr>
            <p:spPr>
              <a:xfrm>
                <a:off x="6096000" y="2428875"/>
                <a:ext cx="5524500" cy="857250"/>
              </a:xfrm>
              <a:custGeom>
                <a:avLst/>
                <a:gdLst/>
                <a:ahLst/>
                <a:cxnLst/>
                <a:rect l="l" t="t" r="r" b="b"/>
                <a:pathLst>
                  <a:path w="5524500" h="857250">
                    <a:moveTo>
                      <a:pt x="95250" y="0"/>
                    </a:moveTo>
                    <a:lnTo>
                      <a:pt x="5429250" y="0"/>
                    </a:lnTo>
                    <a:cubicBezTo>
                      <a:pt x="5481855" y="0"/>
                      <a:pt x="5524500" y="42645"/>
                      <a:pt x="5524500" y="95250"/>
                    </a:cubicBezTo>
                    <a:lnTo>
                      <a:pt x="5524500" y="762000"/>
                    </a:lnTo>
                    <a:cubicBezTo>
                      <a:pt x="5524500" y="814605"/>
                      <a:pt x="5481855" y="857250"/>
                      <a:pt x="5429250" y="857250"/>
                    </a:cubicBezTo>
                    <a:lnTo>
                      <a:pt x="95250" y="857250"/>
                    </a:lnTo>
                    <a:cubicBezTo>
                      <a:pt x="42645" y="857250"/>
                      <a:pt x="0" y="814605"/>
                      <a:pt x="0" y="762000"/>
                    </a:cubicBezTo>
                    <a:lnTo>
                      <a:pt x="0" y="95250"/>
                    </a:lnTo>
                    <a:cubicBezTo>
                      <a:pt x="0" y="42645"/>
                      <a:pt x="42645" y="0"/>
                      <a:pt x="95250" y="0"/>
                    </a:cubicBezTo>
                    <a:close/>
                  </a:path>
                </a:pathLst>
              </a:custGeom>
              <a:solidFill>
                <a:srgbClr val="F0FDF4"/>
              </a:solidFill>
              <a:ln w="14288">
                <a:solidFill>
                  <a:srgbClr val="16A34A"/>
                </a:solidFill>
              </a:ln>
            </p:spPr>
          </p:sp>
          <p:sp>
            <p:nvSpPr>
              <p:cNvPr id="42" name="Freeform 42"/>
              <p:cNvSpPr/>
              <p:nvPr/>
            </p:nvSpPr>
            <p:spPr>
              <a:xfrm>
                <a:off x="6096000" y="2428875"/>
                <a:ext cx="5524500" cy="419100"/>
              </a:xfrm>
              <a:custGeom>
                <a:avLst/>
                <a:gdLst/>
                <a:ahLst/>
                <a:cxnLst/>
                <a:rect l="l" t="t" r="r" b="b"/>
                <a:pathLst>
                  <a:path w="5524500" h="419100">
                    <a:moveTo>
                      <a:pt x="95250" y="0"/>
                    </a:moveTo>
                    <a:lnTo>
                      <a:pt x="5429250" y="0"/>
                    </a:lnTo>
                    <a:cubicBezTo>
                      <a:pt x="5481855" y="0"/>
                      <a:pt x="5524500" y="42645"/>
                      <a:pt x="5524500" y="95250"/>
                    </a:cubicBezTo>
                    <a:lnTo>
                      <a:pt x="5524500" y="323850"/>
                    </a:lnTo>
                    <a:cubicBezTo>
                      <a:pt x="5524500" y="376455"/>
                      <a:pt x="5481855" y="419100"/>
                      <a:pt x="5429250" y="419100"/>
                    </a:cubicBezTo>
                    <a:lnTo>
                      <a:pt x="95250" y="419100"/>
                    </a:lnTo>
                    <a:cubicBezTo>
                      <a:pt x="42645" y="419100"/>
                      <a:pt x="0" y="376455"/>
                      <a:pt x="0" y="323850"/>
                    </a:cubicBezTo>
                    <a:lnTo>
                      <a:pt x="0" y="95250"/>
                    </a:lnTo>
                    <a:cubicBezTo>
                      <a:pt x="0" y="42645"/>
                      <a:pt x="42645" y="0"/>
                      <a:pt x="95250" y="0"/>
                    </a:cubicBezTo>
                    <a:close/>
                  </a:path>
                </a:pathLst>
              </a:custGeom>
              <a:solidFill>
                <a:srgbClr val="DCFCE7"/>
              </a:solidFill>
              <a:ln>
                <a:noFill/>
              </a:ln>
            </p:spPr>
          </p:sp>
          <p:sp>
            <p:nvSpPr>
              <p:cNvPr id="43" name="Rectangle 43"/>
              <p:cNvSpPr/>
              <p:nvPr/>
            </p:nvSpPr>
            <p:spPr>
              <a:xfrm>
                <a:off x="6096000" y="2619375"/>
                <a:ext cx="5524500" cy="228600"/>
              </a:xfrm>
              <a:prstGeom prst="rect">
                <a:avLst/>
              </a:prstGeom>
              <a:solidFill>
                <a:srgbClr val="DCFCE7"/>
              </a:solidFill>
              <a:ln>
                <a:noFill/>
              </a:ln>
            </p:spPr>
          </p:sp>
          <p:sp>
            <p:nvSpPr>
              <p:cNvPr id="44" name="TextBox 44"/>
              <p:cNvSpPr txBox="1"/>
              <p:nvPr/>
            </p:nvSpPr>
            <p:spPr>
              <a:xfrm>
                <a:off x="6272212" y="2574131"/>
                <a:ext cx="2788920" cy="228600"/>
              </a:xfrm>
              <a:prstGeom prst="rect">
                <a:avLst/>
              </a:prstGeom>
              <a:noFill/>
              <a:ln>
                <a:noFill/>
              </a:ln>
            </p:spPr>
            <p:txBody>
              <a:bodyPr wrap="none" lIns="0" tIns="0" rIns="0" bIns="0" anchor="t" anchorCtr="0">
                <a:spAutoFit/>
              </a:bodyPr>
              <a:lstStyle/>
              <a:p>
                <a:pPr algn="l"/>
                <a:r>
                  <a:rPr lang="zh-CN" sz="1125" b="1" dirty="0">
                    <a:solidFill>
                      <a:srgbClr val="166534"/>
                    </a:solidFill>
                    <a:latin typeface="Arial"/>
                    <a:ea typeface="Microsoft YaHei"/>
                    <a:cs typeface="Arial"/>
                  </a:rPr>
                  <a:t>模型层面：SVM剔除 + 连续毁伤指数</a:t>
                </a:r>
              </a:p>
            </p:txBody>
          </p:sp>
          <p:sp>
            <p:nvSpPr>
              <p:cNvPr id="45" name="TextBox 45"/>
              <p:cNvSpPr txBox="1"/>
              <p:nvPr/>
            </p:nvSpPr>
            <p:spPr>
              <a:xfrm>
                <a:off x="6274118" y="2990374"/>
                <a:ext cx="3349776"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若FDS数据集验证后SVM仍显著落后，从融合中剔除</a:t>
                </a:r>
              </a:p>
            </p:txBody>
          </p:sp>
          <p:sp>
            <p:nvSpPr>
              <p:cNvPr id="46" name="TextBox 46"/>
              <p:cNvSpPr txBox="1"/>
              <p:nvPr/>
            </p:nvSpPr>
            <p:spPr>
              <a:xfrm>
                <a:off x="6274118" y="3161824"/>
                <a:ext cx="342097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考虑回归模式输出连续毁伤指数，支撑精细风险排序</a:t>
                </a:r>
              </a:p>
            </p:txBody>
          </p:sp>
        </p:grpSp>
        <p:grpSp>
          <p:nvGrpSpPr>
            <p:cNvPr id="54" name="Group 54"/>
            <p:cNvGrpSpPr/>
            <p:nvPr/>
          </p:nvGrpSpPr>
          <p:grpSpPr>
            <a:xfrm>
              <a:off x="6096000" y="3429000"/>
              <a:ext cx="5524500" cy="931069"/>
              <a:chOff x="6096000" y="3429000"/>
              <a:chExt cx="5524500" cy="931069"/>
            </a:xfrm>
          </p:grpSpPr>
          <p:sp>
            <p:nvSpPr>
              <p:cNvPr id="48" name="Freeform 48"/>
              <p:cNvSpPr/>
              <p:nvPr/>
            </p:nvSpPr>
            <p:spPr>
              <a:xfrm>
                <a:off x="6096000" y="3429000"/>
                <a:ext cx="5524500" cy="857250"/>
              </a:xfrm>
              <a:custGeom>
                <a:avLst/>
                <a:gdLst/>
                <a:ahLst/>
                <a:cxnLst/>
                <a:rect l="l" t="t" r="r" b="b"/>
                <a:pathLst>
                  <a:path w="5524500" h="857250">
                    <a:moveTo>
                      <a:pt x="95250" y="0"/>
                    </a:moveTo>
                    <a:lnTo>
                      <a:pt x="5429250" y="0"/>
                    </a:lnTo>
                    <a:cubicBezTo>
                      <a:pt x="5481855" y="0"/>
                      <a:pt x="5524500" y="42645"/>
                      <a:pt x="5524500" y="95250"/>
                    </a:cubicBezTo>
                    <a:lnTo>
                      <a:pt x="5524500" y="762000"/>
                    </a:lnTo>
                    <a:cubicBezTo>
                      <a:pt x="5524500" y="814605"/>
                      <a:pt x="5481855" y="857250"/>
                      <a:pt x="5429250" y="857250"/>
                    </a:cubicBezTo>
                    <a:lnTo>
                      <a:pt x="95250" y="857250"/>
                    </a:lnTo>
                    <a:cubicBezTo>
                      <a:pt x="42645" y="857250"/>
                      <a:pt x="0" y="814605"/>
                      <a:pt x="0" y="762000"/>
                    </a:cubicBezTo>
                    <a:lnTo>
                      <a:pt x="0" y="95250"/>
                    </a:lnTo>
                    <a:cubicBezTo>
                      <a:pt x="0" y="42645"/>
                      <a:pt x="42645" y="0"/>
                      <a:pt x="95250" y="0"/>
                    </a:cubicBezTo>
                    <a:close/>
                  </a:path>
                </a:pathLst>
              </a:custGeom>
              <a:solidFill>
                <a:srgbClr val="F0FDF4"/>
              </a:solidFill>
              <a:ln w="14288">
                <a:solidFill>
                  <a:srgbClr val="16A34A"/>
                </a:solidFill>
              </a:ln>
            </p:spPr>
          </p:sp>
          <p:sp>
            <p:nvSpPr>
              <p:cNvPr id="49" name="Freeform 49"/>
              <p:cNvSpPr/>
              <p:nvPr/>
            </p:nvSpPr>
            <p:spPr>
              <a:xfrm>
                <a:off x="6096000" y="3429000"/>
                <a:ext cx="5524500" cy="419100"/>
              </a:xfrm>
              <a:custGeom>
                <a:avLst/>
                <a:gdLst/>
                <a:ahLst/>
                <a:cxnLst/>
                <a:rect l="l" t="t" r="r" b="b"/>
                <a:pathLst>
                  <a:path w="5524500" h="419100">
                    <a:moveTo>
                      <a:pt x="95250" y="0"/>
                    </a:moveTo>
                    <a:lnTo>
                      <a:pt x="5429250" y="0"/>
                    </a:lnTo>
                    <a:cubicBezTo>
                      <a:pt x="5481855" y="0"/>
                      <a:pt x="5524500" y="42645"/>
                      <a:pt x="5524500" y="95250"/>
                    </a:cubicBezTo>
                    <a:lnTo>
                      <a:pt x="5524500" y="323850"/>
                    </a:lnTo>
                    <a:cubicBezTo>
                      <a:pt x="5524500" y="376455"/>
                      <a:pt x="5481855" y="419100"/>
                      <a:pt x="5429250" y="419100"/>
                    </a:cubicBezTo>
                    <a:lnTo>
                      <a:pt x="95250" y="419100"/>
                    </a:lnTo>
                    <a:cubicBezTo>
                      <a:pt x="42645" y="419100"/>
                      <a:pt x="0" y="376455"/>
                      <a:pt x="0" y="323850"/>
                    </a:cubicBezTo>
                    <a:lnTo>
                      <a:pt x="0" y="95250"/>
                    </a:lnTo>
                    <a:cubicBezTo>
                      <a:pt x="0" y="42645"/>
                      <a:pt x="42645" y="0"/>
                      <a:pt x="95250" y="0"/>
                    </a:cubicBezTo>
                    <a:close/>
                  </a:path>
                </a:pathLst>
              </a:custGeom>
              <a:solidFill>
                <a:srgbClr val="DCFCE7"/>
              </a:solidFill>
              <a:ln>
                <a:noFill/>
              </a:ln>
            </p:spPr>
          </p:sp>
          <p:sp>
            <p:nvSpPr>
              <p:cNvPr id="50" name="Rectangle 50"/>
              <p:cNvSpPr/>
              <p:nvPr/>
            </p:nvSpPr>
            <p:spPr>
              <a:xfrm>
                <a:off x="6096000" y="3619500"/>
                <a:ext cx="5524500" cy="228600"/>
              </a:xfrm>
              <a:prstGeom prst="rect">
                <a:avLst/>
              </a:prstGeom>
              <a:solidFill>
                <a:srgbClr val="DCFCE7"/>
              </a:solidFill>
              <a:ln>
                <a:noFill/>
              </a:ln>
            </p:spPr>
          </p:sp>
          <p:sp>
            <p:nvSpPr>
              <p:cNvPr id="51" name="TextBox 51"/>
              <p:cNvSpPr txBox="1"/>
              <p:nvPr/>
            </p:nvSpPr>
            <p:spPr>
              <a:xfrm>
                <a:off x="6272212" y="3574256"/>
                <a:ext cx="2814798" cy="228600"/>
              </a:xfrm>
              <a:prstGeom prst="rect">
                <a:avLst/>
              </a:prstGeom>
              <a:noFill/>
              <a:ln>
                <a:noFill/>
              </a:ln>
            </p:spPr>
            <p:txBody>
              <a:bodyPr wrap="none" lIns="0" tIns="0" rIns="0" bIns="0" anchor="t" anchorCtr="0">
                <a:spAutoFit/>
              </a:bodyPr>
              <a:lstStyle/>
              <a:p>
                <a:pPr algn="l"/>
                <a:r>
                  <a:rPr lang="zh-CN" sz="1125" b="1" dirty="0">
                    <a:solidFill>
                      <a:srgbClr val="166534"/>
                    </a:solidFill>
                    <a:latin typeface="Arial"/>
                    <a:ea typeface="Microsoft YaHei"/>
                    <a:cs typeface="Arial"/>
                  </a:rPr>
                  <a:t>泛化层面：扩展设施类型 + 迁移学习</a:t>
                </a:r>
              </a:p>
            </p:txBody>
          </p:sp>
          <p:sp>
            <p:nvSpPr>
              <p:cNvPr id="52" name="TextBox 52"/>
              <p:cNvSpPr txBox="1"/>
              <p:nvPr/>
            </p:nvSpPr>
            <p:spPr>
              <a:xfrm>
                <a:off x="6274118" y="3990499"/>
                <a:ext cx="3292816"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引入更多设施类型（化工园/港口码头/数据中心）</a:t>
                </a:r>
              </a:p>
            </p:txBody>
          </p:sp>
          <p:sp>
            <p:nvSpPr>
              <p:cNvPr id="53" name="TextBox 53"/>
              <p:cNvSpPr txBox="1"/>
              <p:nvPr/>
            </p:nvSpPr>
            <p:spPr>
              <a:xfrm>
                <a:off x="6274118" y="4161949"/>
                <a:ext cx="256658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研究跨设施类型的少样本迁移学习方法</a:t>
                </a:r>
              </a:p>
            </p:txBody>
          </p:sp>
        </p:grpSp>
        <p:grpSp>
          <p:nvGrpSpPr>
            <p:cNvPr id="61" name="Group 61"/>
            <p:cNvGrpSpPr/>
            <p:nvPr/>
          </p:nvGrpSpPr>
          <p:grpSpPr>
            <a:xfrm>
              <a:off x="6096000" y="4429125"/>
              <a:ext cx="5524500" cy="931069"/>
              <a:chOff x="6096000" y="4429125"/>
              <a:chExt cx="5524500" cy="931069"/>
            </a:xfrm>
          </p:grpSpPr>
          <p:sp>
            <p:nvSpPr>
              <p:cNvPr id="55" name="Freeform 55"/>
              <p:cNvSpPr/>
              <p:nvPr/>
            </p:nvSpPr>
            <p:spPr>
              <a:xfrm>
                <a:off x="6096000" y="4429125"/>
                <a:ext cx="5524500" cy="857250"/>
              </a:xfrm>
              <a:custGeom>
                <a:avLst/>
                <a:gdLst/>
                <a:ahLst/>
                <a:cxnLst/>
                <a:rect l="l" t="t" r="r" b="b"/>
                <a:pathLst>
                  <a:path w="5524500" h="857250">
                    <a:moveTo>
                      <a:pt x="95250" y="0"/>
                    </a:moveTo>
                    <a:lnTo>
                      <a:pt x="5429250" y="0"/>
                    </a:lnTo>
                    <a:cubicBezTo>
                      <a:pt x="5481855" y="0"/>
                      <a:pt x="5524500" y="42645"/>
                      <a:pt x="5524500" y="95250"/>
                    </a:cubicBezTo>
                    <a:lnTo>
                      <a:pt x="5524500" y="762000"/>
                    </a:lnTo>
                    <a:cubicBezTo>
                      <a:pt x="5524500" y="814605"/>
                      <a:pt x="5481855" y="857250"/>
                      <a:pt x="5429250" y="857250"/>
                    </a:cubicBezTo>
                    <a:lnTo>
                      <a:pt x="95250" y="857250"/>
                    </a:lnTo>
                    <a:cubicBezTo>
                      <a:pt x="42645" y="857250"/>
                      <a:pt x="0" y="814605"/>
                      <a:pt x="0" y="762000"/>
                    </a:cubicBezTo>
                    <a:lnTo>
                      <a:pt x="0" y="95250"/>
                    </a:lnTo>
                    <a:cubicBezTo>
                      <a:pt x="0" y="42645"/>
                      <a:pt x="42645" y="0"/>
                      <a:pt x="95250" y="0"/>
                    </a:cubicBezTo>
                    <a:close/>
                  </a:path>
                </a:pathLst>
              </a:custGeom>
              <a:solidFill>
                <a:srgbClr val="FEF3C7"/>
              </a:solidFill>
              <a:ln w="14288">
                <a:solidFill>
                  <a:srgbClr val="D97706"/>
                </a:solidFill>
              </a:ln>
            </p:spPr>
          </p:sp>
          <p:sp>
            <p:nvSpPr>
              <p:cNvPr id="56" name="Freeform 56"/>
              <p:cNvSpPr/>
              <p:nvPr/>
            </p:nvSpPr>
            <p:spPr>
              <a:xfrm>
                <a:off x="6096000" y="4429125"/>
                <a:ext cx="5524500" cy="419100"/>
              </a:xfrm>
              <a:custGeom>
                <a:avLst/>
                <a:gdLst/>
                <a:ahLst/>
                <a:cxnLst/>
                <a:rect l="l" t="t" r="r" b="b"/>
                <a:pathLst>
                  <a:path w="5524500" h="419100">
                    <a:moveTo>
                      <a:pt x="95250" y="0"/>
                    </a:moveTo>
                    <a:lnTo>
                      <a:pt x="5429250" y="0"/>
                    </a:lnTo>
                    <a:cubicBezTo>
                      <a:pt x="5481855" y="0"/>
                      <a:pt x="5524500" y="42645"/>
                      <a:pt x="5524500" y="95250"/>
                    </a:cubicBezTo>
                    <a:lnTo>
                      <a:pt x="5524500" y="323850"/>
                    </a:lnTo>
                    <a:cubicBezTo>
                      <a:pt x="5524500" y="376455"/>
                      <a:pt x="5481855" y="419100"/>
                      <a:pt x="5429250" y="419100"/>
                    </a:cubicBezTo>
                    <a:lnTo>
                      <a:pt x="95250" y="419100"/>
                    </a:lnTo>
                    <a:cubicBezTo>
                      <a:pt x="42645" y="419100"/>
                      <a:pt x="0" y="376455"/>
                      <a:pt x="0" y="323850"/>
                    </a:cubicBezTo>
                    <a:lnTo>
                      <a:pt x="0" y="95250"/>
                    </a:lnTo>
                    <a:cubicBezTo>
                      <a:pt x="0" y="42645"/>
                      <a:pt x="42645" y="0"/>
                      <a:pt x="95250" y="0"/>
                    </a:cubicBezTo>
                    <a:close/>
                  </a:path>
                </a:pathLst>
              </a:custGeom>
              <a:solidFill>
                <a:srgbClr val="FEF3C7"/>
              </a:solidFill>
              <a:ln>
                <a:noFill/>
              </a:ln>
            </p:spPr>
          </p:sp>
          <p:sp>
            <p:nvSpPr>
              <p:cNvPr id="57" name="Rectangle 57"/>
              <p:cNvSpPr/>
              <p:nvPr/>
            </p:nvSpPr>
            <p:spPr>
              <a:xfrm>
                <a:off x="6096000" y="4619625"/>
                <a:ext cx="5524500" cy="228600"/>
              </a:xfrm>
              <a:prstGeom prst="rect">
                <a:avLst/>
              </a:prstGeom>
              <a:solidFill>
                <a:srgbClr val="FEF3C7"/>
              </a:solidFill>
              <a:ln>
                <a:noFill/>
              </a:ln>
            </p:spPr>
          </p:sp>
          <p:sp>
            <p:nvSpPr>
              <p:cNvPr id="58" name="TextBox 58"/>
              <p:cNvSpPr txBox="1"/>
              <p:nvPr/>
            </p:nvSpPr>
            <p:spPr>
              <a:xfrm>
                <a:off x="6272212" y="4574381"/>
                <a:ext cx="2788920" cy="228600"/>
              </a:xfrm>
              <a:prstGeom prst="rect">
                <a:avLst/>
              </a:prstGeom>
              <a:noFill/>
              <a:ln>
                <a:noFill/>
              </a:ln>
            </p:spPr>
            <p:txBody>
              <a:bodyPr wrap="none" lIns="0" tIns="0" rIns="0" bIns="0" anchor="t" anchorCtr="0">
                <a:spAutoFit/>
              </a:bodyPr>
              <a:lstStyle/>
              <a:p>
                <a:pPr algn="l"/>
                <a:r>
                  <a:rPr lang="zh-CN" sz="1125" b="1" dirty="0">
                    <a:solidFill>
                      <a:srgbClr val="92400E"/>
                    </a:solidFill>
                    <a:latin typeface="Arial"/>
                    <a:ea typeface="Microsoft YaHei"/>
                    <a:cs typeface="Arial"/>
                  </a:rPr>
                  <a:t>建筑尺度差异化：专用电厂专项模型</a:t>
                </a:r>
              </a:p>
            </p:txBody>
          </p:sp>
          <p:sp>
            <p:nvSpPr>
              <p:cNvPr id="59" name="TextBox 59"/>
              <p:cNvSpPr txBox="1"/>
              <p:nvPr/>
            </p:nvSpPr>
            <p:spPr>
              <a:xfrm>
                <a:off x="6274118" y="4990624"/>
                <a:ext cx="339961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专用电厂高度范围8-110m，当前等效仅取中位数25m</a:t>
                </a:r>
              </a:p>
            </p:txBody>
          </p:sp>
          <p:sp>
            <p:nvSpPr>
              <p:cNvPr id="60" name="TextBox 60"/>
              <p:cNvSpPr txBox="1"/>
              <p:nvPr/>
            </p:nvSpPr>
            <p:spPr>
              <a:xfrm>
                <a:off x="6274118" y="5162074"/>
                <a:ext cx="3577614"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 计划针对大型/中型/小型专用电厂分别建立差异化模型</a:t>
                </a:r>
              </a:p>
            </p:txBody>
          </p:sp>
        </p:grpSp>
        <p:sp>
          <p:nvSpPr>
            <p:cNvPr id="62" name="TextBox 62"/>
            <p:cNvSpPr txBox="1"/>
            <p:nvPr/>
          </p:nvSpPr>
          <p:spPr>
            <a:xfrm>
              <a:off x="6082665" y="5411152"/>
              <a:ext cx="1725432"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四类设施毁伤分布对比:</a:t>
              </a:r>
            </a:p>
          </p:txBody>
        </p:sp>
        <p:pic>
          <p:nvPicPr>
            <p:cNvPr id="63" name="Image 63"/>
            <p:cNvPicPr>
              <a:picLocks noChangeAspect="1"/>
            </p:cNvPicPr>
            <p:nvPr/>
          </p:nvPicPr>
          <p:blipFill>
            <a:blip r:embed="rId3"/>
            <a:stretch>
              <a:fillRect/>
            </a:stretch>
          </p:blipFill>
          <p:spPr>
            <a:xfrm>
              <a:off x="7928610" y="5667375"/>
              <a:ext cx="1860232" cy="1381125"/>
            </a:xfrm>
            <a:prstGeom prst="rect">
              <a:avLst/>
            </a:prstGeom>
          </p:spPr>
        </p:pic>
      </p:grpSp>
      <p:sp>
        <p:nvSpPr>
          <p:cNvPr id="65" name="TextBox 65"/>
          <p:cNvSpPr txBox="1"/>
          <p:nvPr/>
        </p:nvSpPr>
        <p:spPr>
          <a:xfrm>
            <a:off x="560070" y="6570345"/>
            <a:ext cx="397478"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14 / 16</a:t>
            </a:r>
          </a:p>
        </p:txBody>
      </p:sp>
    </p:spTree>
  </p:cSld>
  <p:clrMapOvr>
    <a:masterClrMapping/>
  </p:clrMapOvr>
  <p:transition 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1905000"/>
          </a:xfrm>
          <a:prstGeom prst="rect">
            <a:avLst/>
          </a:prstGeom>
          <a:gradFill>
            <a:gsLst>
              <a:gs pos="0">
                <a:srgbClr val="1B3A6B"/>
              </a:gs>
              <a:gs pos="100000">
                <a:srgbClr val="0F2540"/>
              </a:gs>
            </a:gsLst>
            <a:lin ang="5400000" scaled="1"/>
          </a:gradFill>
          <a:ln>
            <a:noFill/>
          </a:ln>
        </p:spPr>
      </p:sp>
      <p:sp>
        <p:nvSpPr>
          <p:cNvPr id="4" name="TextBox 4"/>
          <p:cNvSpPr txBox="1"/>
          <p:nvPr/>
        </p:nvSpPr>
        <p:spPr>
          <a:xfrm>
            <a:off x="558165" y="410528"/>
            <a:ext cx="548068" cy="213360"/>
          </a:xfrm>
          <a:prstGeom prst="rect">
            <a:avLst/>
          </a:prstGeom>
          <a:noFill/>
          <a:ln>
            <a:noFill/>
          </a:ln>
        </p:spPr>
        <p:txBody>
          <a:bodyPr wrap="none" lIns="0" tIns="0" rIns="0" bIns="0" anchor="t" anchorCtr="0">
            <a:spAutoFit/>
          </a:bodyPr>
          <a:lstStyle/>
          <a:p>
            <a:pPr algn="l"/>
            <a:r>
              <a:rPr lang="zh-CN" sz="1050" dirty="0">
                <a:solidFill>
                  <a:srgbClr val="4A90D9"/>
                </a:solidFill>
                <a:latin typeface="Arial"/>
                <a:ea typeface="Microsoft YaHei"/>
                <a:cs typeface="Arial"/>
              </a:rPr>
              <a:t>06 结论</a:t>
            </a:r>
          </a:p>
        </p:txBody>
      </p:sp>
      <p:sp>
        <p:nvSpPr>
          <p:cNvPr id="5" name="TextBox 5"/>
          <p:cNvSpPr txBox="1"/>
          <p:nvPr/>
        </p:nvSpPr>
        <p:spPr>
          <a:xfrm>
            <a:off x="533400" y="771525"/>
            <a:ext cx="6056948"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热毁伤代理模型研究核心结论</a:t>
            </a:r>
          </a:p>
        </p:txBody>
      </p:sp>
      <p:sp>
        <p:nvSpPr>
          <p:cNvPr id="6" name="Freeform 6"/>
          <p:cNvSpPr/>
          <p:nvPr/>
        </p:nvSpPr>
        <p:spPr>
          <a:xfrm>
            <a:off x="571500" y="1285875"/>
            <a:ext cx="1905000" cy="28575"/>
          </a:xfrm>
          <a:custGeom>
            <a:avLst/>
            <a:gdLst/>
            <a:ahLst/>
            <a:cxnLst/>
            <a:rect l="l" t="t" r="r" b="b"/>
            <a:pathLst>
              <a:path w="1905000" h="28575">
                <a:moveTo>
                  <a:pt x="14288" y="0"/>
                </a:moveTo>
                <a:lnTo>
                  <a:pt x="1890712" y="0"/>
                </a:lnTo>
                <a:cubicBezTo>
                  <a:pt x="1898603" y="0"/>
                  <a:pt x="1905000" y="6397"/>
                  <a:pt x="1905000" y="14288"/>
                </a:cubicBezTo>
                <a:lnTo>
                  <a:pt x="1905000" y="14288"/>
                </a:lnTo>
                <a:cubicBezTo>
                  <a:pt x="1905000" y="22178"/>
                  <a:pt x="1898603" y="28575"/>
                  <a:pt x="1890712" y="28575"/>
                </a:cubicBezTo>
                <a:lnTo>
                  <a:pt x="14288" y="28575"/>
                </a:lnTo>
                <a:cubicBezTo>
                  <a:pt x="6397" y="28575"/>
                  <a:pt x="0" y="22178"/>
                  <a:pt x="0" y="14288"/>
                </a:cubicBezTo>
                <a:lnTo>
                  <a:pt x="0" y="14288"/>
                </a:lnTo>
                <a:cubicBezTo>
                  <a:pt x="0" y="6397"/>
                  <a:pt x="6397" y="0"/>
                  <a:pt x="14288" y="0"/>
                </a:cubicBezTo>
                <a:close/>
              </a:path>
            </a:pathLst>
          </a:custGeom>
          <a:solidFill>
            <a:srgbClr val="2196F3"/>
          </a:solidFill>
          <a:ln>
            <a:noFill/>
          </a:ln>
        </p:spPr>
      </p:sp>
      <p:grpSp>
        <p:nvGrpSpPr>
          <p:cNvPr id="19" name="Group 19"/>
          <p:cNvGrpSpPr/>
          <p:nvPr/>
        </p:nvGrpSpPr>
        <p:grpSpPr>
          <a:xfrm>
            <a:off x="571500" y="1619250"/>
            <a:ext cx="10858500" cy="609600"/>
            <a:chOff x="571500" y="1619250"/>
            <a:chExt cx="10858500" cy="609600"/>
          </a:xfrm>
        </p:grpSpPr>
        <p:sp>
          <p:nvSpPr>
            <p:cNvPr id="7" name="Freeform 7"/>
            <p:cNvSpPr/>
            <p:nvPr/>
          </p:nvSpPr>
          <p:spPr>
            <a:xfrm>
              <a:off x="571500" y="1619250"/>
              <a:ext cx="2476500" cy="571500"/>
            </a:xfrm>
            <a:custGeom>
              <a:avLst/>
              <a:gdLst/>
              <a:ahLst/>
              <a:cxnLst/>
              <a:rect l="l" t="t" r="r" b="b"/>
              <a:pathLst>
                <a:path w="2476500" h="571500">
                  <a:moveTo>
                    <a:pt x="57150" y="0"/>
                  </a:moveTo>
                  <a:lnTo>
                    <a:pt x="2419350" y="0"/>
                  </a:lnTo>
                  <a:cubicBezTo>
                    <a:pt x="2450913" y="0"/>
                    <a:pt x="2476500" y="25587"/>
                    <a:pt x="2476500" y="57150"/>
                  </a:cubicBezTo>
                  <a:lnTo>
                    <a:pt x="2476500" y="514350"/>
                  </a:lnTo>
                  <a:cubicBezTo>
                    <a:pt x="2476500" y="545913"/>
                    <a:pt x="2450913" y="571500"/>
                    <a:pt x="2419350" y="571500"/>
                  </a:cubicBezTo>
                  <a:lnTo>
                    <a:pt x="57150" y="571500"/>
                  </a:lnTo>
                  <a:cubicBezTo>
                    <a:pt x="25587" y="571500"/>
                    <a:pt x="0" y="545913"/>
                    <a:pt x="0" y="514350"/>
                  </a:cubicBezTo>
                  <a:lnTo>
                    <a:pt x="0" y="57150"/>
                  </a:lnTo>
                  <a:cubicBezTo>
                    <a:pt x="0" y="25587"/>
                    <a:pt x="25587" y="0"/>
                    <a:pt x="57150" y="0"/>
                  </a:cubicBezTo>
                  <a:close/>
                </a:path>
              </a:pathLst>
            </a:custGeom>
            <a:solidFill>
              <a:srgbClr val="16A34A">
                <a:alpha val="15000"/>
              </a:srgbClr>
            </a:solidFill>
            <a:ln w="9525">
              <a:solidFill>
                <a:srgbClr val="16A34A"/>
              </a:solidFill>
            </a:ln>
          </p:spPr>
        </p:sp>
        <p:sp>
          <p:nvSpPr>
            <p:cNvPr id="8" name="TextBox 8"/>
            <p:cNvSpPr txBox="1"/>
            <p:nvPr/>
          </p:nvSpPr>
          <p:spPr>
            <a:xfrm>
              <a:off x="1319212" y="1722120"/>
              <a:ext cx="981075" cy="487680"/>
            </a:xfrm>
            <a:prstGeom prst="rect">
              <a:avLst/>
            </a:prstGeom>
            <a:noFill/>
            <a:ln>
              <a:noFill/>
            </a:ln>
          </p:spPr>
          <p:txBody>
            <a:bodyPr wrap="none" lIns="0" tIns="0" rIns="0" bIns="0" anchor="t" anchorCtr="0">
              <a:spAutoFit/>
            </a:bodyPr>
            <a:lstStyle/>
            <a:p>
              <a:pPr algn="ctr"/>
              <a:r>
                <a:rPr lang="zh-CN" sz="2400" b="1" dirty="0">
                  <a:solidFill>
                    <a:srgbClr val="16A34A"/>
                  </a:solidFill>
                  <a:latin typeface="Arial"/>
                  <a:ea typeface="Microsoft YaHei"/>
                  <a:cs typeface="Arial"/>
                </a:rPr>
                <a:t>98.1%</a:t>
              </a:r>
            </a:p>
          </p:txBody>
        </p:sp>
        <p:sp>
          <p:nvSpPr>
            <p:cNvPr id="9" name="TextBox 9"/>
            <p:cNvSpPr txBox="1"/>
            <p:nvPr/>
          </p:nvSpPr>
          <p:spPr>
            <a:xfrm>
              <a:off x="1265968" y="2045970"/>
              <a:ext cx="1087564"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RF随机森林准确率</a:t>
              </a:r>
            </a:p>
          </p:txBody>
        </p:sp>
        <p:sp>
          <p:nvSpPr>
            <p:cNvPr id="10" name="Freeform 10"/>
            <p:cNvSpPr/>
            <p:nvPr/>
          </p:nvSpPr>
          <p:spPr>
            <a:xfrm>
              <a:off x="3238500" y="1619250"/>
              <a:ext cx="2476500" cy="571500"/>
            </a:xfrm>
            <a:custGeom>
              <a:avLst/>
              <a:gdLst/>
              <a:ahLst/>
              <a:cxnLst/>
              <a:rect l="l" t="t" r="r" b="b"/>
              <a:pathLst>
                <a:path w="2476500" h="571500">
                  <a:moveTo>
                    <a:pt x="57150" y="0"/>
                  </a:moveTo>
                  <a:lnTo>
                    <a:pt x="2419350" y="0"/>
                  </a:lnTo>
                  <a:cubicBezTo>
                    <a:pt x="2450913" y="0"/>
                    <a:pt x="2476500" y="25587"/>
                    <a:pt x="2476500" y="57150"/>
                  </a:cubicBezTo>
                  <a:lnTo>
                    <a:pt x="2476500" y="514350"/>
                  </a:lnTo>
                  <a:cubicBezTo>
                    <a:pt x="2476500" y="545913"/>
                    <a:pt x="2450913" y="571500"/>
                    <a:pt x="2419350" y="571500"/>
                  </a:cubicBezTo>
                  <a:lnTo>
                    <a:pt x="57150" y="571500"/>
                  </a:lnTo>
                  <a:cubicBezTo>
                    <a:pt x="25587" y="571500"/>
                    <a:pt x="0" y="545913"/>
                    <a:pt x="0" y="514350"/>
                  </a:cubicBezTo>
                  <a:lnTo>
                    <a:pt x="0" y="57150"/>
                  </a:lnTo>
                  <a:cubicBezTo>
                    <a:pt x="0" y="25587"/>
                    <a:pt x="25587" y="0"/>
                    <a:pt x="57150" y="0"/>
                  </a:cubicBezTo>
                  <a:close/>
                </a:path>
              </a:pathLst>
            </a:custGeom>
            <a:solidFill>
              <a:srgbClr val="2196F3">
                <a:alpha val="15000"/>
              </a:srgbClr>
            </a:solidFill>
            <a:ln w="9525">
              <a:solidFill>
                <a:srgbClr val="2196F3"/>
              </a:solidFill>
            </a:ln>
          </p:spPr>
        </p:sp>
        <p:sp>
          <p:nvSpPr>
            <p:cNvPr id="11" name="TextBox 11"/>
            <p:cNvSpPr txBox="1"/>
            <p:nvPr/>
          </p:nvSpPr>
          <p:spPr>
            <a:xfrm>
              <a:off x="3940207" y="1722120"/>
              <a:ext cx="1073086" cy="487680"/>
            </a:xfrm>
            <a:prstGeom prst="rect">
              <a:avLst/>
            </a:prstGeom>
            <a:noFill/>
            <a:ln>
              <a:noFill/>
            </a:ln>
          </p:spPr>
          <p:txBody>
            <a:bodyPr wrap="none" lIns="0" tIns="0" rIns="0" bIns="0" anchor="t" anchorCtr="0">
              <a:spAutoFit/>
            </a:bodyPr>
            <a:lstStyle/>
            <a:p>
              <a:pPr algn="ctr"/>
              <a:r>
                <a:rPr lang="zh-CN" sz="2400" b="1" dirty="0">
                  <a:solidFill>
                    <a:srgbClr val="2196F3"/>
                  </a:solidFill>
                  <a:latin typeface="Arial"/>
                  <a:ea typeface="Microsoft YaHei"/>
                  <a:cs typeface="Arial"/>
                </a:rPr>
                <a:t>96.3%</a:t>
              </a:r>
            </a:p>
          </p:txBody>
        </p:sp>
        <p:sp>
          <p:nvSpPr>
            <p:cNvPr id="12" name="TextBox 12"/>
            <p:cNvSpPr txBox="1"/>
            <p:nvPr/>
          </p:nvSpPr>
          <p:spPr>
            <a:xfrm>
              <a:off x="3817953" y="2045970"/>
              <a:ext cx="1317593"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MLP多层感知机准确率</a:t>
              </a:r>
            </a:p>
          </p:txBody>
        </p:sp>
        <p:sp>
          <p:nvSpPr>
            <p:cNvPr id="13" name="Freeform 13"/>
            <p:cNvSpPr/>
            <p:nvPr/>
          </p:nvSpPr>
          <p:spPr>
            <a:xfrm>
              <a:off x="5905500" y="1619250"/>
              <a:ext cx="2476500" cy="571500"/>
            </a:xfrm>
            <a:custGeom>
              <a:avLst/>
              <a:gdLst/>
              <a:ahLst/>
              <a:cxnLst/>
              <a:rect l="l" t="t" r="r" b="b"/>
              <a:pathLst>
                <a:path w="2476500" h="571500">
                  <a:moveTo>
                    <a:pt x="57150" y="0"/>
                  </a:moveTo>
                  <a:lnTo>
                    <a:pt x="2419350" y="0"/>
                  </a:lnTo>
                  <a:cubicBezTo>
                    <a:pt x="2450913" y="0"/>
                    <a:pt x="2476500" y="25587"/>
                    <a:pt x="2476500" y="57150"/>
                  </a:cubicBezTo>
                  <a:lnTo>
                    <a:pt x="2476500" y="514350"/>
                  </a:lnTo>
                  <a:cubicBezTo>
                    <a:pt x="2476500" y="545913"/>
                    <a:pt x="2450913" y="571500"/>
                    <a:pt x="2419350" y="571500"/>
                  </a:cubicBezTo>
                  <a:lnTo>
                    <a:pt x="57150" y="571500"/>
                  </a:lnTo>
                  <a:cubicBezTo>
                    <a:pt x="25587" y="571500"/>
                    <a:pt x="0" y="545913"/>
                    <a:pt x="0" y="514350"/>
                  </a:cubicBezTo>
                  <a:lnTo>
                    <a:pt x="0" y="57150"/>
                  </a:lnTo>
                  <a:cubicBezTo>
                    <a:pt x="0" y="25587"/>
                    <a:pt x="25587" y="0"/>
                    <a:pt x="57150" y="0"/>
                  </a:cubicBezTo>
                  <a:close/>
                </a:path>
              </a:pathLst>
            </a:custGeom>
            <a:solidFill>
              <a:srgbClr val="4A90D9">
                <a:alpha val="15000"/>
              </a:srgbClr>
            </a:solidFill>
            <a:ln w="9525">
              <a:solidFill>
                <a:srgbClr val="4A90D9"/>
              </a:solidFill>
            </a:ln>
          </p:spPr>
        </p:sp>
        <p:sp>
          <p:nvSpPr>
            <p:cNvPr id="14" name="TextBox 14"/>
            <p:cNvSpPr txBox="1"/>
            <p:nvPr/>
          </p:nvSpPr>
          <p:spPr>
            <a:xfrm>
              <a:off x="6607207" y="1722120"/>
              <a:ext cx="1073086" cy="487680"/>
            </a:xfrm>
            <a:prstGeom prst="rect">
              <a:avLst/>
            </a:prstGeom>
            <a:noFill/>
            <a:ln>
              <a:noFill/>
            </a:ln>
          </p:spPr>
          <p:txBody>
            <a:bodyPr wrap="none" lIns="0" tIns="0" rIns="0" bIns="0" anchor="t" anchorCtr="0">
              <a:spAutoFit/>
            </a:bodyPr>
            <a:lstStyle/>
            <a:p>
              <a:pPr algn="ctr"/>
              <a:r>
                <a:rPr lang="zh-CN" sz="2400" b="1" dirty="0">
                  <a:solidFill>
                    <a:srgbClr val="4A90D9"/>
                  </a:solidFill>
                  <a:latin typeface="Arial"/>
                  <a:ea typeface="Microsoft YaHei"/>
                  <a:cs typeface="Arial"/>
                </a:rPr>
                <a:t>94.0%</a:t>
              </a:r>
            </a:p>
          </p:txBody>
        </p:sp>
        <p:sp>
          <p:nvSpPr>
            <p:cNvPr id="15" name="TextBox 15"/>
            <p:cNvSpPr txBox="1"/>
            <p:nvPr/>
          </p:nvSpPr>
          <p:spPr>
            <a:xfrm>
              <a:off x="6507956" y="2045970"/>
              <a:ext cx="127158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CNN1D一维卷积准确率</a:t>
              </a:r>
            </a:p>
          </p:txBody>
        </p:sp>
        <p:sp>
          <p:nvSpPr>
            <p:cNvPr id="16" name="Freeform 16"/>
            <p:cNvSpPr/>
            <p:nvPr/>
          </p:nvSpPr>
          <p:spPr>
            <a:xfrm>
              <a:off x="8572500" y="16192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D97706">
                <a:alpha val="15000"/>
              </a:srgbClr>
            </a:solidFill>
            <a:ln w="9525">
              <a:solidFill>
                <a:srgbClr val="D97706"/>
              </a:solidFill>
            </a:ln>
          </p:spPr>
        </p:sp>
        <p:sp>
          <p:nvSpPr>
            <p:cNvPr id="17" name="TextBox 17"/>
            <p:cNvSpPr txBox="1"/>
            <p:nvPr/>
          </p:nvSpPr>
          <p:spPr>
            <a:xfrm>
              <a:off x="9483109" y="1722120"/>
              <a:ext cx="1036282" cy="487680"/>
            </a:xfrm>
            <a:prstGeom prst="rect">
              <a:avLst/>
            </a:prstGeom>
            <a:noFill/>
            <a:ln>
              <a:noFill/>
            </a:ln>
          </p:spPr>
          <p:txBody>
            <a:bodyPr wrap="none" lIns="0" tIns="0" rIns="0" bIns="0" anchor="t" anchorCtr="0">
              <a:spAutoFit/>
            </a:bodyPr>
            <a:lstStyle/>
            <a:p>
              <a:pPr algn="ctr"/>
              <a:r>
                <a:rPr lang="zh-CN" sz="2400" b="1" dirty="0">
                  <a:solidFill>
                    <a:srgbClr val="D97706"/>
                  </a:solidFill>
                  <a:latin typeface="Arial"/>
                  <a:ea typeface="Microsoft YaHei"/>
                  <a:cs typeface="Arial"/>
                </a:rPr>
                <a:t>3-4级</a:t>
              </a:r>
            </a:p>
          </p:txBody>
        </p:sp>
        <p:sp>
          <p:nvSpPr>
            <p:cNvPr id="18" name="TextBox 18"/>
            <p:cNvSpPr txBox="1"/>
            <p:nvPr/>
          </p:nvSpPr>
          <p:spPr>
            <a:xfrm>
              <a:off x="9529762" y="2045970"/>
              <a:ext cx="942975"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效率提升数量级</a:t>
              </a:r>
            </a:p>
          </p:txBody>
        </p:sp>
      </p:grpSp>
      <p:grpSp>
        <p:nvGrpSpPr>
          <p:cNvPr id="41" name="Group 41"/>
          <p:cNvGrpSpPr/>
          <p:nvPr/>
        </p:nvGrpSpPr>
        <p:grpSpPr>
          <a:xfrm>
            <a:off x="556260" y="2537460"/>
            <a:ext cx="12027122" cy="2082165"/>
            <a:chOff x="556260" y="2537460"/>
            <a:chExt cx="12027122" cy="2082165"/>
          </a:xfrm>
        </p:grpSpPr>
        <p:sp>
          <p:nvSpPr>
            <p:cNvPr id="20" name="TextBox 20"/>
            <p:cNvSpPr txBox="1"/>
            <p:nvPr/>
          </p:nvSpPr>
          <p:spPr>
            <a:xfrm>
              <a:off x="556260" y="2537460"/>
              <a:ext cx="766572" cy="243840"/>
            </a:xfrm>
            <a:prstGeom prst="rect">
              <a:avLst/>
            </a:prstGeom>
            <a:noFill/>
            <a:ln>
              <a:noFill/>
            </a:ln>
          </p:spPr>
          <p:txBody>
            <a:bodyPr wrap="none" lIns="0" tIns="0" rIns="0" bIns="0" anchor="t" anchorCtr="0">
              <a:spAutoFit/>
            </a:bodyPr>
            <a:lstStyle/>
            <a:p>
              <a:pPr algn="l"/>
              <a:r>
                <a:rPr lang="zh-CN" sz="1200" b="1" dirty="0">
                  <a:solidFill>
                    <a:srgbClr val="1B3A6B"/>
                  </a:solidFill>
                  <a:latin typeface="Arial"/>
                  <a:ea typeface="Microsoft YaHei"/>
                  <a:cs typeface="Arial"/>
                </a:rPr>
                <a:t>核心成果</a:t>
              </a:r>
            </a:p>
          </p:txBody>
        </p:sp>
        <p:grpSp>
          <p:nvGrpSpPr>
            <p:cNvPr id="25" name="Group 25"/>
            <p:cNvGrpSpPr/>
            <p:nvPr/>
          </p:nvGrpSpPr>
          <p:grpSpPr>
            <a:xfrm>
              <a:off x="571500" y="2857500"/>
              <a:ext cx="8991386" cy="809625"/>
              <a:chOff x="571500" y="2857500"/>
              <a:chExt cx="8991386" cy="809625"/>
            </a:xfrm>
          </p:grpSpPr>
          <p:sp>
            <p:nvSpPr>
              <p:cNvPr id="21" name="Freeform 21"/>
              <p:cNvSpPr/>
              <p:nvPr/>
            </p:nvSpPr>
            <p:spPr>
              <a:xfrm>
                <a:off x="571500" y="2857500"/>
                <a:ext cx="5286375" cy="809625"/>
              </a:xfrm>
              <a:custGeom>
                <a:avLst/>
                <a:gdLst/>
                <a:ahLst/>
                <a:cxnLst/>
                <a:rect l="l" t="t" r="r" b="b"/>
                <a:pathLst>
                  <a:path w="5286375" h="809625">
                    <a:moveTo>
                      <a:pt x="76200" y="0"/>
                    </a:moveTo>
                    <a:lnTo>
                      <a:pt x="5210175" y="0"/>
                    </a:lnTo>
                    <a:cubicBezTo>
                      <a:pt x="5252259" y="0"/>
                      <a:pt x="5286375" y="34116"/>
                      <a:pt x="5286375" y="76200"/>
                    </a:cubicBezTo>
                    <a:lnTo>
                      <a:pt x="5286375" y="733425"/>
                    </a:lnTo>
                    <a:cubicBezTo>
                      <a:pt x="5286375" y="775509"/>
                      <a:pt x="5252259" y="809625"/>
                      <a:pt x="521017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5E7EB"/>
                </a:solidFill>
              </a:ln>
            </p:spPr>
          </p:sp>
          <p:sp>
            <p:nvSpPr>
              <p:cNvPr id="22" name="Freeform 22"/>
              <p:cNvSpPr/>
              <p:nvPr/>
            </p:nvSpPr>
            <p:spPr>
              <a:xfrm>
                <a:off x="571500" y="2857500"/>
                <a:ext cx="76200" cy="809625"/>
              </a:xfrm>
              <a:custGeom>
                <a:avLst/>
                <a:gdLst/>
                <a:ahLst/>
                <a:cxnLst/>
                <a:rect l="l" t="t" r="r" b="b"/>
                <a:pathLst>
                  <a:path w="76200" h="809625">
                    <a:moveTo>
                      <a:pt x="38100" y="0"/>
                    </a:moveTo>
                    <a:lnTo>
                      <a:pt x="38100" y="0"/>
                    </a:lnTo>
                    <a:cubicBezTo>
                      <a:pt x="59142" y="0"/>
                      <a:pt x="76200" y="17058"/>
                      <a:pt x="76200" y="38100"/>
                    </a:cubicBezTo>
                    <a:lnTo>
                      <a:pt x="76200" y="771525"/>
                    </a:lnTo>
                    <a:cubicBezTo>
                      <a:pt x="76200" y="792567"/>
                      <a:pt x="59142" y="809625"/>
                      <a:pt x="38100" y="809625"/>
                    </a:cubicBezTo>
                    <a:lnTo>
                      <a:pt x="38100" y="809625"/>
                    </a:lnTo>
                    <a:cubicBezTo>
                      <a:pt x="17058" y="809625"/>
                      <a:pt x="0" y="792567"/>
                      <a:pt x="0" y="771525"/>
                    </a:cubicBezTo>
                    <a:lnTo>
                      <a:pt x="0" y="38100"/>
                    </a:lnTo>
                    <a:cubicBezTo>
                      <a:pt x="0" y="17058"/>
                      <a:pt x="17058" y="0"/>
                      <a:pt x="38100" y="0"/>
                    </a:cubicBezTo>
                    <a:close/>
                  </a:path>
                </a:pathLst>
              </a:custGeom>
              <a:solidFill>
                <a:srgbClr val="1B3A6B"/>
              </a:solidFill>
              <a:ln>
                <a:noFill/>
              </a:ln>
            </p:spPr>
          </p:sp>
          <p:sp>
            <p:nvSpPr>
              <p:cNvPr id="23" name="TextBox 23"/>
              <p:cNvSpPr txBox="1"/>
              <p:nvPr/>
            </p:nvSpPr>
            <p:spPr>
              <a:xfrm>
                <a:off x="786765" y="3029902"/>
                <a:ext cx="1636871" cy="213360"/>
              </a:xfrm>
              <a:prstGeom prst="rect">
                <a:avLst/>
              </a:prstGeom>
              <a:noFill/>
              <a:ln>
                <a:noFill/>
              </a:ln>
            </p:spPr>
            <p:txBody>
              <a:bodyPr wrap="none" lIns="0" tIns="0" rIns="0" bIns="0" anchor="t" anchorCtr="0">
                <a:spAutoFit/>
              </a:bodyPr>
              <a:lstStyle/>
              <a:p>
                <a:pPr algn="l"/>
                <a:r>
                  <a:rPr lang="zh-CN" sz="1050" b="1" dirty="0">
                    <a:solidFill>
                      <a:srgbClr val="1B3A6B"/>
                    </a:solidFill>
                    <a:latin typeface="Arial"/>
                    <a:ea typeface="Microsoft YaHei"/>
                    <a:cs typeface="Arial"/>
                  </a:rPr>
                  <a:t>统一模型架构验证成功</a:t>
                </a:r>
              </a:p>
            </p:txBody>
          </p:sp>
          <p:sp>
            <p:nvSpPr>
              <p:cNvPr id="24" name="TextBox 24"/>
              <p:cNvSpPr txBox="1"/>
              <p:nvPr/>
            </p:nvSpPr>
            <p:spPr>
              <a:xfrm>
                <a:off x="787718" y="3276124"/>
                <a:ext cx="8775168"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RF=98.1%, MLP=96.3%, CNN1D=94.0% — 四模型融合架构在Aerospace / Machinery / Metallurgical三类设施上均展现了稳定的预测准确性</a:t>
                </a:r>
              </a:p>
            </p:txBody>
          </p:sp>
        </p:grpSp>
        <p:grpSp>
          <p:nvGrpSpPr>
            <p:cNvPr id="30" name="Group 30"/>
            <p:cNvGrpSpPr/>
            <p:nvPr/>
          </p:nvGrpSpPr>
          <p:grpSpPr>
            <a:xfrm>
              <a:off x="6048375" y="2857500"/>
              <a:ext cx="6122050" cy="809625"/>
              <a:chOff x="6048375" y="2857500"/>
              <a:chExt cx="6122050" cy="809625"/>
            </a:xfrm>
          </p:grpSpPr>
          <p:sp>
            <p:nvSpPr>
              <p:cNvPr id="26" name="Freeform 26"/>
              <p:cNvSpPr/>
              <p:nvPr/>
            </p:nvSpPr>
            <p:spPr>
              <a:xfrm>
                <a:off x="6048375" y="2857500"/>
                <a:ext cx="5286375" cy="809625"/>
              </a:xfrm>
              <a:custGeom>
                <a:avLst/>
                <a:gdLst/>
                <a:ahLst/>
                <a:cxnLst/>
                <a:rect l="l" t="t" r="r" b="b"/>
                <a:pathLst>
                  <a:path w="5286375" h="809625">
                    <a:moveTo>
                      <a:pt x="76200" y="0"/>
                    </a:moveTo>
                    <a:lnTo>
                      <a:pt x="5210175" y="0"/>
                    </a:lnTo>
                    <a:cubicBezTo>
                      <a:pt x="5252259" y="0"/>
                      <a:pt x="5286375" y="34116"/>
                      <a:pt x="5286375" y="76200"/>
                    </a:cubicBezTo>
                    <a:lnTo>
                      <a:pt x="5286375" y="733425"/>
                    </a:lnTo>
                    <a:cubicBezTo>
                      <a:pt x="5286375" y="775509"/>
                      <a:pt x="5252259" y="809625"/>
                      <a:pt x="521017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5E7EB"/>
                </a:solidFill>
              </a:ln>
            </p:spPr>
          </p:sp>
          <p:sp>
            <p:nvSpPr>
              <p:cNvPr id="27" name="Freeform 27"/>
              <p:cNvSpPr/>
              <p:nvPr/>
            </p:nvSpPr>
            <p:spPr>
              <a:xfrm>
                <a:off x="6048375" y="2857500"/>
                <a:ext cx="76200" cy="809625"/>
              </a:xfrm>
              <a:custGeom>
                <a:avLst/>
                <a:gdLst/>
                <a:ahLst/>
                <a:cxnLst/>
                <a:rect l="l" t="t" r="r" b="b"/>
                <a:pathLst>
                  <a:path w="76200" h="809625">
                    <a:moveTo>
                      <a:pt x="38100" y="0"/>
                    </a:moveTo>
                    <a:lnTo>
                      <a:pt x="38100" y="0"/>
                    </a:lnTo>
                    <a:cubicBezTo>
                      <a:pt x="59142" y="0"/>
                      <a:pt x="76200" y="17058"/>
                      <a:pt x="76200" y="38100"/>
                    </a:cubicBezTo>
                    <a:lnTo>
                      <a:pt x="76200" y="771525"/>
                    </a:lnTo>
                    <a:cubicBezTo>
                      <a:pt x="76200" y="792567"/>
                      <a:pt x="59142" y="809625"/>
                      <a:pt x="38100" y="809625"/>
                    </a:cubicBezTo>
                    <a:lnTo>
                      <a:pt x="38100" y="809625"/>
                    </a:lnTo>
                    <a:cubicBezTo>
                      <a:pt x="17058" y="809625"/>
                      <a:pt x="0" y="792567"/>
                      <a:pt x="0" y="771525"/>
                    </a:cubicBezTo>
                    <a:lnTo>
                      <a:pt x="0" y="38100"/>
                    </a:lnTo>
                    <a:cubicBezTo>
                      <a:pt x="0" y="17058"/>
                      <a:pt x="17058" y="0"/>
                      <a:pt x="38100" y="0"/>
                    </a:cubicBezTo>
                    <a:close/>
                  </a:path>
                </a:pathLst>
              </a:custGeom>
              <a:solidFill>
                <a:srgbClr val="16A34A"/>
              </a:solidFill>
              <a:ln>
                <a:noFill/>
              </a:ln>
            </p:spPr>
          </p:sp>
          <p:sp>
            <p:nvSpPr>
              <p:cNvPr id="28" name="TextBox 28"/>
              <p:cNvSpPr txBox="1"/>
              <p:nvPr/>
            </p:nvSpPr>
            <p:spPr>
              <a:xfrm>
                <a:off x="6263640" y="3029902"/>
                <a:ext cx="992791" cy="213360"/>
              </a:xfrm>
              <a:prstGeom prst="rect">
                <a:avLst/>
              </a:prstGeom>
              <a:noFill/>
              <a:ln>
                <a:noFill/>
              </a:ln>
            </p:spPr>
            <p:txBody>
              <a:bodyPr wrap="none" lIns="0" tIns="0" rIns="0" bIns="0" anchor="t" anchorCtr="0">
                <a:spAutoFit/>
              </a:bodyPr>
              <a:lstStyle/>
              <a:p>
                <a:pPr algn="l"/>
                <a:r>
                  <a:rPr lang="zh-CN" sz="1050" b="1" dirty="0">
                    <a:solidFill>
                      <a:srgbClr val="166534"/>
                    </a:solidFill>
                    <a:latin typeface="Arial"/>
                    <a:ea typeface="Microsoft YaHei"/>
                    <a:cs typeface="Arial"/>
                  </a:rPr>
                  <a:t>秒级推理效率</a:t>
                </a:r>
              </a:p>
            </p:txBody>
          </p:sp>
          <p:sp>
            <p:nvSpPr>
              <p:cNvPr id="29" name="TextBox 29"/>
              <p:cNvSpPr txBox="1"/>
              <p:nvPr/>
            </p:nvSpPr>
            <p:spPr>
              <a:xfrm>
                <a:off x="6264592" y="3276124"/>
                <a:ext cx="5905833"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代理模型将火灾毁伤评估从FDS小时级精细仿真压缩至秒级计算，实现3-4个数量级的效率提升</a:t>
                </a:r>
              </a:p>
            </p:txBody>
          </p:sp>
        </p:grpSp>
        <p:grpSp>
          <p:nvGrpSpPr>
            <p:cNvPr id="35" name="Group 35"/>
            <p:cNvGrpSpPr/>
            <p:nvPr/>
          </p:nvGrpSpPr>
          <p:grpSpPr>
            <a:xfrm>
              <a:off x="571500" y="3810000"/>
              <a:ext cx="8201073" cy="809625"/>
              <a:chOff x="571500" y="3810000"/>
              <a:chExt cx="8201073" cy="809625"/>
            </a:xfrm>
          </p:grpSpPr>
          <p:sp>
            <p:nvSpPr>
              <p:cNvPr id="31" name="Freeform 31"/>
              <p:cNvSpPr/>
              <p:nvPr/>
            </p:nvSpPr>
            <p:spPr>
              <a:xfrm>
                <a:off x="571500" y="3810000"/>
                <a:ext cx="5286375" cy="809625"/>
              </a:xfrm>
              <a:custGeom>
                <a:avLst/>
                <a:gdLst/>
                <a:ahLst/>
                <a:cxnLst/>
                <a:rect l="l" t="t" r="r" b="b"/>
                <a:pathLst>
                  <a:path w="5286375" h="809625">
                    <a:moveTo>
                      <a:pt x="76200" y="0"/>
                    </a:moveTo>
                    <a:lnTo>
                      <a:pt x="5210175" y="0"/>
                    </a:lnTo>
                    <a:cubicBezTo>
                      <a:pt x="5252259" y="0"/>
                      <a:pt x="5286375" y="34116"/>
                      <a:pt x="5286375" y="76200"/>
                    </a:cubicBezTo>
                    <a:lnTo>
                      <a:pt x="5286375" y="733425"/>
                    </a:lnTo>
                    <a:cubicBezTo>
                      <a:pt x="5286375" y="775509"/>
                      <a:pt x="5252259" y="809625"/>
                      <a:pt x="521017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5E7EB"/>
                </a:solidFill>
              </a:ln>
            </p:spPr>
          </p:sp>
          <p:sp>
            <p:nvSpPr>
              <p:cNvPr id="32" name="Freeform 32"/>
              <p:cNvSpPr/>
              <p:nvPr/>
            </p:nvSpPr>
            <p:spPr>
              <a:xfrm>
                <a:off x="571500" y="3810000"/>
                <a:ext cx="76200" cy="809625"/>
              </a:xfrm>
              <a:custGeom>
                <a:avLst/>
                <a:gdLst/>
                <a:ahLst/>
                <a:cxnLst/>
                <a:rect l="l" t="t" r="r" b="b"/>
                <a:pathLst>
                  <a:path w="76200" h="809625">
                    <a:moveTo>
                      <a:pt x="38100" y="0"/>
                    </a:moveTo>
                    <a:lnTo>
                      <a:pt x="38100" y="0"/>
                    </a:lnTo>
                    <a:cubicBezTo>
                      <a:pt x="59142" y="0"/>
                      <a:pt x="76200" y="17058"/>
                      <a:pt x="76200" y="38100"/>
                    </a:cubicBezTo>
                    <a:lnTo>
                      <a:pt x="76200" y="771525"/>
                    </a:lnTo>
                    <a:cubicBezTo>
                      <a:pt x="76200" y="792567"/>
                      <a:pt x="59142" y="809625"/>
                      <a:pt x="38100" y="809625"/>
                    </a:cubicBezTo>
                    <a:lnTo>
                      <a:pt x="38100" y="809625"/>
                    </a:lnTo>
                    <a:cubicBezTo>
                      <a:pt x="17058" y="809625"/>
                      <a:pt x="0" y="792567"/>
                      <a:pt x="0" y="771525"/>
                    </a:cubicBezTo>
                    <a:lnTo>
                      <a:pt x="0" y="38100"/>
                    </a:lnTo>
                    <a:cubicBezTo>
                      <a:pt x="0" y="17058"/>
                      <a:pt x="17058" y="0"/>
                      <a:pt x="38100" y="0"/>
                    </a:cubicBezTo>
                    <a:close/>
                  </a:path>
                </a:pathLst>
              </a:custGeom>
              <a:solidFill>
                <a:srgbClr val="2196F3"/>
              </a:solidFill>
              <a:ln>
                <a:noFill/>
              </a:ln>
            </p:spPr>
          </p:sp>
          <p:sp>
            <p:nvSpPr>
              <p:cNvPr id="33" name="TextBox 33"/>
              <p:cNvSpPr txBox="1"/>
              <p:nvPr/>
            </p:nvSpPr>
            <p:spPr>
              <a:xfrm>
                <a:off x="786765" y="3982402"/>
                <a:ext cx="1153811" cy="213360"/>
              </a:xfrm>
              <a:prstGeom prst="rect">
                <a:avLst/>
              </a:prstGeom>
              <a:noFill/>
              <a:ln>
                <a:noFill/>
              </a:ln>
            </p:spPr>
            <p:txBody>
              <a:bodyPr wrap="none" lIns="0" tIns="0" rIns="0" bIns="0" anchor="t" anchorCtr="0">
                <a:spAutoFit/>
              </a:bodyPr>
              <a:lstStyle/>
              <a:p>
                <a:pPr algn="l"/>
                <a:r>
                  <a:rPr lang="zh-CN" sz="1050" b="1" dirty="0">
                    <a:solidFill>
                      <a:srgbClr val="1E40AF"/>
                    </a:solidFill>
                    <a:latin typeface="Arial"/>
                    <a:ea typeface="Microsoft YaHei"/>
                    <a:cs typeface="Arial"/>
                  </a:rPr>
                  <a:t>多场景泛化能力</a:t>
                </a:r>
              </a:p>
            </p:txBody>
          </p:sp>
          <p:sp>
            <p:nvSpPr>
              <p:cNvPr id="34" name="TextBox 34"/>
              <p:cNvSpPr txBox="1"/>
              <p:nvPr/>
            </p:nvSpPr>
            <p:spPr>
              <a:xfrm>
                <a:off x="787718" y="4228624"/>
                <a:ext cx="7984855"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Airport Hangar集成准确率97.7%, Machinery 99.6%, Metallurgical 95.1% — 模型在不同工业设施场景上展现了良好的适应性</a:t>
                </a:r>
              </a:p>
            </p:txBody>
          </p:sp>
        </p:grpSp>
        <p:grpSp>
          <p:nvGrpSpPr>
            <p:cNvPr id="40" name="Group 40"/>
            <p:cNvGrpSpPr/>
            <p:nvPr/>
          </p:nvGrpSpPr>
          <p:grpSpPr>
            <a:xfrm>
              <a:off x="6048375" y="3810000"/>
              <a:ext cx="6535007" cy="809625"/>
              <a:chOff x="6048375" y="3810000"/>
              <a:chExt cx="6535007" cy="809625"/>
            </a:xfrm>
          </p:grpSpPr>
          <p:sp>
            <p:nvSpPr>
              <p:cNvPr id="36" name="Freeform 36"/>
              <p:cNvSpPr/>
              <p:nvPr/>
            </p:nvSpPr>
            <p:spPr>
              <a:xfrm>
                <a:off x="6048375" y="3810000"/>
                <a:ext cx="5286375" cy="809625"/>
              </a:xfrm>
              <a:custGeom>
                <a:avLst/>
                <a:gdLst/>
                <a:ahLst/>
                <a:cxnLst/>
                <a:rect l="l" t="t" r="r" b="b"/>
                <a:pathLst>
                  <a:path w="5286375" h="809625">
                    <a:moveTo>
                      <a:pt x="76200" y="0"/>
                    </a:moveTo>
                    <a:lnTo>
                      <a:pt x="5210175" y="0"/>
                    </a:lnTo>
                    <a:cubicBezTo>
                      <a:pt x="5252259" y="0"/>
                      <a:pt x="5286375" y="34116"/>
                      <a:pt x="5286375" y="76200"/>
                    </a:cubicBezTo>
                    <a:lnTo>
                      <a:pt x="5286375" y="733425"/>
                    </a:lnTo>
                    <a:cubicBezTo>
                      <a:pt x="5286375" y="775509"/>
                      <a:pt x="5252259" y="809625"/>
                      <a:pt x="521017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5E7EB"/>
                </a:solidFill>
              </a:ln>
            </p:spPr>
          </p:sp>
          <p:sp>
            <p:nvSpPr>
              <p:cNvPr id="37" name="Freeform 37"/>
              <p:cNvSpPr/>
              <p:nvPr/>
            </p:nvSpPr>
            <p:spPr>
              <a:xfrm>
                <a:off x="6048375" y="3810000"/>
                <a:ext cx="76200" cy="809625"/>
              </a:xfrm>
              <a:custGeom>
                <a:avLst/>
                <a:gdLst/>
                <a:ahLst/>
                <a:cxnLst/>
                <a:rect l="l" t="t" r="r" b="b"/>
                <a:pathLst>
                  <a:path w="76200" h="809625">
                    <a:moveTo>
                      <a:pt x="38100" y="0"/>
                    </a:moveTo>
                    <a:lnTo>
                      <a:pt x="38100" y="0"/>
                    </a:lnTo>
                    <a:cubicBezTo>
                      <a:pt x="59142" y="0"/>
                      <a:pt x="76200" y="17058"/>
                      <a:pt x="76200" y="38100"/>
                    </a:cubicBezTo>
                    <a:lnTo>
                      <a:pt x="76200" y="771525"/>
                    </a:lnTo>
                    <a:cubicBezTo>
                      <a:pt x="76200" y="792567"/>
                      <a:pt x="59142" y="809625"/>
                      <a:pt x="38100" y="809625"/>
                    </a:cubicBezTo>
                    <a:lnTo>
                      <a:pt x="38100" y="809625"/>
                    </a:lnTo>
                    <a:cubicBezTo>
                      <a:pt x="17058" y="809625"/>
                      <a:pt x="0" y="792567"/>
                      <a:pt x="0" y="771525"/>
                    </a:cubicBezTo>
                    <a:lnTo>
                      <a:pt x="0" y="38100"/>
                    </a:lnTo>
                    <a:cubicBezTo>
                      <a:pt x="0" y="17058"/>
                      <a:pt x="17058" y="0"/>
                      <a:pt x="38100" y="0"/>
                    </a:cubicBezTo>
                    <a:close/>
                  </a:path>
                </a:pathLst>
              </a:custGeom>
              <a:solidFill>
                <a:srgbClr val="D97706"/>
              </a:solidFill>
              <a:ln>
                <a:noFill/>
              </a:ln>
            </p:spPr>
          </p:sp>
          <p:sp>
            <p:nvSpPr>
              <p:cNvPr id="38" name="TextBox 38"/>
              <p:cNvSpPr txBox="1"/>
              <p:nvPr/>
            </p:nvSpPr>
            <p:spPr>
              <a:xfrm>
                <a:off x="6263640" y="3982402"/>
                <a:ext cx="1153811"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可解释预测输出</a:t>
                </a:r>
              </a:p>
            </p:txBody>
          </p:sp>
          <p:sp>
            <p:nvSpPr>
              <p:cNvPr id="39" name="TextBox 39"/>
              <p:cNvSpPr txBox="1"/>
              <p:nvPr/>
            </p:nvSpPr>
            <p:spPr>
              <a:xfrm>
                <a:off x="6264592" y="4228624"/>
                <a:ext cx="6318790" cy="198120"/>
              </a:xfrm>
              <a:prstGeom prst="rect">
                <a:avLst/>
              </a:prstGeom>
              <a:noFill/>
              <a:ln>
                <a:noFill/>
              </a:ln>
            </p:spPr>
            <p:txBody>
              <a:bodyPr wrap="none" lIns="0" tIns="0" rIns="0" bIns="0" anchor="t" anchorCtr="0">
                <a:spAutoFit/>
              </a:bodyPr>
              <a:lstStyle/>
              <a:p>
                <a:pPr algn="l"/>
                <a:r>
                  <a:rPr lang="zh-CN" sz="975" dirty="0">
                    <a:solidFill>
                      <a:srgbClr val="1A1A2E"/>
                    </a:solidFill>
                    <a:latin typeface="Arial"/>
                    <a:ea typeface="Microsoft YaHei"/>
                    <a:cs typeface="Arial"/>
                  </a:rPr>
                  <a:t>两阶段推理流程提供每建筑毁伤等级+预测概率+不确定度，支持最大法/加权法/阈值法三种汇总策略</a:t>
                </a:r>
              </a:p>
            </p:txBody>
          </p:sp>
        </p:grpSp>
      </p:grpSp>
      <p:grpSp>
        <p:nvGrpSpPr>
          <p:cNvPr id="55" name="Group 55"/>
          <p:cNvGrpSpPr/>
          <p:nvPr/>
        </p:nvGrpSpPr>
        <p:grpSpPr>
          <a:xfrm>
            <a:off x="556260" y="4775835"/>
            <a:ext cx="10778490" cy="1034415"/>
            <a:chOff x="556260" y="4775835"/>
            <a:chExt cx="10778490" cy="1034415"/>
          </a:xfrm>
        </p:grpSpPr>
        <p:sp>
          <p:nvSpPr>
            <p:cNvPr id="42" name="TextBox 42"/>
            <p:cNvSpPr txBox="1"/>
            <p:nvPr/>
          </p:nvSpPr>
          <p:spPr>
            <a:xfrm>
              <a:off x="556260" y="4775835"/>
              <a:ext cx="766572" cy="243840"/>
            </a:xfrm>
            <a:prstGeom prst="rect">
              <a:avLst/>
            </a:prstGeom>
            <a:noFill/>
            <a:ln>
              <a:noFill/>
            </a:ln>
          </p:spPr>
          <p:txBody>
            <a:bodyPr wrap="none" lIns="0" tIns="0" rIns="0" bIns="0" anchor="t" anchorCtr="0">
              <a:spAutoFit/>
            </a:bodyPr>
            <a:lstStyle/>
            <a:p>
              <a:pPr algn="l"/>
              <a:r>
                <a:rPr lang="zh-CN" sz="1200" b="1" dirty="0">
                  <a:solidFill>
                    <a:srgbClr val="1B3A6B"/>
                  </a:solidFill>
                  <a:latin typeface="Arial"/>
                  <a:ea typeface="Microsoft YaHei"/>
                  <a:cs typeface="Arial"/>
                </a:rPr>
                <a:t>应用价值</a:t>
              </a:r>
            </a:p>
          </p:txBody>
        </p:sp>
        <p:grpSp>
          <p:nvGrpSpPr>
            <p:cNvPr id="46" name="Group 46"/>
            <p:cNvGrpSpPr/>
            <p:nvPr/>
          </p:nvGrpSpPr>
          <p:grpSpPr>
            <a:xfrm>
              <a:off x="571500" y="5095875"/>
              <a:ext cx="3476625" cy="714375"/>
              <a:chOff x="571500" y="5095875"/>
              <a:chExt cx="3476625" cy="714375"/>
            </a:xfrm>
          </p:grpSpPr>
          <p:sp>
            <p:nvSpPr>
              <p:cNvPr id="43" name="Freeform 43"/>
              <p:cNvSpPr/>
              <p:nvPr/>
            </p:nvSpPr>
            <p:spPr>
              <a:xfrm>
                <a:off x="571500" y="5095875"/>
                <a:ext cx="3476625" cy="714375"/>
              </a:xfrm>
              <a:custGeom>
                <a:avLst/>
                <a:gdLst/>
                <a:ahLst/>
                <a:cxnLst/>
                <a:rect l="l" t="t" r="r" b="b"/>
                <a:pathLst>
                  <a:path w="3476625" h="714375">
                    <a:moveTo>
                      <a:pt x="76200" y="0"/>
                    </a:moveTo>
                    <a:lnTo>
                      <a:pt x="3400425" y="0"/>
                    </a:lnTo>
                    <a:cubicBezTo>
                      <a:pt x="3442509" y="0"/>
                      <a:pt x="3476625" y="34116"/>
                      <a:pt x="3476625" y="76200"/>
                    </a:cubicBezTo>
                    <a:lnTo>
                      <a:pt x="3476625" y="638175"/>
                    </a:lnTo>
                    <a:cubicBezTo>
                      <a:pt x="3476625" y="680259"/>
                      <a:pt x="3442509" y="714375"/>
                      <a:pt x="3400425" y="714375"/>
                    </a:cubicBezTo>
                    <a:lnTo>
                      <a:pt x="76200" y="714375"/>
                    </a:lnTo>
                    <a:cubicBezTo>
                      <a:pt x="34116" y="714375"/>
                      <a:pt x="0" y="680259"/>
                      <a:pt x="0" y="638175"/>
                    </a:cubicBezTo>
                    <a:lnTo>
                      <a:pt x="0" y="76200"/>
                    </a:lnTo>
                    <a:cubicBezTo>
                      <a:pt x="0" y="34116"/>
                      <a:pt x="34116" y="0"/>
                      <a:pt x="76200" y="0"/>
                    </a:cubicBezTo>
                    <a:close/>
                  </a:path>
                </a:pathLst>
              </a:custGeom>
              <a:solidFill>
                <a:srgbClr val="EBF5FF"/>
              </a:solidFill>
              <a:ln w="9525">
                <a:solidFill>
                  <a:srgbClr val="2196F3"/>
                </a:solidFill>
              </a:ln>
            </p:spPr>
          </p:sp>
          <p:sp>
            <p:nvSpPr>
              <p:cNvPr id="44" name="TextBox 44"/>
              <p:cNvSpPr txBox="1"/>
              <p:nvPr/>
            </p:nvSpPr>
            <p:spPr>
              <a:xfrm>
                <a:off x="748665" y="5268278"/>
                <a:ext cx="1314831" cy="213360"/>
              </a:xfrm>
              <a:prstGeom prst="rect">
                <a:avLst/>
              </a:prstGeom>
              <a:noFill/>
              <a:ln>
                <a:noFill/>
              </a:ln>
            </p:spPr>
            <p:txBody>
              <a:bodyPr wrap="none" lIns="0" tIns="0" rIns="0" bIns="0" anchor="t" anchorCtr="0">
                <a:spAutoFit/>
              </a:bodyPr>
              <a:lstStyle/>
              <a:p>
                <a:pPr algn="l"/>
                <a:r>
                  <a:rPr lang="zh-CN" sz="1050" b="1" dirty="0">
                    <a:solidFill>
                      <a:srgbClr val="1E40AF"/>
                    </a:solidFill>
                    <a:latin typeface="Arial"/>
                    <a:ea typeface="Microsoft YaHei"/>
                    <a:cs typeface="Arial"/>
                  </a:rPr>
                  <a:t>快速火灾风险筛查</a:t>
                </a:r>
              </a:p>
            </p:txBody>
          </p:sp>
          <p:sp>
            <p:nvSpPr>
              <p:cNvPr id="45" name="TextBox 45"/>
              <p:cNvSpPr txBox="1"/>
              <p:nvPr/>
            </p:nvSpPr>
            <p:spPr>
              <a:xfrm>
                <a:off x="750570" y="5494020"/>
                <a:ext cx="160020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数秒内完成多情景批量分析</a:t>
                </a:r>
              </a:p>
            </p:txBody>
          </p:sp>
        </p:grpSp>
        <p:grpSp>
          <p:nvGrpSpPr>
            <p:cNvPr id="50" name="Group 50"/>
            <p:cNvGrpSpPr/>
            <p:nvPr/>
          </p:nvGrpSpPr>
          <p:grpSpPr>
            <a:xfrm>
              <a:off x="4238625" y="5095875"/>
              <a:ext cx="3476625" cy="714375"/>
              <a:chOff x="4238625" y="5095875"/>
              <a:chExt cx="3476625" cy="714375"/>
            </a:xfrm>
          </p:grpSpPr>
          <p:sp>
            <p:nvSpPr>
              <p:cNvPr id="47" name="Freeform 47"/>
              <p:cNvSpPr/>
              <p:nvPr/>
            </p:nvSpPr>
            <p:spPr>
              <a:xfrm>
                <a:off x="4238625" y="5095875"/>
                <a:ext cx="3476625" cy="714375"/>
              </a:xfrm>
              <a:custGeom>
                <a:avLst/>
                <a:gdLst/>
                <a:ahLst/>
                <a:cxnLst/>
                <a:rect l="l" t="t" r="r" b="b"/>
                <a:pathLst>
                  <a:path w="3476625" h="714375">
                    <a:moveTo>
                      <a:pt x="76200" y="0"/>
                    </a:moveTo>
                    <a:lnTo>
                      <a:pt x="3400425" y="0"/>
                    </a:lnTo>
                    <a:cubicBezTo>
                      <a:pt x="3442509" y="0"/>
                      <a:pt x="3476625" y="34116"/>
                      <a:pt x="3476625" y="76200"/>
                    </a:cubicBezTo>
                    <a:lnTo>
                      <a:pt x="3476625" y="638175"/>
                    </a:lnTo>
                    <a:cubicBezTo>
                      <a:pt x="3476625" y="680259"/>
                      <a:pt x="3442509" y="714375"/>
                      <a:pt x="3400425" y="714375"/>
                    </a:cubicBezTo>
                    <a:lnTo>
                      <a:pt x="76200" y="714375"/>
                    </a:lnTo>
                    <a:cubicBezTo>
                      <a:pt x="34116" y="714375"/>
                      <a:pt x="0" y="680259"/>
                      <a:pt x="0" y="638175"/>
                    </a:cubicBezTo>
                    <a:lnTo>
                      <a:pt x="0" y="76200"/>
                    </a:lnTo>
                    <a:cubicBezTo>
                      <a:pt x="0" y="34116"/>
                      <a:pt x="34116" y="0"/>
                      <a:pt x="76200" y="0"/>
                    </a:cubicBezTo>
                    <a:close/>
                  </a:path>
                </a:pathLst>
              </a:custGeom>
              <a:solidFill>
                <a:srgbClr val="F0FDF4"/>
              </a:solidFill>
              <a:ln w="9525">
                <a:solidFill>
                  <a:srgbClr val="16A34A"/>
                </a:solidFill>
              </a:ln>
            </p:spPr>
          </p:sp>
          <p:sp>
            <p:nvSpPr>
              <p:cNvPr id="48" name="TextBox 48"/>
              <p:cNvSpPr txBox="1"/>
              <p:nvPr/>
            </p:nvSpPr>
            <p:spPr>
              <a:xfrm>
                <a:off x="4415790" y="5268278"/>
                <a:ext cx="1153811" cy="213360"/>
              </a:xfrm>
              <a:prstGeom prst="rect">
                <a:avLst/>
              </a:prstGeom>
              <a:noFill/>
              <a:ln>
                <a:noFill/>
              </a:ln>
            </p:spPr>
            <p:txBody>
              <a:bodyPr wrap="none" lIns="0" tIns="0" rIns="0" bIns="0" anchor="t" anchorCtr="0">
                <a:spAutoFit/>
              </a:bodyPr>
              <a:lstStyle/>
              <a:p>
                <a:pPr algn="l"/>
                <a:r>
                  <a:rPr lang="zh-CN" sz="1050" b="1" dirty="0">
                    <a:solidFill>
                      <a:srgbClr val="166534"/>
                    </a:solidFill>
                    <a:latin typeface="Arial"/>
                    <a:ea typeface="Microsoft YaHei"/>
                    <a:cs typeface="Arial"/>
                  </a:rPr>
                  <a:t>多情景批量分析</a:t>
                </a:r>
              </a:p>
            </p:txBody>
          </p:sp>
          <p:sp>
            <p:nvSpPr>
              <p:cNvPr id="49" name="TextBox 49"/>
              <p:cNvSpPr txBox="1"/>
              <p:nvPr/>
            </p:nvSpPr>
            <p:spPr>
              <a:xfrm>
                <a:off x="4417695" y="5494020"/>
                <a:ext cx="173164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支持不同热辐射情景组合评估</a:t>
                </a:r>
              </a:p>
            </p:txBody>
          </p:sp>
        </p:grpSp>
        <p:grpSp>
          <p:nvGrpSpPr>
            <p:cNvPr id="54" name="Group 54"/>
            <p:cNvGrpSpPr/>
            <p:nvPr/>
          </p:nvGrpSpPr>
          <p:grpSpPr>
            <a:xfrm>
              <a:off x="7905750" y="5095875"/>
              <a:ext cx="3429000" cy="714375"/>
              <a:chOff x="7905750" y="5095875"/>
              <a:chExt cx="3429000" cy="714375"/>
            </a:xfrm>
          </p:grpSpPr>
          <p:sp>
            <p:nvSpPr>
              <p:cNvPr id="51" name="Freeform 51"/>
              <p:cNvSpPr/>
              <p:nvPr/>
            </p:nvSpPr>
            <p:spPr>
              <a:xfrm>
                <a:off x="7905750" y="5095875"/>
                <a:ext cx="3429000" cy="714375"/>
              </a:xfrm>
              <a:custGeom>
                <a:avLst/>
                <a:gdLst/>
                <a:ahLst/>
                <a:cxnLst/>
                <a:rect l="l" t="t" r="r" b="b"/>
                <a:pathLst>
                  <a:path w="3429000" h="714375">
                    <a:moveTo>
                      <a:pt x="76200" y="0"/>
                    </a:moveTo>
                    <a:lnTo>
                      <a:pt x="3352800" y="0"/>
                    </a:lnTo>
                    <a:cubicBezTo>
                      <a:pt x="3394884" y="0"/>
                      <a:pt x="3429000" y="34116"/>
                      <a:pt x="3429000" y="76200"/>
                    </a:cubicBezTo>
                    <a:lnTo>
                      <a:pt x="3429000" y="638175"/>
                    </a:lnTo>
                    <a:cubicBezTo>
                      <a:pt x="3429000" y="680259"/>
                      <a:pt x="3394884" y="714375"/>
                      <a:pt x="3352800" y="714375"/>
                    </a:cubicBezTo>
                    <a:lnTo>
                      <a:pt x="76200" y="714375"/>
                    </a:lnTo>
                    <a:cubicBezTo>
                      <a:pt x="34116" y="714375"/>
                      <a:pt x="0" y="680259"/>
                      <a:pt x="0" y="638175"/>
                    </a:cubicBezTo>
                    <a:lnTo>
                      <a:pt x="0" y="76200"/>
                    </a:lnTo>
                    <a:cubicBezTo>
                      <a:pt x="0" y="34116"/>
                      <a:pt x="34116" y="0"/>
                      <a:pt x="76200" y="0"/>
                    </a:cubicBezTo>
                    <a:close/>
                  </a:path>
                </a:pathLst>
              </a:custGeom>
              <a:solidFill>
                <a:srgbClr val="FEF3C7"/>
              </a:solidFill>
              <a:ln w="9525">
                <a:solidFill>
                  <a:srgbClr val="D97706"/>
                </a:solidFill>
              </a:ln>
            </p:spPr>
          </p:sp>
          <p:sp>
            <p:nvSpPr>
              <p:cNvPr id="52" name="TextBox 52"/>
              <p:cNvSpPr txBox="1"/>
              <p:nvPr/>
            </p:nvSpPr>
            <p:spPr>
              <a:xfrm>
                <a:off x="8082915" y="5268278"/>
                <a:ext cx="992791"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应急预案支撑</a:t>
                </a:r>
              </a:p>
            </p:txBody>
          </p:sp>
          <p:sp>
            <p:nvSpPr>
              <p:cNvPr id="53" name="TextBox 53"/>
              <p:cNvSpPr txBox="1"/>
              <p:nvPr/>
            </p:nvSpPr>
            <p:spPr>
              <a:xfrm>
                <a:off x="8084820" y="5494020"/>
                <a:ext cx="173164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识别最危险情景和最脆弱建筑</a:t>
                </a:r>
              </a:p>
            </p:txBody>
          </p:sp>
        </p:grpSp>
      </p:grpSp>
      <p:sp>
        <p:nvSpPr>
          <p:cNvPr id="56" name="TextBox 56"/>
          <p:cNvSpPr txBox="1"/>
          <p:nvPr/>
        </p:nvSpPr>
        <p:spPr>
          <a:xfrm>
            <a:off x="560070" y="6570345"/>
            <a:ext cx="397478"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15 / 16</a:t>
            </a:r>
          </a:p>
        </p:txBody>
      </p:sp>
    </p:spTree>
  </p:cSld>
  <p:clrMapOvr>
    <a:masterClrMapping/>
  </p:clrMapOvr>
  <p:transition 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B3A6B"/>
              </a:gs>
              <a:gs pos="50000">
                <a:srgbClr val="0F2540"/>
              </a:gs>
              <a:gs pos="100000">
                <a:srgbClr val="091A2E"/>
              </a:gs>
            </a:gsLst>
            <a:lin ang="5400000" scaled="1"/>
          </a:gradFill>
          <a:ln>
            <a:noFill/>
          </a:ln>
        </p:spPr>
      </p:sp>
      <p:grpSp>
        <p:nvGrpSpPr>
          <p:cNvPr id="5" name="Group 5"/>
          <p:cNvGrpSpPr/>
          <p:nvPr/>
        </p:nvGrpSpPr>
        <p:grpSpPr>
          <a:xfrm>
            <a:off x="9525000" y="0"/>
            <a:ext cx="2667000" cy="2667000"/>
            <a:chOff x="9525000" y="0"/>
            <a:chExt cx="2667000" cy="2667000"/>
          </a:xfrm>
        </p:grpSpPr>
        <p:sp>
          <p:nvSpPr>
            <p:cNvPr id="3" name="Rectangle 3"/>
            <p:cNvSpPr/>
            <p:nvPr/>
          </p:nvSpPr>
          <p:spPr>
            <a:xfrm>
              <a:off x="9525000" y="0"/>
              <a:ext cx="2667000" cy="2667000"/>
            </a:xfrm>
            <a:prstGeom prst="rect">
              <a:avLst/>
            </a:prstGeom>
            <a:solidFill>
              <a:srgbClr val="FFFFFF">
                <a:alpha val="2000"/>
              </a:srgbClr>
            </a:solidFill>
            <a:ln>
              <a:noFill/>
            </a:ln>
          </p:spPr>
        </p:sp>
        <p:sp>
          <p:nvSpPr>
            <p:cNvPr id="4" name="Polygon 4"/>
            <p:cNvSpPr/>
            <p:nvPr/>
          </p:nvSpPr>
          <p:spPr>
            <a:xfrm>
              <a:off x="9525000" y="0"/>
              <a:ext cx="2667000" cy="2667000"/>
            </a:xfrm>
            <a:custGeom>
              <a:avLst/>
              <a:gdLst/>
              <a:ahLst/>
              <a:cxnLst/>
              <a:rect l="l" t="t" r="r" b="b"/>
              <a:pathLst>
                <a:path w="2667000" h="2667000">
                  <a:moveTo>
                    <a:pt x="2667000" y="0"/>
                  </a:moveTo>
                  <a:lnTo>
                    <a:pt x="2667000" y="2667000"/>
                  </a:lnTo>
                  <a:lnTo>
                    <a:pt x="0" y="2667000"/>
                  </a:lnTo>
                  <a:close/>
                </a:path>
              </a:pathLst>
            </a:custGeom>
            <a:solidFill>
              <a:srgbClr val="FFFFFF">
                <a:alpha val="3000"/>
              </a:srgbClr>
            </a:solidFill>
            <a:ln>
              <a:noFill/>
            </a:ln>
          </p:spPr>
        </p:sp>
      </p:grpSp>
      <p:sp>
        <p:nvSpPr>
          <p:cNvPr id="6" name="TextBox 6"/>
          <p:cNvSpPr txBox="1"/>
          <p:nvPr/>
        </p:nvSpPr>
        <p:spPr>
          <a:xfrm>
            <a:off x="3605212" y="1714500"/>
            <a:ext cx="4981575" cy="3048000"/>
          </a:xfrm>
          <a:prstGeom prst="rect">
            <a:avLst/>
          </a:prstGeom>
          <a:noFill/>
          <a:ln>
            <a:noFill/>
          </a:ln>
        </p:spPr>
        <p:txBody>
          <a:bodyPr wrap="none" lIns="0" tIns="0" rIns="0" bIns="0" anchor="t" anchorCtr="0">
            <a:spAutoFit/>
          </a:bodyPr>
          <a:lstStyle/>
          <a:p>
            <a:pPr algn="ctr"/>
            <a:r>
              <a:rPr lang="zh-CN" sz="15000" b="1" dirty="0">
                <a:solidFill>
                  <a:srgbClr val="FFFFFF">
                    <a:alpha val="3000"/>
                  </a:srgbClr>
                </a:solidFill>
                <a:latin typeface="Segoe UI"/>
                <a:ea typeface="Microsoft YaHei"/>
                <a:cs typeface="Segoe UI"/>
              </a:rPr>
              <a:t>谢谢</a:t>
            </a:r>
          </a:p>
        </p:txBody>
      </p:sp>
      <p:sp>
        <p:nvSpPr>
          <p:cNvPr id="7" name="TextBox 7"/>
          <p:cNvSpPr txBox="1"/>
          <p:nvPr/>
        </p:nvSpPr>
        <p:spPr>
          <a:xfrm>
            <a:off x="5199316" y="2084070"/>
            <a:ext cx="1793367" cy="1097280"/>
          </a:xfrm>
          <a:prstGeom prst="rect">
            <a:avLst/>
          </a:prstGeom>
          <a:noFill/>
          <a:ln>
            <a:noFill/>
          </a:ln>
        </p:spPr>
        <p:txBody>
          <a:bodyPr wrap="none" lIns="0" tIns="0" rIns="0" bIns="0" anchor="t" anchorCtr="0">
            <a:spAutoFit/>
          </a:bodyPr>
          <a:lstStyle/>
          <a:p>
            <a:pPr algn="ctr"/>
            <a:r>
              <a:rPr lang="zh-CN" sz="5400" b="1" dirty="0">
                <a:solidFill>
                  <a:srgbClr val="FFFFFF"/>
                </a:solidFill>
                <a:latin typeface="Arial"/>
                <a:ea typeface="Microsoft YaHei"/>
                <a:cs typeface="Arial"/>
              </a:rPr>
              <a:t>谢谢</a:t>
            </a:r>
          </a:p>
        </p:txBody>
      </p:sp>
      <p:sp>
        <p:nvSpPr>
          <p:cNvPr id="8" name="Freeform 8"/>
          <p:cNvSpPr/>
          <p:nvPr/>
        </p:nvSpPr>
        <p:spPr>
          <a:xfrm>
            <a:off x="4667250" y="2952750"/>
            <a:ext cx="2857500" cy="38100"/>
          </a:xfrm>
          <a:custGeom>
            <a:avLst/>
            <a:gdLst/>
            <a:ahLst/>
            <a:cxnLst/>
            <a:rect l="l" t="t" r="r" b="b"/>
            <a:pathLst>
              <a:path w="2857500" h="38100">
                <a:moveTo>
                  <a:pt x="19050" y="0"/>
                </a:moveTo>
                <a:lnTo>
                  <a:pt x="2838450" y="0"/>
                </a:lnTo>
                <a:cubicBezTo>
                  <a:pt x="2848971" y="0"/>
                  <a:pt x="2857500" y="8529"/>
                  <a:pt x="2857500" y="19050"/>
                </a:cubicBezTo>
                <a:lnTo>
                  <a:pt x="2857500" y="19050"/>
                </a:lnTo>
                <a:cubicBezTo>
                  <a:pt x="2857500" y="29571"/>
                  <a:pt x="2848971" y="38100"/>
                  <a:pt x="2838450" y="38100"/>
                </a:cubicBezTo>
                <a:lnTo>
                  <a:pt x="19050" y="38100"/>
                </a:lnTo>
                <a:cubicBezTo>
                  <a:pt x="8529" y="38100"/>
                  <a:pt x="0" y="29571"/>
                  <a:pt x="0" y="19050"/>
                </a:cubicBezTo>
                <a:lnTo>
                  <a:pt x="0" y="19050"/>
                </a:lnTo>
                <a:cubicBezTo>
                  <a:pt x="0" y="8529"/>
                  <a:pt x="8529" y="0"/>
                  <a:pt x="19050" y="0"/>
                </a:cubicBezTo>
                <a:close/>
              </a:path>
            </a:pathLst>
          </a:custGeom>
          <a:solidFill>
            <a:srgbClr val="2196F3"/>
          </a:solidFill>
          <a:ln>
            <a:noFill/>
          </a:ln>
        </p:spPr>
      </p:sp>
      <p:sp>
        <p:nvSpPr>
          <p:cNvPr id="9" name="TextBox 9"/>
          <p:cNvSpPr txBox="1"/>
          <p:nvPr/>
        </p:nvSpPr>
        <p:spPr>
          <a:xfrm>
            <a:off x="4620673" y="3329940"/>
            <a:ext cx="2950654" cy="365760"/>
          </a:xfrm>
          <a:prstGeom prst="rect">
            <a:avLst/>
          </a:prstGeom>
          <a:noFill/>
          <a:ln>
            <a:noFill/>
          </a:ln>
        </p:spPr>
        <p:txBody>
          <a:bodyPr wrap="none" lIns="0" tIns="0" rIns="0" bIns="0" anchor="t" anchorCtr="0">
            <a:spAutoFit/>
          </a:bodyPr>
          <a:lstStyle/>
          <a:p>
            <a:pPr algn="ctr"/>
            <a:r>
              <a:rPr lang="zh-CN" sz="1800" dirty="0">
                <a:solidFill>
                  <a:srgbClr val="4A90D9"/>
                </a:solidFill>
                <a:latin typeface="Arial"/>
                <a:ea typeface="Microsoft YaHei"/>
                <a:cs typeface="Arial"/>
              </a:rPr>
              <a:t>Questions &amp; Discussion</a:t>
            </a:r>
          </a:p>
        </p:txBody>
      </p:sp>
      <p:grpSp>
        <p:nvGrpSpPr>
          <p:cNvPr id="12" name="Group 12"/>
          <p:cNvGrpSpPr/>
          <p:nvPr/>
        </p:nvGrpSpPr>
        <p:grpSpPr>
          <a:xfrm>
            <a:off x="5231035" y="4140518"/>
            <a:ext cx="1729930" cy="531494"/>
            <a:chOff x="5231035" y="4140518"/>
            <a:chExt cx="1729930" cy="531494"/>
          </a:xfrm>
        </p:grpSpPr>
        <p:sp>
          <p:nvSpPr>
            <p:cNvPr id="10" name="TextBox 10"/>
            <p:cNvSpPr txBox="1"/>
            <p:nvPr/>
          </p:nvSpPr>
          <p:spPr>
            <a:xfrm>
              <a:off x="5231035" y="4140518"/>
              <a:ext cx="1729930" cy="274320"/>
            </a:xfrm>
            <a:prstGeom prst="rect">
              <a:avLst/>
            </a:prstGeom>
            <a:noFill/>
            <a:ln>
              <a:noFill/>
            </a:ln>
          </p:spPr>
          <p:txBody>
            <a:bodyPr wrap="none" lIns="0" tIns="0" rIns="0" bIns="0" anchor="t" anchorCtr="0">
              <a:spAutoFit/>
            </a:bodyPr>
            <a:lstStyle/>
            <a:p>
              <a:pPr algn="ctr"/>
              <a:r>
                <a:rPr lang="zh-CN" sz="1350" dirty="0">
                  <a:solidFill>
                    <a:srgbClr val="6B7280"/>
                  </a:solidFill>
                  <a:latin typeface="Arial"/>
                  <a:ea typeface="Microsoft YaHei"/>
                  <a:cs typeface="Arial"/>
                </a:rPr>
                <a:t>FDS Builder 项目组</a:t>
              </a:r>
            </a:p>
          </p:txBody>
        </p:sp>
        <p:sp>
          <p:nvSpPr>
            <p:cNvPr id="11" name="TextBox 11"/>
            <p:cNvSpPr txBox="1"/>
            <p:nvPr/>
          </p:nvSpPr>
          <p:spPr>
            <a:xfrm>
              <a:off x="5718453" y="4458652"/>
              <a:ext cx="755094" cy="213360"/>
            </a:xfrm>
            <a:prstGeom prst="rect">
              <a:avLst/>
            </a:prstGeom>
            <a:noFill/>
            <a:ln>
              <a:noFill/>
            </a:ln>
          </p:spPr>
          <p:txBody>
            <a:bodyPr wrap="none" lIns="0" tIns="0" rIns="0" bIns="0" anchor="t" anchorCtr="0">
              <a:spAutoFit/>
            </a:bodyPr>
            <a:lstStyle/>
            <a:p>
              <a:pPr algn="ctr"/>
              <a:r>
                <a:rPr lang="zh-CN" sz="1050" dirty="0">
                  <a:solidFill>
                    <a:srgbClr val="4A90D9"/>
                  </a:solidFill>
                  <a:latin typeface="Arial"/>
                  <a:ea typeface="Microsoft YaHei"/>
                  <a:cs typeface="Arial"/>
                </a:rPr>
                <a:t>2026年4月</a:t>
              </a:r>
            </a:p>
          </p:txBody>
        </p:sp>
      </p:grpSp>
      <p:grpSp>
        <p:nvGrpSpPr>
          <p:cNvPr id="16" name="Group 16"/>
          <p:cNvGrpSpPr/>
          <p:nvPr/>
        </p:nvGrpSpPr>
        <p:grpSpPr>
          <a:xfrm>
            <a:off x="8763000" y="2571750"/>
            <a:ext cx="1524000" cy="1524000"/>
            <a:chOff x="8763000" y="2571750"/>
            <a:chExt cx="1524000" cy="1524000"/>
          </a:xfrm>
        </p:grpSpPr>
        <p:sp>
          <p:nvSpPr>
            <p:cNvPr id="13" name="Ellipse 13"/>
            <p:cNvSpPr/>
            <p:nvPr/>
          </p:nvSpPr>
          <p:spPr>
            <a:xfrm>
              <a:off x="8763000" y="2571750"/>
              <a:ext cx="1524000" cy="1524000"/>
            </a:xfrm>
            <a:prstGeom prst="ellipse">
              <a:avLst/>
            </a:prstGeom>
            <a:solidFill>
              <a:srgbClr val="2196F3">
                <a:alpha val="5000"/>
              </a:srgbClr>
            </a:solidFill>
            <a:ln>
              <a:noFill/>
            </a:ln>
          </p:spPr>
        </p:sp>
        <p:sp>
          <p:nvSpPr>
            <p:cNvPr id="14" name="Ellipse 14"/>
            <p:cNvSpPr/>
            <p:nvPr/>
          </p:nvSpPr>
          <p:spPr>
            <a:xfrm>
              <a:off x="9048750" y="2857500"/>
              <a:ext cx="952500" cy="952500"/>
            </a:xfrm>
            <a:prstGeom prst="ellipse">
              <a:avLst/>
            </a:prstGeom>
            <a:solidFill>
              <a:srgbClr val="2196F3">
                <a:alpha val="8000"/>
              </a:srgbClr>
            </a:solidFill>
            <a:ln>
              <a:noFill/>
            </a:ln>
          </p:spPr>
        </p:sp>
        <p:sp>
          <p:nvSpPr>
            <p:cNvPr id="15" name="Ellipse 15"/>
            <p:cNvSpPr/>
            <p:nvPr/>
          </p:nvSpPr>
          <p:spPr>
            <a:xfrm>
              <a:off x="9286875" y="3095625"/>
              <a:ext cx="476250" cy="476250"/>
            </a:xfrm>
            <a:prstGeom prst="ellipse">
              <a:avLst/>
            </a:prstGeom>
            <a:solidFill>
              <a:srgbClr val="2196F3">
                <a:alpha val="15000"/>
              </a:srgbClr>
            </a:solidFill>
            <a:ln>
              <a:noFill/>
            </a:ln>
          </p:spPr>
        </p:sp>
      </p:grpSp>
      <p:sp>
        <p:nvSpPr>
          <p:cNvPr id="17" name="Rectangle 17"/>
          <p:cNvSpPr/>
          <p:nvPr/>
        </p:nvSpPr>
        <p:spPr>
          <a:xfrm>
            <a:off x="0" y="6477000"/>
            <a:ext cx="12192000" cy="381000"/>
          </a:xfrm>
          <a:prstGeom prst="rect">
            <a:avLst/>
          </a:prstGeom>
          <a:solidFill>
            <a:srgbClr val="2196F3">
              <a:alpha val="15000"/>
            </a:srgbClr>
          </a:solidFill>
          <a:ln>
            <a:noFill/>
          </a:ln>
        </p:spPr>
      </p:sp>
      <p:sp>
        <p:nvSpPr>
          <p:cNvPr id="18" name="TextBox 18"/>
          <p:cNvSpPr txBox="1"/>
          <p:nvPr/>
        </p:nvSpPr>
        <p:spPr>
          <a:xfrm>
            <a:off x="4937712" y="6570345"/>
            <a:ext cx="2316575" cy="182880"/>
          </a:xfrm>
          <a:prstGeom prst="rect">
            <a:avLst/>
          </a:prstGeom>
          <a:noFill/>
          <a:ln>
            <a:noFill/>
          </a:ln>
        </p:spPr>
        <p:txBody>
          <a:bodyPr wrap="none" lIns="0" tIns="0" rIns="0" bIns="0" anchor="t" anchorCtr="0">
            <a:spAutoFit/>
          </a:bodyPr>
          <a:lstStyle/>
          <a:p>
            <a:pPr algn="ctr"/>
            <a:r>
              <a:rPr lang="zh-CN" sz="900" dirty="0">
                <a:solidFill>
                  <a:srgbClr val="4A90D9">
                    <a:alpha val="60000"/>
                  </a:srgbClr>
                </a:solidFill>
                <a:latin typeface="Arial"/>
                <a:ea typeface="Microsoft YaHei"/>
                <a:cs typeface="Arial"/>
              </a:rPr>
              <a:t>热毁伤代理模型研究报告 · FDS Builder</a:t>
            </a:r>
          </a:p>
        </p:txBody>
      </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