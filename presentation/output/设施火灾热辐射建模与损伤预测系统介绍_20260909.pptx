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gram_3d_view.png"/>
          <p:cNvPicPr>
            <a:picLocks noChangeAspect="1"/>
          </p:cNvPicPr>
          <p:nvPr/>
        </p:nvPicPr>
        <p:blipFill>
          <a:blip r:embed="rId2"/>
          <a:srcRect l="23251" r="23251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91440" cy="4343400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868680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1D8D0"/>
                </a:solidFill>
                <a:latin typeface="Microsoft YaHei"/>
              </a:rPr>
              <a:t>损伤预测系统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53312"/>
            <a:ext cx="47548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F4F8FD"/>
                </a:solidFill>
                <a:latin typeface="Microsoft YaHei"/>
              </a:rPr>
              <a:t>设施火灾热辐射建模与
损伤预测系统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72384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9BDD6"/>
                </a:solidFill>
                <a:latin typeface="Microsoft YaHei"/>
              </a:rPr>
              <a:t>从可计算等效模型到 FDS 高保真计算，再到秒级损伤预测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096512"/>
            <a:ext cx="4315968" cy="6583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233672"/>
            <a:ext cx="39319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F8FD"/>
                </a:solidFill>
                <a:latin typeface="Microsoft YaHei"/>
              </a:rPr>
              <a:t>快速建模  ·  可视交互  ·  可计算  ·  可预测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06440"/>
            <a:ext cx="3474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系统介绍与工程应用方案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806440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9BDD6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一套程序贯通建模—计算—预测—复核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同一份设施语义模型驱动 3D、FDS 与工程代理模型，减少重复录入和口径漂移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256032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64008" cy="1143000"/>
          </a:xfrm>
          <a:prstGeom prst="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801368"/>
            <a:ext cx="224027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5A7FF"/>
                </a:solidFill>
                <a:latin typeface="Microsoft YaHei"/>
              </a:rPr>
              <a:t>11 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58568"/>
            <a:ext cx="22402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当前界面设施模板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523744"/>
            <a:ext cx="224027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4 类等效 + 7 类特异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691640"/>
            <a:ext cx="256032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691640"/>
            <a:ext cx="64008" cy="1143000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1801368"/>
            <a:ext cx="224027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1D8D0"/>
                </a:solidFill>
                <a:latin typeface="Microsoft YaHei"/>
              </a:rPr>
              <a:t>83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258568"/>
            <a:ext cx="22402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建筑单体定义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2523744"/>
            <a:ext cx="224027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模板内可复用建筑对象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91640"/>
            <a:ext cx="256032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691640"/>
            <a:ext cx="64008" cy="1143000"/>
          </a:xfrm>
          <a:prstGeom prst="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801368"/>
            <a:ext cx="224027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0E0A1"/>
                </a:solidFill>
                <a:latin typeface="Microsoft YaHei"/>
              </a:rPr>
              <a:t>5,479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258568"/>
            <a:ext cx="22402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代理模型合格工况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523744"/>
            <a:ext cx="224027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36 个训练设施身份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691640"/>
            <a:ext cx="2679192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1691640"/>
            <a:ext cx="64008" cy="1143000"/>
          </a:xfrm>
          <a:prstGeom prst="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1801368"/>
            <a:ext cx="23591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76B"/>
                </a:solidFill>
                <a:latin typeface="Microsoft YaHei"/>
              </a:rPr>
              <a:t>95.8%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258568"/>
            <a:ext cx="235915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五折等级准确率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523744"/>
            <a:ext cx="235915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综合已知设施工况口径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246120"/>
            <a:ext cx="2057400" cy="15727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" y="3438144"/>
            <a:ext cx="384048" cy="384048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383280"/>
            <a:ext cx="1234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设施模板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05993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选择对象与规模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15768" y="3703320"/>
            <a:ext cx="3474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5A7FF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3246120"/>
            <a:ext cx="2057400" cy="15727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72384" y="3438144"/>
            <a:ext cx="384048" cy="384048"/>
          </a:xfrm>
          <a:prstGeom prst="round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3383280"/>
            <a:ext cx="1234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可计算模型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05993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几何 / 分区 / 资产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1768" y="3703320"/>
            <a:ext cx="3474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41D8D0"/>
                </a:solidFill>
                <a:latin typeface="Microsoft YaHe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0" y="3246120"/>
            <a:ext cx="2057400" cy="15727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58384" y="3438144"/>
            <a:ext cx="384048" cy="384048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3383280"/>
            <a:ext cx="1234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FDS 输入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405993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网格 / 边界 / 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3703320"/>
            <a:ext cx="3474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70E0A1"/>
                </a:solidFill>
                <a:latin typeface="Microsoft Ya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3246120"/>
            <a:ext cx="2057400" cy="15727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44383" y="3438144"/>
            <a:ext cx="384048" cy="384048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1" y="3383280"/>
            <a:ext cx="1234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双计算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59" y="405993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代理预测 + FDS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73767" y="3703320"/>
            <a:ext cx="3474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C76B"/>
                </a:solidFill>
                <a:latin typeface="Microsoft Ya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3246120"/>
            <a:ext cx="2057400" cy="157276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30384" y="3438144"/>
            <a:ext cx="384048" cy="384048"/>
          </a:xfrm>
          <a:prstGeom prst="roundRect">
            <a:avLst/>
          </a:prstGeom>
          <a:solidFill>
            <a:srgbClr val="B59CFF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5872" y="3383280"/>
            <a:ext cx="1234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工程判读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59" y="405993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9BDD6"/>
                </a:solidFill>
                <a:latin typeface="Microsoft YaHei"/>
              </a:rPr>
              <a:t>Dk / 等级 / 复核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193792"/>
            <a:ext cx="10927080" cy="84124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404104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1D8D0"/>
                </a:solidFill>
                <a:latin typeface="Microsoft YaHei"/>
              </a:rPr>
              <a:t>核心价值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5340096"/>
            <a:ext cx="9098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D"/>
                </a:solidFill>
                <a:latin typeface="Microsoft YaHei"/>
              </a:rPr>
              <a:t>把“场景表达”转化为“可运行模型”，再把高成本计算沉淀为可复用的工程预测能力。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五层解耦、单一模型源、多种计算输出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0927080" cy="48006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931" y="1618488"/>
            <a:ext cx="8469376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VISUAL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三栏一体化可视交互界面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左侧选设施与管理场景，中间进行 3D 审核，右侧配置工况并同步预览 FDS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1056"/>
            <a:ext cx="10927080" cy="45262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gram_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08" y="1664208"/>
            <a:ext cx="7786623" cy="43799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6144768"/>
            <a:ext cx="1874519" cy="310896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6181344"/>
            <a:ext cx="171907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5A7FF"/>
                </a:solidFill>
                <a:latin typeface="Microsoft YaHei"/>
              </a:rPr>
              <a:t>① 快速建模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6144768"/>
            <a:ext cx="1874519" cy="310896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6181344"/>
            <a:ext cx="171907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1D8D0"/>
                </a:solidFill>
                <a:latin typeface="Microsoft YaHei"/>
              </a:rPr>
              <a:t>② 3D 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6144768"/>
            <a:ext cx="1874519" cy="310896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6181344"/>
            <a:ext cx="171907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76B"/>
                </a:solidFill>
                <a:latin typeface="Microsoft YaHei"/>
              </a:rPr>
              <a:t>③ 仿真与代码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RAPID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六步完成设施级快速建模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规模旁只保留必要选择，实际尺寸在场景列表中统一核对；可燃物管理与生成设施并列为主操作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81912"/>
            <a:ext cx="10927080" cy="48006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uick_model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02" y="1600200"/>
            <a:ext cx="10394234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EQUIVALENT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规模驱动的可计算等效模型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小 / 中 / 大规模同步作用于几何、楼层、防火分区、开口、设备与可燃物，而不是简单缩放外形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81912"/>
            <a:ext cx="10927080" cy="48006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uivalent_model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6" y="1600200"/>
            <a:ext cx="9528048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MODEL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等效模型与特异模型协同覆盖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等效模型用于尺度化研究与快速构型，特异模型保留真实工程对象的几何和布局差异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349240" cy="45262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874519"/>
            <a:ext cx="420624" cy="420624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874519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等效模型 · 4 类 / 12 栋建筑定义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14600"/>
            <a:ext cx="4709160" cy="65836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624328"/>
            <a:ext cx="1508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航空航天设施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24328"/>
            <a:ext cx="5029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1D8D0"/>
                </a:solidFill>
                <a:latin typeface="Microsoft YaHei"/>
              </a:rPr>
              <a:t>5 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87752"/>
            <a:ext cx="21488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9BDD6"/>
                </a:solidFill>
                <a:latin typeface="Microsoft YaHei"/>
              </a:rPr>
              <a:t>发射控制、总装、部装、加工、发射场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91840"/>
            <a:ext cx="4709160" cy="65836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401568"/>
            <a:ext cx="1508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机场机库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01568"/>
            <a:ext cx="5029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1D8D0"/>
                </a:solidFill>
                <a:latin typeface="Microsoft YaHei"/>
              </a:rPr>
              <a:t>1 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364992"/>
            <a:ext cx="21488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9BDD6"/>
                </a:solidFill>
                <a:latin typeface="Microsoft YaHei"/>
              </a:rPr>
              <a:t>单体大空间机库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4709160" cy="65836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178808"/>
            <a:ext cx="1508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机械制造设施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178808"/>
            <a:ext cx="5029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1D8D0"/>
                </a:solidFill>
                <a:latin typeface="Microsoft YaHei"/>
              </a:rPr>
              <a:t>3 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142232"/>
            <a:ext cx="21488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9BDD6"/>
                </a:solidFill>
                <a:latin typeface="Microsoft YaHei"/>
              </a:rPr>
              <a:t>总装、部装、机加工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4709160" cy="65836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956048"/>
            <a:ext cx="1508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冶金设施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956048"/>
            <a:ext cx="5029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1D8D0"/>
                </a:solidFill>
                <a:latin typeface="Microsoft YaHei"/>
              </a:rPr>
              <a:t>3 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919472"/>
            <a:ext cx="21488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9BDD6"/>
                </a:solidFill>
                <a:latin typeface="Microsoft YaHei"/>
              </a:rPr>
              <a:t>电解、专用电厂、钢铁厂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691640"/>
            <a:ext cx="5349240" cy="45262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1874519"/>
            <a:ext cx="420624" cy="420624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1874519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特异模型 · 7 类 / 71 栋建筑定义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05456"/>
            <a:ext cx="274320" cy="274320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519172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2487168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F8FD"/>
                </a:solidFill>
                <a:latin typeface="Microsoft YaHei"/>
              </a:rPr>
              <a:t>Alcoa Warrick Operations · 18 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953512"/>
            <a:ext cx="274320" cy="274320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967228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2935224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F8FD"/>
                </a:solidFill>
                <a:latin typeface="Microsoft YaHei"/>
              </a:rPr>
              <a:t>Warrick 专用电厂 · 18 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401568"/>
            <a:ext cx="274320" cy="274320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15284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3383280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Materion Newton · 11 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849624"/>
            <a:ext cx="274320" cy="274320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63340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3831336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Frymaster · 8 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297680"/>
            <a:ext cx="274320" cy="274320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311396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4279392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Gleason · 8 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745736"/>
            <a:ext cx="274320" cy="274320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759452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1152" y="4727448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Harbison Fischer · 6 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5193792"/>
            <a:ext cx="274320" cy="274320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207508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7111F"/>
                </a:solidFill>
                <a:latin typeface="Microsoft YaHe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1152" y="5175504"/>
            <a:ext cx="4069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Materion Buffalo · 2 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742432"/>
            <a:ext cx="4709160" cy="320040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797296"/>
            <a:ext cx="44348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A9BDD6"/>
                </a:solidFill>
                <a:latin typeface="Microsoft YaHei"/>
              </a:rPr>
              <a:t>模板通过 JSON 序列化，便于校核、扩展和版本管理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3D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3D 场景不是装饰，而是建模质量检查器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在计算前发现尺寸、位置、层高、构件朝向和热源方向问题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6949440" cy="45537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gram_3d_view.png"/>
          <p:cNvPicPr>
            <a:picLocks noChangeAspect="1"/>
          </p:cNvPicPr>
          <p:nvPr/>
        </p:nvPicPr>
        <p:blipFill>
          <a:blip r:embed="rId2"/>
          <a:srcRect l="7078" r="7078"/>
          <a:stretch>
            <a:fillRect/>
          </a:stretch>
        </p:blipFill>
        <p:spPr>
          <a:xfrm>
            <a:off x="640080" y="1645920"/>
            <a:ext cx="6949440" cy="45537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645920"/>
            <a:ext cx="3749039" cy="45537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901952"/>
            <a:ext cx="420624" cy="420624"/>
          </a:xfrm>
          <a:prstGeom prst="round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01952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可视校核要点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487168"/>
            <a:ext cx="2971800" cy="272491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建筑群位置与间距是否合理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楼层、屋面、外墙与防火分区是否闭合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门窗、装卸口和通风开口是否符合预期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可燃物与专用设备是否位于正确分区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热辐射方位角 / 俯仰角是否与工况一致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场景列表同步显示名称、尺寸与位置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5541264"/>
            <a:ext cx="3108960" cy="438912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5623560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A9BDD6"/>
                </a:solidFill>
                <a:latin typeface="Microsoft YaHei"/>
              </a:rPr>
              <a:t>刷新模型 · 重置视角 · 单体选中高亮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ENGINEERING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可燃物、敏感目标与专用构件进入同一工程语义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不仅生成厂房外壳，还表达影响受热响应和损失计算的内部对象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376672" cy="1856231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057400"/>
            <a:ext cx="530352" cy="530352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039112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8FD"/>
                </a:solidFill>
                <a:latin typeface="Microsoft YaHei"/>
              </a:rPr>
              <a:t>防火分区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DD6"/>
                </a:solidFill>
                <a:latin typeface="Microsoft YaHei"/>
              </a:rPr>
              <a:t>按楼层组织边界、隔墙、开口与材料；为对象布置提供约束域。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376672" cy="1856231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2057400"/>
            <a:ext cx="530352" cy="530352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2039112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8FD"/>
                </a:solidFill>
                <a:latin typeface="Microsoft YaHei"/>
              </a:rPr>
              <a:t>可燃物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15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DD6"/>
                </a:solidFill>
                <a:latin typeface="Microsoft YaHei"/>
              </a:rPr>
              <a:t>油桶、电缆、托盘等以数量、尺寸、方向和分区位置进入场景。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5376672" cy="1856231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4343400"/>
            <a:ext cx="530352" cy="530352"/>
          </a:xfrm>
          <a:prstGeom prst="round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4325112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8FD"/>
                </a:solidFill>
                <a:latin typeface="Microsoft YaHei"/>
              </a:rPr>
              <a:t>专用设备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DD6"/>
                </a:solidFill>
                <a:latin typeface="Microsoft YaHei"/>
              </a:rPr>
              <a:t>控制台、机加工线、装配工装等保持工程类别与朝向语义。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069080"/>
            <a:ext cx="5376672" cy="1856231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28232" y="4343400"/>
            <a:ext cx="530352" cy="530352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4325112"/>
            <a:ext cx="3977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8FD"/>
                </a:solidFill>
                <a:latin typeface="Microsoft YaHei"/>
              </a:rPr>
              <a:t>规则化布置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01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DD6"/>
                </a:solidFill>
                <a:latin typeface="Microsoft YaHei"/>
              </a:rPr>
              <a:t>总装空间火箭水平放置、发射场竖直放置；越界对象自动检查。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FDS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从对象模型自动生成可运行 FDS 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模型语义统一映射到网格、材料、实体、开口、边界条件、设备与切片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623560" cy="45262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01952"/>
            <a:ext cx="420624" cy="420624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01952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自动生成链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487168"/>
            <a:ext cx="4937760" cy="5394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25603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E0A1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7860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JSON / 模板参数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78608"/>
            <a:ext cx="1920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9BDD6"/>
                </a:solidFill>
                <a:latin typeface="Microsoft YaHei"/>
              </a:rPr>
              <a:t>可复现输入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145536"/>
            <a:ext cx="4937760" cy="5394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264408"/>
            <a:ext cx="25603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E0A1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36976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BuildingGroup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236976"/>
            <a:ext cx="1920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9BDD6"/>
                </a:solidFill>
                <a:latin typeface="Microsoft YaHei"/>
              </a:rPr>
              <a:t>结构化语义模型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803904"/>
            <a:ext cx="4937760" cy="5394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922776"/>
            <a:ext cx="25603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E0A1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95344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FDSGenerator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895344"/>
            <a:ext cx="1920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9BDD6"/>
                </a:solidFill>
                <a:latin typeface="Microsoft YaHei"/>
              </a:rPr>
              <a:t>几何与工况映射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462272"/>
            <a:ext cx="4937760" cy="5394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581144"/>
            <a:ext cx="25603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E0A1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53712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validate_fds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53712"/>
            <a:ext cx="1920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9BDD6"/>
                </a:solidFill>
                <a:latin typeface="Microsoft YaHei"/>
              </a:rPr>
              <a:t>输入完整性检查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120640"/>
            <a:ext cx="4937760" cy="5394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239512"/>
            <a:ext cx="25603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E0A1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F8FD"/>
                </a:solidFill>
                <a:latin typeface="Microsoft YaHei"/>
              </a:rPr>
              <a:t>.fds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212079"/>
            <a:ext cx="1920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9BDD6"/>
                </a:solidFill>
                <a:latin typeface="Microsoft YaHei"/>
              </a:rPr>
              <a:t>可运行计算文件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1691640"/>
            <a:ext cx="5074920" cy="4526280"/>
          </a:xfrm>
          <a:prstGeom prst="roundRect">
            <a:avLst/>
          </a:prstGeom>
          <a:solidFill>
            <a:srgbClr val="0B1727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12280" y="1901952"/>
            <a:ext cx="420624" cy="420624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190195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典型输出片段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0" y="2496312"/>
            <a:ext cx="4434840" cy="242316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697480"/>
            <a:ext cx="3977639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7E8FA"/>
                </a:solidFill>
                <a:latin typeface="Consolas"/>
              </a:rPr>
              <a:t>&amp;HEAD CHID='aerospace_q15000_a270_e30...' /
&amp;MESH ID='Mesh01', IJK=62,75,33, ... /
&amp;MATL ID='CONCRETE', ... /
&amp;OBST XB=..., SURF_ID='CONCRETE' /
&amp;VENT XB=..., SURF_ID='RADIATION' /
&amp;SLCF PBY=..., QUANTITY='TEMPERATURE' /
&amp;DEVC XYZ=..., QUANTITY='GAUGE HEAT FLUX' 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5138928"/>
            <a:ext cx="4251960" cy="84124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A9BDD6"/>
                </a:solidFill>
                <a:latin typeface="Microsoft YaHei"/>
              </a:defRPr>
            </a:pPr>
            <a:r>
              <a:t>•  默认 2×2 四网格划分，便于 MPI 并行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A9BDD6"/>
                </a:solidFill>
                <a:latin typeface="Microsoft YaHei"/>
              </a:defRPr>
            </a:pPr>
            <a:r>
              <a:t>•  热源侧局部加密带保持 1 m 网格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A9BDD6"/>
                </a:solidFill>
                <a:latin typeface="Microsoft YaHei"/>
              </a:defRPr>
            </a:pPr>
            <a:r>
              <a:t>•  文件名自动编码 q / a / e / d / t 工况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计算控制、结果组织与 Smokeview 复核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程序负责场景与输入的一致性，FDS / Smokeview 作为外部求解与结果查看能力接入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73352"/>
            <a:ext cx="3886200" cy="459028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gram_ui_simul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089" y="1728216"/>
            <a:ext cx="2204180" cy="448055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73168" y="1673352"/>
            <a:ext cx="6793992" cy="459028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02352" y="1901952"/>
            <a:ext cx="420624" cy="420624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1901952"/>
            <a:ext cx="55961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右侧工作区形成完整计算闭环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514600"/>
            <a:ext cx="402336" cy="402336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496312"/>
            <a:ext cx="1078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5A7FF"/>
                </a:solidFill>
                <a:latin typeface="Microsoft YaHei"/>
              </a:rPr>
              <a:t>工况配置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87168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方位角、俯仰角、目标热通量、辐射持续时间、总仿真时间和网格尺寸。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374136"/>
            <a:ext cx="402336" cy="402336"/>
          </a:xfrm>
          <a:prstGeom prst="round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355848"/>
            <a:ext cx="1078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1D8D0"/>
                </a:solidFill>
                <a:latin typeface="Microsoft YaHei"/>
              </a:rPr>
              <a:t>代码同步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46704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参数变化触发 FDS 文本更新；滑块与预览采用去抖，避免高频重建。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233672"/>
            <a:ext cx="402336" cy="402336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215384"/>
            <a:ext cx="1078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0E0A1"/>
                </a:solidFill>
                <a:latin typeface="Microsoft YaHei"/>
              </a:rPr>
              <a:t>计算执行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06240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导出 FDS；按工程环境调用 FDS，结果按设施与工况统一命名归档。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093208"/>
            <a:ext cx="402336" cy="402336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5074920"/>
            <a:ext cx="10789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8A66"/>
                </a:solidFill>
                <a:latin typeface="Microsoft YaHei"/>
              </a:rPr>
              <a:t>结果查看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065776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4F8FD"/>
                </a:solidFill>
                <a:latin typeface="Microsoft YaHei"/>
              </a:rPr>
              <a:t>加载温度 / HRRPUV 等结果；通过 Smokeview 查看 .smv 与空间响应。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797296"/>
            <a:ext cx="6035040" cy="31089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5852160"/>
            <a:ext cx="56875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A9BDD6"/>
                </a:solidFill>
                <a:latin typeface="Microsoft YaHei"/>
              </a:rPr>
              <a:t>程序不替代 FDS 物理求解；它降低建模与重复操作成本，并固化计算口径。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SURROGATE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工程预测代理模型：Dk 连续值 + 四级损伤双输出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当前生产快照以已知设施的新工况为目标，权威已观测条件优先直接复用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27632"/>
            <a:ext cx="205740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64008" cy="1143000"/>
          </a:xfrm>
          <a:prstGeom prst="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0E0A1"/>
                </a:solidFill>
                <a:latin typeface="Microsoft YaHei"/>
              </a:rPr>
              <a:t>5,479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1737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合格训练工况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627632"/>
            <a:ext cx="205740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627632"/>
            <a:ext cx="64008" cy="1143000"/>
          </a:xfrm>
          <a:prstGeom prst="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73736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5A7FF"/>
                </a:solidFill>
                <a:latin typeface="Microsoft YaHe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194560"/>
            <a:ext cx="1737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设施训练身份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627632"/>
            <a:ext cx="205740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627632"/>
            <a:ext cx="64008" cy="1143000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73736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1D8D0"/>
                </a:solidFill>
                <a:latin typeface="Microsoft YaHei"/>
              </a:rPr>
              <a:t>58 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194560"/>
            <a:ext cx="1737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模型输入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459736"/>
            <a:ext cx="1737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22 工程/类别 + 36 one-hot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627632"/>
            <a:ext cx="205740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1627632"/>
            <a:ext cx="64008" cy="1143000"/>
          </a:xfrm>
          <a:prstGeom prst="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8" y="173736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76B"/>
                </a:solidFill>
                <a:latin typeface="Microsoft YaHei"/>
              </a:rPr>
              <a:t>75 + 75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2194560"/>
            <a:ext cx="1737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回归树 + 分类树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1627632"/>
            <a:ext cx="214884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1627632"/>
            <a:ext cx="64008" cy="1143000"/>
          </a:xfrm>
          <a:prstGeom prst="rect">
            <a:avLst/>
          </a:prstGeom>
          <a:solidFill>
            <a:srgbClr val="B59CFF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173736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59CFF"/>
                </a:solidFill>
                <a:latin typeface="Microsoft YaHei"/>
              </a:rPr>
              <a:t>≈ 36 MiB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19456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部署模型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459736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含权威工况快速查表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999232"/>
            <a:ext cx="6995160" cy="31821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extra_tree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494" y="3072384"/>
            <a:ext cx="5394330" cy="303580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863840" y="2999232"/>
            <a:ext cx="3703320" cy="31821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56448" y="3255264"/>
            <a:ext cx="420624" cy="420624"/>
          </a:xfrm>
          <a:prstGeom prst="roundRect">
            <a:avLst/>
          </a:prstGeom>
          <a:solidFill>
            <a:srgbClr val="B59CFF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255264"/>
            <a:ext cx="25786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输出口径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858768"/>
            <a:ext cx="3017520" cy="438912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941063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0E0A1"/>
                </a:solidFill>
                <a:latin typeface="Microsoft YaHei"/>
              </a:rPr>
              <a:t>[0, 0.04)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922776"/>
            <a:ext cx="148132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基本完好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389120"/>
            <a:ext cx="3017520" cy="438912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4471416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1D8D0"/>
                </a:solidFill>
                <a:latin typeface="Microsoft YaHei"/>
              </a:rPr>
              <a:t>[0.04, 0.10)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453128"/>
            <a:ext cx="148132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轻微破坏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4919472"/>
            <a:ext cx="3017520" cy="438912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5001768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C76B"/>
                </a:solidFill>
                <a:latin typeface="Microsoft YaHei"/>
              </a:rPr>
              <a:t>[0.10, 0.40)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4983480"/>
            <a:ext cx="148132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中等破坏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5449824"/>
            <a:ext cx="3017520" cy="438912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5532120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6F91"/>
                </a:solidFill>
                <a:latin typeface="Microsoft YaHei"/>
              </a:rPr>
              <a:t>[0.40, 1.00]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5513832"/>
            <a:ext cx="148132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严重破坏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三组工程特征把热作用、建筑与资产联系起来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方位角采用 sin / cos 保持 0° 与 360° 连续；入射侧特征随方向动态计算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82496"/>
            <a:ext cx="3749039" cy="45537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029968"/>
            <a:ext cx="3163824" cy="1060704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2194560"/>
            <a:ext cx="438912" cy="438912"/>
          </a:xfrm>
          <a:prstGeom prst="roundRect">
            <a:avLst/>
          </a:prstGeom>
          <a:solidFill>
            <a:srgbClr val="FF8A66"/>
          </a:solidFill>
          <a:ln w="12700">
            <a:solidFill>
              <a:srgbClr val="FF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148840"/>
            <a:ext cx="21214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D"/>
                </a:solidFill>
                <a:latin typeface="Microsoft YaHei"/>
              </a:rPr>
              <a:t>热源特征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6517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9BDD6"/>
                </a:solidFill>
                <a:latin typeface="Microsoft YaHei"/>
              </a:rPr>
              <a:t>热通量、持续时间、热剂量、方位角、俯仰角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291840"/>
            <a:ext cx="3163824" cy="1060704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3456432"/>
            <a:ext cx="438912" cy="438912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410712"/>
            <a:ext cx="21214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D"/>
                </a:solidFill>
                <a:latin typeface="Microsoft YaHei"/>
              </a:rPr>
              <a:t>建筑特征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91363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9BDD6"/>
                </a:solidFill>
                <a:latin typeface="Microsoft YaHei"/>
              </a:rPr>
              <a:t>平面面积、体量、高度、入射侧墙面与开口比例、设施类别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553712"/>
            <a:ext cx="3163824" cy="1060704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8992" y="4718304"/>
            <a:ext cx="438912" cy="438912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672584"/>
            <a:ext cx="21214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8FD"/>
                </a:solidFill>
                <a:latin typeface="Microsoft YaHei"/>
              </a:rPr>
              <a:t>可燃物与敏感目标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17550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9BDD6"/>
                </a:solidFill>
                <a:latin typeface="Microsoft YaHei"/>
              </a:rPr>
              <a:t>目标密度、迎火侧目标占比与设施内资产分布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682496"/>
            <a:ext cx="6949440" cy="45537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17" y="1755648"/>
            <a:ext cx="6044445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综合验证结果达到工程快速筛查要求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等级准确率衡量四级判定，MAE / RMSE / R² 衡量连续 Dk；二者必须同时观察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27632"/>
            <a:ext cx="214884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64008" cy="1143000"/>
          </a:xfrm>
          <a:prstGeom prst="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0E0A1"/>
                </a:solidFill>
                <a:latin typeface="Microsoft YaHei"/>
              </a:rPr>
              <a:t>95.82%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五折等级准确率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1627632"/>
            <a:ext cx="214884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4368" y="1627632"/>
            <a:ext cx="64008" cy="1143000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173736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1D8D0"/>
                </a:solidFill>
                <a:latin typeface="Microsoft YaHei"/>
              </a:rPr>
              <a:t>91.3%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19456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 Macro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8656" y="1627632"/>
            <a:ext cx="214884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8656" y="1627632"/>
            <a:ext cx="64008" cy="1143000"/>
          </a:xfrm>
          <a:prstGeom prst="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173736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5A7FF"/>
                </a:solidFill>
                <a:latin typeface="Microsoft YaHei"/>
              </a:rPr>
              <a:t>0.0133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19456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 MAE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1627632"/>
            <a:ext cx="2148840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52944" y="1627632"/>
            <a:ext cx="64008" cy="1143000"/>
          </a:xfrm>
          <a:prstGeom prst="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173736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76B"/>
                </a:solidFill>
                <a:latin typeface="Microsoft YaHei"/>
              </a:rPr>
              <a:t>0.0573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219456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 RMSE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7232" y="1627632"/>
            <a:ext cx="1709928" cy="11430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57232" y="1627632"/>
            <a:ext cx="64008" cy="1143000"/>
          </a:xfrm>
          <a:prstGeom prst="rect">
            <a:avLst/>
          </a:prstGeom>
          <a:solidFill>
            <a:srgbClr val="B59CFF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737360"/>
            <a:ext cx="13898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59CFF"/>
                </a:solidFill>
                <a:latin typeface="Microsoft YaHei"/>
              </a:rPr>
              <a:t>0.9692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194560"/>
            <a:ext cx="138988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4F8FD"/>
                </a:solidFill>
                <a:latin typeface="Microsoft YaHei"/>
              </a:rPr>
              <a:t>五折 R²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944368"/>
            <a:ext cx="5349240" cy="31821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v_predicted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02" y="3017520"/>
            <a:ext cx="3238195" cy="30358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217920" y="2944368"/>
            <a:ext cx="5349240" cy="3182112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v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928" y="3017520"/>
            <a:ext cx="3559223" cy="30358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" y="6236208"/>
            <a:ext cx="10561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A9BDD6"/>
                </a:solidFill>
                <a:latin typeface="Microsoft YaHei"/>
              </a:rPr>
              <a:t>固定独立测试：等级准确率 95.53%，MAE 0.0107。综合指标不等同于每个设施都达到同一精度。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THRESHOLD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代理模型可批量形成热通量损伤阈值图谱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固定设施几何与资产条件，扫描方向、持续时间和热通量，识别首次跨越 Dk 阈值的位置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635240" cy="459028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reshold_grid_Han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10" y="1700784"/>
            <a:ext cx="6844778" cy="448055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503920" y="1645920"/>
            <a:ext cx="3063240" cy="4590288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96528" y="1901952"/>
            <a:ext cx="420624" cy="420624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7" y="1901952"/>
            <a:ext cx="19385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阈值能力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542032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76B"/>
                </a:solidFill>
                <a:latin typeface="Microsoft YaHei"/>
              </a:rPr>
              <a:t>36 /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8672" y="2560320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4F8FD"/>
                </a:solidFill>
                <a:latin typeface="Microsoft YaHei"/>
              </a:rPr>
              <a:t>设施完成数值扫描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3072384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76B"/>
                </a:solidFill>
                <a:latin typeface="Microsoft YaHei"/>
              </a:rPr>
              <a:t>100–20,000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090672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4F8FD"/>
                </a:solidFill>
                <a:latin typeface="Microsoft YaHei"/>
              </a:rPr>
              <a:t>kW/m² 扫描范围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3602736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76B"/>
                </a:solidFill>
                <a:latin typeface="Microsoft YaHei"/>
              </a:rPr>
              <a:t>81 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3621024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4F8FD"/>
                </a:solidFill>
                <a:latin typeface="Microsoft YaHei"/>
              </a:rPr>
              <a:t>每条热通量扫描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4133087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76B"/>
                </a:solidFill>
                <a:latin typeface="Microsoft YaHei"/>
              </a:rPr>
              <a:t>30 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4151375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4F8FD"/>
                </a:solidFill>
                <a:latin typeface="Microsoft YaHei"/>
              </a:rPr>
              <a:t>按规则生成设施图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4663440"/>
            <a:ext cx="10789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76B"/>
                </a:solidFill>
                <a:latin typeface="Microsoft YaHei"/>
              </a:rPr>
              <a:t>324 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681727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4F8FD"/>
                </a:solidFill>
                <a:latin typeface="Microsoft YaHei"/>
              </a:rPr>
              <a:t>可审计阈值汇总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6528" y="5266944"/>
            <a:ext cx="2487168" cy="676656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5358384"/>
            <a:ext cx="21945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A9BDD6"/>
                </a:solidFill>
                <a:latin typeface="Microsoft YaHei"/>
              </a:rPr>
              <a:t>灰色斜线表示达到扫描上限仍未跨越，属于右删失，不等于阈值恰好为上限。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INTEGRATED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代理模型已集成到程序交互链路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选择设施与规模、设置热源参数后，直接输出连续 Dk、损伤等级、统一验证准确率与模型预测用时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6537960" cy="356616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gram_prediction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42" y="1956816"/>
            <a:ext cx="6090635" cy="33101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06640" y="1691640"/>
            <a:ext cx="4160520" cy="45262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26679" y="1938528"/>
            <a:ext cx="420624" cy="420624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38528"/>
            <a:ext cx="2971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D"/>
                </a:solidFill>
                <a:latin typeface="Microsoft YaHei"/>
              </a:rPr>
              <a:t>一次预测所完成的工作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542032"/>
            <a:ext cx="3291840" cy="25603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将界面设施映射到训练设施身份与对应尺度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生成与命名规则一致的临时 FDS 工况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权威已观测条件优先直接返回真实 Dk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未观测工况执行 ExtraTrees 快速推理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同时显示 Dk、四级损伤、综合验证准确率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50">
                <a:solidFill>
                  <a:srgbClr val="F4F8FD"/>
                </a:solidFill>
                <a:latin typeface="Microsoft YaHei"/>
              </a:defRPr>
            </a:pPr>
            <a:r>
              <a:t>•  未知 / 自定义设施明确拒绝，不静默外推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5468112"/>
            <a:ext cx="3474720" cy="47548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5559552"/>
            <a:ext cx="3200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FFC76B"/>
                </a:solidFill>
                <a:latin typeface="Microsoft YaHei"/>
              </a:rPr>
              <a:t>示例：aerospace_medium · Dk 0.1457 · 中等破坏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ENGINEERING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快速筛查与 FDS 复核构成双轨决策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代理模型提升覆盖效率，高保真计算用于等级边界、关键决策与超出适用域的工况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81912"/>
            <a:ext cx="10927080" cy="480060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urrogate_fds_du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49" y="1600200"/>
            <a:ext cx="9689540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1D8D0"/>
                </a:solidFill>
                <a:latin typeface="Microsoft Ya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8FD"/>
                </a:solidFill>
                <a:latin typeface="Microsoft YaHei"/>
              </a:rPr>
              <a:t>仿真程序总结：把建模能力沉淀为工程能力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9576"/>
            <a:ext cx="1097280" cy="41148"/>
          </a:xfrm>
          <a:prstGeom prst="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当前系统已经形成“模型库—可视建模—FDS—代理预测—复核归档”的完整主链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74320"/>
            <a:ext cx="4389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A9BDD6"/>
                </a:solidFill>
                <a:latin typeface="Microsoft Ya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83680"/>
            <a:ext cx="10927080" cy="10972"/>
          </a:xfrm>
          <a:prstGeom prst="rect">
            <a:avLst/>
          </a:prstGeom>
          <a:solidFill>
            <a:srgbClr val="36516F"/>
          </a:solidFill>
          <a:ln w="12700">
            <a:solidFill>
              <a:srgbClr val="36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11112"/>
            <a:ext cx="80467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DD6"/>
                </a:solidFill>
                <a:latin typeface="Microsoft YaHei"/>
              </a:rPr>
              <a:t>设施火灾热辐射建模与损伤预测系统 · 设施火灾热辐射建模与损伤预测系统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11112"/>
            <a:ext cx="5943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A9BDD6"/>
                </a:solidFill>
                <a:latin typeface="Microsoft YaHe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578608" cy="233172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2029968"/>
            <a:ext cx="502920" cy="502920"/>
          </a:xfrm>
          <a:prstGeom prst="roundRect">
            <a:avLst/>
          </a:prstGeom>
          <a:solidFill>
            <a:srgbClr val="55A7FF"/>
          </a:solidFill>
          <a:ln w="12700"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29968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5A7FF"/>
                </a:solidFill>
                <a:latin typeface="Microsoft YaHei"/>
              </a:rPr>
              <a:t>更快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70632"/>
            <a:ext cx="20756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F8FD"/>
                </a:solidFill>
                <a:latin typeface="Microsoft YaHei"/>
              </a:rPr>
              <a:t>模板 + 规模参数化减少重复建模；设施级场景一键生成。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783080"/>
            <a:ext cx="2578608" cy="233172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029968"/>
            <a:ext cx="502920" cy="502920"/>
          </a:xfrm>
          <a:prstGeom prst="roundRect">
            <a:avLst/>
          </a:prstGeom>
          <a:solidFill>
            <a:srgbClr val="41D8D0"/>
          </a:solidFill>
          <a:ln w="12700">
            <a:solidFill>
              <a:srgbClr val="41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029968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1D8D0"/>
                </a:solidFill>
                <a:latin typeface="Microsoft YaHei"/>
              </a:rPr>
              <a:t>更准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2770632"/>
            <a:ext cx="20756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F8FD"/>
                </a:solidFill>
                <a:latin typeface="Microsoft YaHei"/>
              </a:rPr>
              <a:t>统一对象模型驱动 3D 与 FDS，降低界面、文件和计算口径不一致。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783080"/>
            <a:ext cx="2578608" cy="233172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2029968"/>
            <a:ext cx="502920" cy="502920"/>
          </a:xfrm>
          <a:prstGeom prst="roundRect">
            <a:avLst/>
          </a:prstGeom>
          <a:solidFill>
            <a:srgbClr val="70E0A1"/>
          </a:solidFill>
          <a:ln w="12700">
            <a:solidFill>
              <a:srgbClr val="70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029968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0E0A1"/>
                </a:solidFill>
                <a:latin typeface="Microsoft YaHei"/>
              </a:rPr>
              <a:t>更可算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770632"/>
            <a:ext cx="20756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F8FD"/>
                </a:solidFill>
                <a:latin typeface="Microsoft YaHei"/>
              </a:rPr>
              <a:t>自动生成网格、边界、材料、开口、设备和切片，直接进入 FDS。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1783080"/>
            <a:ext cx="2578608" cy="233172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44584" y="2029968"/>
            <a:ext cx="502920" cy="502920"/>
          </a:xfrm>
          <a:prstGeom prst="roundRect">
            <a:avLst/>
          </a:prstGeom>
          <a:solidFill>
            <a:srgbClr val="FFC76B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29968"/>
            <a:ext cx="1325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C76B"/>
                </a:solidFill>
                <a:latin typeface="Microsoft YaHei"/>
              </a:rPr>
              <a:t>更可用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70632"/>
            <a:ext cx="20756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F8FD"/>
                </a:solidFill>
                <a:latin typeface="Microsoft YaHei"/>
              </a:rPr>
              <a:t>代理模型输出 Dk 与等级；关键工况可顺畅回到 FDS 复核。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25696"/>
            <a:ext cx="10927080" cy="1435608"/>
          </a:xfrm>
          <a:prstGeom prst="roundRect">
            <a:avLst/>
          </a:prstGeom>
          <a:solidFill>
            <a:srgbClr val="0F1D30"/>
          </a:solidFill>
          <a:ln w="12700">
            <a:solidFill>
              <a:srgbClr val="B5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45152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59CFF"/>
                </a:solidFill>
                <a:latin typeface="Microsoft YaHei"/>
              </a:rPr>
              <a:t>下一步建议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53712"/>
            <a:ext cx="89611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F4F8FD"/>
                </a:solidFill>
                <a:latin typeface="Microsoft YaHei"/>
              </a:rPr>
              <a:t>① 模板版本与质量看板   ② 代理模型置信度门控
③ FDS 任务队列与进度监控   ④ 复核结果持续回流再训练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67528"/>
            <a:ext cx="10332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9BDD6"/>
                </a:solidFill>
                <a:latin typeface="Microsoft YaHei"/>
              </a:rPr>
              <a:t>目标：形成可扩展、可审计、可复现的设施热辐射损伤计算与快速预测平台。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设施火灾热辐射建模与损伤预测系统介绍</dc:title>
  <dc:subject>系统架构、快速建模、可视化交互、可计算等效模型、工程预测代理模型集成</dc:subject>
  <dc:creator>fdsBuilder 项目组</dc:creator>
  <cp:keywords>FDS, 快速建模, 等效模型, 工程预测, ExtraTrees, Dk</cp:keywords>
  <dc:description>数据口径采用 2026-07-15 生产快照；演示文稿生成于 2026-07-16。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